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D2248D-920A-44A6-A27A-E4D5F2803CF3}">
  <a:tblStyle styleId="{1ED2248D-920A-44A6-A27A-E4D5F2803C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475249" y="1111630"/>
            <a:ext cx="8397875" cy="340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9143999" y="476399"/>
                </a:moveTo>
                <a:lnTo>
                  <a:pt x="0" y="476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763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0" y="0"/>
                </a:moveTo>
                <a:lnTo>
                  <a:pt x="9143999" y="0"/>
                </a:lnTo>
                <a:lnTo>
                  <a:pt x="9143999" y="476399"/>
                </a:lnTo>
                <a:lnTo>
                  <a:pt x="0" y="4763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75249" y="1111630"/>
            <a:ext cx="8397875" cy="340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eimao.github.io/blog/Python-Concurrency-High-Level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zebpay.com/blog/centralised-exchanges-vs-decentralised-exchang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fillama.com/" TargetMode="External"/><Relationship Id="rId4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inance-docs.github.io/apidocs/spot/en/#change-log" TargetMode="External"/><Relationship Id="rId4" Type="http://schemas.openxmlformats.org/officeDocument/2006/relationships/hyperlink" Target="https://binance-docs.github.io/apidocs/spot/en/#signed-trade-user_data-and-margin-endpoint-securit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045107" y="1087373"/>
            <a:ext cx="5052695" cy="16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604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Blockchain y Criptomonedas II</a:t>
            </a:r>
            <a:endParaRPr sz="5200"/>
          </a:p>
        </p:txBody>
      </p:sp>
      <p:sp>
        <p:nvSpPr>
          <p:cNvPr id="47" name="Google Shape;47;p7"/>
          <p:cNvSpPr txBox="1"/>
          <p:nvPr/>
        </p:nvSpPr>
        <p:spPr>
          <a:xfrm>
            <a:off x="3179026" y="2892926"/>
            <a:ext cx="2784475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UCEMA - QUANt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Clase II: 12/11/25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Agenda</a:t>
            </a:r>
            <a:endParaRPr sz="2500"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496014" y="1113002"/>
            <a:ext cx="4452620" cy="3432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Módulo V: Librería asyncio para Python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Módulo VI: Discusión de la tarea propuesta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Break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Modulo VII: Repaso de mercados centralizados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Modulo VIII: API de Binance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Módulo IX: Librería CCXT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Conclusión y resumen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Tarea propuesta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1941092" y="2048814"/>
            <a:ext cx="5260975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Módulo V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200"/>
              <a:t>Librería asyncio para Python</a:t>
            </a:r>
            <a:endParaRPr sz="3200"/>
          </a:p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5.1 ¿Qué es asyncio?</a:t>
            </a:r>
            <a:endParaRPr sz="2500"/>
          </a:p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3330178" y="4807050"/>
            <a:ext cx="246507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Librería asyncio para Python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475249" y="1111630"/>
            <a:ext cx="7842884" cy="264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Librería de Python que permite escribir código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concurrente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Código concurrente: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Permite comenzar una operación antes de que finalice la anterior!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 busca que las tareas se dividen en sub tareas que se puedan ejecutar en simultáneo.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Muy utilizado para: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I/O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Network requests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/>
        </p:nvSpPr>
        <p:spPr>
          <a:xfrm>
            <a:off x="475249" y="413108"/>
            <a:ext cx="7733030" cy="411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367030" lvl="0" marL="379095" marR="508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conectarse a n exchanges para obtener información de precios instantánea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Caso sincronico: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Request al exchange 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Response del exchange 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Request al exchange 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Response del exchange 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Caso asincrónico: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Request al exchange 1, 2, …, 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Respuesta del exchange 1, 2, …, 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Comparación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3330178" y="4807050"/>
            <a:ext cx="246507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Librería asyncio para Python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4.2 Comparación de performance</a:t>
            </a:r>
            <a:endParaRPr sz="2500"/>
          </a:p>
        </p:txBody>
      </p:sp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1205412"/>
            <a:ext cx="8839197" cy="27326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3330178" y="4807050"/>
            <a:ext cx="246507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Librería asyncio para Python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487" y="924500"/>
            <a:ext cx="5723975" cy="32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330178" y="4807050"/>
            <a:ext cx="246507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Librería asyncio para Python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1563777" y="2048814"/>
            <a:ext cx="6015355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Módulo VI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200"/>
              <a:t>Discusión de las tarea propuesta</a:t>
            </a:r>
            <a:endParaRPr sz="3200"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3962127" y="2266442"/>
            <a:ext cx="12198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Break</a:t>
            </a:r>
            <a:endParaRPr sz="3600"/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1335199" y="2048814"/>
            <a:ext cx="6474460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Módulo VII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200"/>
              <a:t>Repaso de mercados centralizados</a:t>
            </a:r>
            <a:endParaRPr sz="3200"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7.1 Mercados centralizados</a:t>
            </a:r>
            <a:endParaRPr sz="2500"/>
          </a:p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3083182" y="4807050"/>
            <a:ext cx="295973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VII: Repaso de mercados centralizados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75249" y="1056113"/>
            <a:ext cx="8417560" cy="338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¿Qué son?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Son mercados con reglas más parecidas a los mercados financieros tradicionales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Funcionan con libros de órdenes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 puede operar las 24 horas del día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Permiten operar: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Spot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settlement instantáneo, de monedas. Similar al FX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Margin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permite operar tomando margen prestado del mercado. Se colateraliza la posición con otra moneda o con la cartera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Derivatives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tienen una sección de derivados donde se pueden encontrar generalmente: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17506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Futuros con delivery en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token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17506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Futuros con delivery en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stablecoin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17506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Futuros perpetual, sin delivery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475249" y="433658"/>
            <a:ext cx="8259445" cy="401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Perpetuals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Son futuros a perpetuidad, sin vencimiento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Siguen a un índice. Por ejemplo,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ETH/USDT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Tienen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funding rate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asociado. El cálculo de este funding rate depende de cada protocolo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Busca hacer converger el precio del perpetual y el precio del índice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5080" rtl="0" algn="l">
              <a:lnSpc>
                <a:spcPct val="114285"/>
              </a:lnSpc>
              <a:spcBef>
                <a:spcPts val="103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Por ejemplo: si muchos usuarios están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long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en el perpetual, el precio va a tender a subir probablemente por encima del índice. Eso genera un valor de funding rate tal que los usuarios que están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long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le van a pagar a los usuarios que están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short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Por otro lado, el funding rate incentiva a los usuarios a tomar la posición contraria para recibir esta tasa.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¿Ventajas y diferencias del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margin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y los futuros?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¿Ideas de trading con esto?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¿Futuros con delivery?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Perpetuals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3083182" y="4807050"/>
            <a:ext cx="295973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VII: Repaso de mercados centralizados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7.2 Comparación entre </a:t>
            </a:r>
            <a:r>
              <a:rPr i="1" lang="en-US" sz="2500">
                <a:latin typeface="Arial"/>
                <a:ea typeface="Arial"/>
                <a:cs typeface="Arial"/>
                <a:sym typeface="Arial"/>
              </a:rPr>
              <a:t>Dexes </a:t>
            </a:r>
            <a:r>
              <a:rPr lang="en-US" sz="2500"/>
              <a:t>y </a:t>
            </a:r>
            <a:r>
              <a:rPr i="1" lang="en-US" sz="2500">
                <a:latin typeface="Arial"/>
                <a:ea typeface="Arial"/>
                <a:cs typeface="Arial"/>
                <a:sym typeface="Arial"/>
              </a:rPr>
              <a:t>Cexes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3083182" y="4807050"/>
            <a:ext cx="295973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VII: Repaso de mercados centralizados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p19"/>
          <p:cNvGraphicFramePr/>
          <p:nvPr/>
        </p:nvGraphicFramePr>
        <p:xfrm>
          <a:off x="1106962" y="1042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{1ED2248D-920A-44A6-A27A-E4D5F2803CF3}</a:tableStyleId>
              </a:tblPr>
              <a:tblGrid>
                <a:gridCol w="2212350"/>
                <a:gridCol w="2212350"/>
                <a:gridCol w="2212350"/>
              </a:tblGrid>
              <a:tr h="33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Centralized Exchanges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Decentralized Exchanges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Privacidad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KYC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P2P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Seguridad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1123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Discutible en ambos casos. Historial de hackeos y estafas en ambos lados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Liquidez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Mayor liquidez, menos variedad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 liquidez, más variedad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Más caros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Más baratos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Velocidad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Muchísimo más rápido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Lento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20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225425" lvl="0" marL="86360" marR="7874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Más amigable para aquellos acostumbrados al trading tradicional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8770" marR="31178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Hoy en día, suficientemente amigable para un usuario convencional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Trading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Contra el exchange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“Contra otro usuario”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Marco regulatorio"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“Sujeto a regulaciones”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 regulado, a veces auditado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19"/>
          <p:cNvSpPr txBox="1"/>
          <p:nvPr/>
        </p:nvSpPr>
        <p:spPr>
          <a:xfrm>
            <a:off x="4099698" y="4346628"/>
            <a:ext cx="661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Fuente: </a:t>
            </a:r>
            <a:r>
              <a:rPr lang="en-US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post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475249" y="430781"/>
            <a:ext cx="18402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Defillama.com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Cexes: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98740"/>
            <a:ext cx="9134474" cy="183291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2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3083182" y="4807050"/>
            <a:ext cx="295973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VII: Repaso de mercados centralizados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/>
        </p:nvSpPr>
        <p:spPr>
          <a:xfrm>
            <a:off x="963193" y="432813"/>
            <a:ext cx="914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Dexes: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66721"/>
            <a:ext cx="9143998" cy="261005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3083182" y="4807050"/>
            <a:ext cx="295973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VII: Repaso de mercados centralizados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141430" y="2048814"/>
            <a:ext cx="2860040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377190" lvl="0" marL="12700" marR="5080" rtl="0" algn="l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Módulo VIII API de Binance</a:t>
            </a:r>
            <a:endParaRPr sz="3200"/>
          </a:p>
        </p:txBody>
      </p:sp>
      <p:sp>
        <p:nvSpPr>
          <p:cNvPr id="168" name="Google Shape;168;p22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8.1 Documentación</a:t>
            </a:r>
            <a:endParaRPr sz="2500"/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3680613" y="4807050"/>
            <a:ext cx="176339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VIII: API de Binance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516690" y="1114374"/>
            <a:ext cx="8063230" cy="336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25120" lvl="0" marL="337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Documentación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25120" lvl="0" marL="33782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Generación de API Key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25120" lvl="0" marL="337820" rtl="0" algn="l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Métodos: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Publicos, no autenticados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Privados, autenticados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04164" lvl="2" marL="1252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■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Cómo autenticar: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2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04165" lvl="3" marL="17094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Tomar el body del request. Por ejemplo: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3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7094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“symbol=LTCBTC&amp;side=BUY&amp;type=LIMIT&amp;timeInForce=GTC&amp;quantity=1&amp;price=0.1&amp;recvWindow=5000&amp;timestamp=1499827319559”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304165" lvl="3" marL="17094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Usar el API Key como clave para firmar con openssl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70942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openssl dgst -sha256 -hmac "NhqPtmdSJYdKjVHjA7PZj4Mge3R5YNiP1e3UZjInClVN65XAbvqqM6A7H5fATj0j"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304165" lvl="3" marL="17094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Usar eso en el header del request bajo el nombre X-MBX-APIKEY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04164" lvl="2" marL="12522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950"/>
              <a:buFont typeface="Arial"/>
              <a:buChar char="■"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Referencia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8.2 Métodos Públicos</a:t>
            </a:r>
            <a:endParaRPr sz="2500"/>
          </a:p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3680613" y="4807050"/>
            <a:ext cx="176339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VIII: API de Binance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475249" y="1056113"/>
            <a:ext cx="4527550" cy="2329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Son aquellos que involucran: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Obtener información pública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Precios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Order book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Información de los mercados disponibles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Mining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Staking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Funding rates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8.3 Métodos Privados</a:t>
            </a:r>
            <a:endParaRPr sz="2500"/>
          </a:p>
        </p:txBody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3680613" y="4807050"/>
            <a:ext cx="176339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VIII: API de Binance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75249" y="1111630"/>
            <a:ext cx="3947795" cy="22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Son todos aquellos que involucran: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Movimientos de fondos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Consulta de balances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Trading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Manejo de subcuentas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Requieren autenticación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244873" y="2048814"/>
            <a:ext cx="2653030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387985" lvl="0" marL="12700" marR="5080" rtl="0" algn="l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Módulo IX Librería CCXT</a:t>
            </a:r>
            <a:endParaRPr sz="3200"/>
          </a:p>
        </p:txBody>
      </p:sp>
      <p:sp>
        <p:nvSpPr>
          <p:cNvPr id="202" name="Google Shape;202;p26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9.1 ¿Qué es CCXT?</a:t>
            </a:r>
            <a:endParaRPr sz="2500"/>
          </a:p>
        </p:txBody>
      </p:sp>
      <p:sp>
        <p:nvSpPr>
          <p:cNvPr id="209" name="Google Shape;209;p27"/>
          <p:cNvSpPr txBox="1"/>
          <p:nvPr/>
        </p:nvSpPr>
        <p:spPr>
          <a:xfrm>
            <a:off x="475249" y="1111630"/>
            <a:ext cx="7277100" cy="1235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Librería de Python que permite conectarse con múltiples exchanges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API Rest o Websockets (premium)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Estandarización!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9650" y="1643050"/>
            <a:ext cx="4554353" cy="30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3680613" y="4807050"/>
            <a:ext cx="176339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VIII: API de Binance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2674578" y="2315210"/>
            <a:ext cx="37934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Conclusión y resumen</a:t>
            </a:r>
            <a:endParaRPr/>
          </a:p>
        </p:txBody>
      </p:sp>
      <p:sp>
        <p:nvSpPr>
          <p:cNvPr id="219" name="Google Shape;219;p2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2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Conclusión y resumen</a:t>
            </a:r>
            <a:endParaRPr/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496014" y="1020844"/>
            <a:ext cx="5422265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544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Módulo V: Librería asyncio para Python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Comentario rápido, ventajas de asyncio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Módulo VI: Discusión de la tarea propuesta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Implementación de la interfaz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Muchos exchanges son forks de uni! es un buen lugar para empezar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Modulo VII: Repaso de mercados centralizados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Gran tamaño, gran liquidez, gran velocidad. Menos privacidad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Modulo VIII: API de Binance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Integración, métodos públicos y privados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5440" lvl="0" marL="358140" rtl="0" algn="l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Módulo IX: Librería CCXT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Implementación interfaz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9404" lvl="1" marL="815339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Ejemplos!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3182547" y="2315210"/>
            <a:ext cx="27781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Tarea propuesta</a:t>
            </a:r>
            <a:endParaRPr/>
          </a:p>
        </p:txBody>
      </p:sp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3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84725" y="502810"/>
            <a:ext cx="55213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Tarea propuesta</a:t>
            </a:r>
            <a:endParaRPr/>
          </a:p>
        </p:txBody>
      </p:sp>
      <p:sp>
        <p:nvSpPr>
          <p:cNvPr id="241" name="Google Shape;241;p3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3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475249" y="1111630"/>
            <a:ext cx="8397875" cy="340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-367030" lvl="0" marL="379095" marR="5080" rtl="0" algn="l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Desarrollar un servicio que, ante cada evento de swap generado por un par determinado (por ejemplo, wMATIC/USDC), muestre el precio actual del par en Sushiswap, Quickswap, Binance, y OKX.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Guía:</a:t>
            </a:r>
            <a:endParaRPr/>
          </a:p>
          <a:p>
            <a:pPr indent="-335915" lvl="1" marL="836294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Para obtener la dirección del pool y de los tokens: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Crear el contrato factory de UNIV2 para Sushiswap y QuickSwap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Usar el método getPair con el address de cada uno de los tokens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Para obtener el address de los tokens: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2207895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En sushiswap, ir a la sección de pools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22078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Filtrar por polygon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22078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Buscar el pool wMATIC/USDC, y ahi está la información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441959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Después, crear un filtro de web3 con el evento de swap y los addresses del par de los dos protocolos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Finalmente, en cada evento, imprimir los precios de los 4 exchanges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387" y="163850"/>
            <a:ext cx="4352925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3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
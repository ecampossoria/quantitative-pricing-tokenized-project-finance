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475249" y="1070483"/>
            <a:ext cx="8455025" cy="2665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9143999" y="476399"/>
                </a:moveTo>
                <a:lnTo>
                  <a:pt x="0" y="476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763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0" y="0"/>
                </a:moveTo>
                <a:lnTo>
                  <a:pt x="9143999" y="0"/>
                </a:lnTo>
                <a:lnTo>
                  <a:pt x="9143999" y="476399"/>
                </a:lnTo>
                <a:lnTo>
                  <a:pt x="0" y="4763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75249" y="1070483"/>
            <a:ext cx="8455025" cy="2665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8585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85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inance.com/en/margin-trad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flashbots.net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045107" y="1087373"/>
            <a:ext cx="5052695" cy="16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66040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Blockchain y Criptomonedas II</a:t>
            </a:r>
            <a:endParaRPr sz="5200"/>
          </a:p>
        </p:txBody>
      </p:sp>
      <p:sp>
        <p:nvSpPr>
          <p:cNvPr id="47" name="Google Shape;47;p7"/>
          <p:cNvSpPr txBox="1"/>
          <p:nvPr/>
        </p:nvSpPr>
        <p:spPr>
          <a:xfrm>
            <a:off x="3129634" y="2892926"/>
            <a:ext cx="2882900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UCEMA - QUANt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Clase III: 17/11/25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5" name="Google Shape;55;p8"/>
          <p:cNvSpPr txBox="1"/>
          <p:nvPr/>
        </p:nvSpPr>
        <p:spPr>
          <a:xfrm>
            <a:off x="475249" y="1111630"/>
            <a:ext cx="5954395" cy="299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X: Discusión de la tarea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XI: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Flash Loans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y margin trading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Break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Módulo XIV: Otros productos financieros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1331776" y="2266442"/>
            <a:ext cx="647636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Módulo X: Discusión de la tarea</a:t>
            </a:r>
            <a:endParaRPr sz="3600"/>
          </a:p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531452" y="2266442"/>
            <a:ext cx="80803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Módulo XI: </a:t>
            </a:r>
            <a:r>
              <a:rPr i="1" lang="en-US" sz="3600">
                <a:latin typeface="Arial"/>
                <a:ea typeface="Arial"/>
                <a:cs typeface="Arial"/>
                <a:sym typeface="Arial"/>
              </a:rPr>
              <a:t>Flash loans </a:t>
            </a:r>
            <a:r>
              <a:rPr lang="en-US" sz="3600"/>
              <a:t>y </a:t>
            </a:r>
            <a:r>
              <a:rPr i="1" lang="en-US" sz="3600">
                <a:latin typeface="Arial"/>
                <a:ea typeface="Arial"/>
                <a:cs typeface="Arial"/>
                <a:sym typeface="Arial"/>
              </a:rPr>
              <a:t>Margin trading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11.1 ¿Cómo podemos hacer funcionar estas ideas?</a:t>
            </a:r>
            <a:endParaRPr/>
          </a:p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7" name="Google Shape;77;p11"/>
          <p:cNvSpPr txBox="1"/>
          <p:nvPr/>
        </p:nvSpPr>
        <p:spPr>
          <a:xfrm>
            <a:off x="3319918" y="4807050"/>
            <a:ext cx="248539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XI: Flash loans y Margin trading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475249" y="1111630"/>
            <a:ext cx="8380730" cy="2340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Restricción: custodia de tokens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Cexes en general son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custodials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de los tokens, mientras que los dexes no lo son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Principal restricción: manejo de capital.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Para hacer un arbitraje cex-dex, habría que disponer de tokens en un mercado y usar esos tokens en el otro, todo en el mismo espacio temporal.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Complejo operativamente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11.2 Cexes: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Margin Trading</a:t>
            </a:r>
            <a:endParaRPr/>
          </a:p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3319918" y="4807050"/>
            <a:ext cx="248539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XI: Flash loans y Margin trading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475249" y="1070483"/>
            <a:ext cx="8455025" cy="2665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8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Cada cex tiene una forma distinta de implementarlo, pero la idea es la siguiente</a:t>
            </a:r>
            <a:endParaRPr/>
          </a:p>
          <a:p>
            <a:pPr indent="-367030" lvl="0" marL="379095" marR="28194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Se collateraliza una posición con algún token (puede ser una stable coin, por ejemplo) y se opera el token deseado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Referencias: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binance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11.3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Flash Loans </a:t>
            </a:r>
            <a:r>
              <a:rPr lang="en-US"/>
              <a:t>o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Borrow</a:t>
            </a:r>
            <a:endParaRPr/>
          </a:p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085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319918" y="4807050"/>
            <a:ext cx="248539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XI: Flash loans y Margin trading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5249" y="1111630"/>
            <a:ext cx="7989570" cy="3201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 defi, las opciones son un poco más amplias.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Flash loans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80" rtl="0" algn="l">
              <a:lnSpc>
                <a:spcPct val="114999"/>
              </a:lnSpc>
              <a:spcBef>
                <a:spcPts val="109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Préstamos intra transacción. Permiten pedir prestado activos sin collateralizar nada, con la condición de que se devuelvan en la misma transacción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Solo implementables con smart contracts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Borrowing: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1231265" rtl="0" algn="l">
              <a:lnSpc>
                <a:spcPct val="114999"/>
              </a:lnSpc>
              <a:spcBef>
                <a:spcPts val="10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Existen protocolos como AAVE o Compound que permiten pedir préstamos sobrecollateralizados de tokens.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Más transacciones, más complejidad para cerrar el círculo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500930" y="2048814"/>
            <a:ext cx="8140065" cy="1013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166745" lvl="0" marL="3178810" marR="5080" rtl="0" algn="l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Módulo XII: Modelos de arbitraje para AMMs de UNIV2</a:t>
            </a:r>
            <a:endParaRPr sz="3200"/>
          </a:p>
        </p:txBody>
      </p:sp>
      <p:sp>
        <p:nvSpPr>
          <p:cNvPr id="103" name="Google Shape;103;p14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12.1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CPMM </a:t>
            </a:r>
            <a:r>
              <a:rPr lang="en-US"/>
              <a:t>y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CSMM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5249" y="1056113"/>
            <a:ext cx="6350635" cy="612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CSMM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constant sum market maker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Consiste en un modelo en el cual la suma de los tokens es constante: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508" y="2097666"/>
            <a:ext cx="2377977" cy="23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1950" y="1495375"/>
            <a:ext cx="641635" cy="14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852" y="2196450"/>
            <a:ext cx="2406579" cy="243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75249" y="1056113"/>
            <a:ext cx="6607175" cy="612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CPMM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constant product market maker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Consiste en un modelo en el cual el producto de los tokens es constante: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9624" y="1488475"/>
            <a:ext cx="514349" cy="161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485677" y="1102167"/>
            <a:ext cx="7995920" cy="338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35560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Char char="●"/>
            </a:pPr>
            <a:r>
              <a:rPr i="1" lang="en-US" sz="1650">
                <a:latin typeface="Arial"/>
                <a:ea typeface="Arial"/>
                <a:cs typeface="Arial"/>
                <a:sym typeface="Arial"/>
              </a:rPr>
              <a:t>CPMM vs CSMM:</a:t>
            </a:r>
            <a:endParaRPr sz="1650">
              <a:latin typeface="Arial"/>
              <a:ea typeface="Arial"/>
              <a:cs typeface="Arial"/>
              <a:sym typeface="Arial"/>
            </a:endParaRPr>
          </a:p>
          <a:p>
            <a:pPr indent="-327660" lvl="1" marL="82550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CPMM 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tiene liquidez infinita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1" marL="82550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CSMM permite drenar las reservas, mal modelo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2" marL="128270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usado en stable coins en algunos casos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0" marL="8255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Problemas de esta generación: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8295" lvl="1" marL="1283335" marR="8890" rtl="0" algn="l">
              <a:lnSpc>
                <a:spcPct val="113846"/>
              </a:lnSpc>
              <a:spcBef>
                <a:spcPts val="1030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Impermanent loss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: recordemos, diferencia entre quedarse el token y e invertirlo en un AMM. Producido por la divergencia hacia algún extremo del pool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1" marL="128270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Baja eficiencia de capital: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2" marL="1739900" rtl="0" algn="l">
              <a:lnSpc>
                <a:spcPct val="116923"/>
              </a:lnSpc>
              <a:spcBef>
                <a:spcPts val="92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Se necesitan muchos tokens para generar un </a:t>
            </a: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price impact 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similar al observado en los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1740535" rtl="0" algn="l">
              <a:lnSpc>
                <a:spcPct val="11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orderbooks 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tradicionales.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8295" lvl="2" marL="1740535" marR="15875" rtl="0" algn="l">
              <a:lnSpc>
                <a:spcPct val="113846"/>
              </a:lnSpc>
              <a:spcBef>
                <a:spcPts val="103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Provee liquidez en todo el rango de precios, y no en el rango de precios trascendente (revisar UNI V3)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12.2 Maximización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75249" y="1100658"/>
            <a:ext cx="8266430" cy="339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367030" lvl="0" marL="379095" marR="5080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Volviendo al caso implementado en múltiples exchanges, se pueden observar divergencias en los precios absolutos de los activos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¿Son aprovechables? Veamos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Recordemos: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Pools uni v2, CPMM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Para un par determinado, en un exchange determinado: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Para el mismo par, en otro exchange: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Para todos los pares, podemos obtener (y ya lo hicimos!)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La dirección del pool asociado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Las reservas de ambos tokens, entonces podemos obtener k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0377" y="2865250"/>
            <a:ext cx="1325975" cy="30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0575" y="3204325"/>
            <a:ext cx="1245825" cy="28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475249" y="1111630"/>
            <a:ext cx="6324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¿Qué pasa si intentamos agregar una cantidad dx al pool?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475249" y="2474087"/>
            <a:ext cx="7783195" cy="65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Para que el producto se mantenga constante, al agregar una cantidad dx vamos a sacar una cantidad dy. ¿Y cómo calculamos dy?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1375" y="1682300"/>
            <a:ext cx="3409949" cy="390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9"/>
          <p:cNvGrpSpPr/>
          <p:nvPr/>
        </p:nvGrpSpPr>
        <p:grpSpPr>
          <a:xfrm>
            <a:off x="3259175" y="3122175"/>
            <a:ext cx="2625652" cy="1485899"/>
            <a:chOff x="3259175" y="3122175"/>
            <a:chExt cx="2625652" cy="1485899"/>
          </a:xfrm>
        </p:grpSpPr>
        <p:pic>
          <p:nvPicPr>
            <p:cNvPr id="152" name="Google Shape;15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59175" y="3122175"/>
              <a:ext cx="2625652" cy="742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71725" y="3865125"/>
              <a:ext cx="2389259" cy="7429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475249" y="389633"/>
            <a:ext cx="8417560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¡Determinístico! Excelente. Qué pasa si, entonces, intentamos encadenar dos pools entre sí. Es decir, colocar dx1 en el primer pool, obtener dy1, y poner dy1 en el segundo pool para obtener dx2.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9950" y="1488475"/>
            <a:ext cx="2764093" cy="74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5137" y="2376487"/>
            <a:ext cx="4162424" cy="39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7000" y="2912087"/>
            <a:ext cx="4838699" cy="8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475249" y="430781"/>
            <a:ext cx="28803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Entonces, dx2 es igual 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2750" y="894012"/>
            <a:ext cx="4267199" cy="90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6100" y="1967137"/>
            <a:ext cx="4000499" cy="90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475249" y="430781"/>
            <a:ext cx="7618095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Por lo tanto, ¿cuál sería el problema que estamos buscando optimizar?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¡Obtener la mayor cantidad de tokens a la salida!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475249" y="2959968"/>
            <a:ext cx="52444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¿Cómo resolver?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¡Podemos derivar con respecto a dx1 y hallar ese valor!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Tarea propuesta, resolución la semana que viene!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587" y="1247700"/>
            <a:ext cx="5656824" cy="43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0798" y="1870850"/>
            <a:ext cx="6471100" cy="47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2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12.3 ¿Qué pasaría si…?</a:t>
            </a:r>
            <a:endParaRPr/>
          </a:p>
        </p:txBody>
      </p:sp>
      <p:sp>
        <p:nvSpPr>
          <p:cNvPr id="194" name="Google Shape;194;p23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2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2850506" y="4807050"/>
            <a:ext cx="3424554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475249" y="1056113"/>
            <a:ext cx="8467090" cy="3310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Detalles a tener en cuenta respecto al setup: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Fees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¿Se están considerando los fees de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trading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de los pooles en este set up?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¿Cómo cambian las ecuaciones si los fuéramos a considerar?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Restricciones: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En el problema original, no está acotado el dominio de las variables asociadas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¿Qué pasa si tenemos en cuenta que, por ejemplo, tenemos un máximo número de tokens para operar? Es decir, nuestra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wallet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tiene 1 eth y no más para poner en el pool. Restricciones de capital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84809" lvl="1" marL="885189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Ecuaciones: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12192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En este caso, este problema se puede plantear porque conocemos el comportamiento de las curvas. ¿Qué se puede hacer si las ecuaciones no son derivables?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¿Y si en vez de un pool tenemos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orderbook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involucrado?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/>
          <p:nvPr>
            <p:ph type="title"/>
          </p:nvPr>
        </p:nvSpPr>
        <p:spPr>
          <a:xfrm>
            <a:off x="1102953" y="2266442"/>
            <a:ext cx="693356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Módulo XIII: Riesgos de ejecución</a:t>
            </a:r>
            <a:endParaRPr sz="3600"/>
          </a:p>
        </p:txBody>
      </p:sp>
      <p:sp>
        <p:nvSpPr>
          <p:cNvPr id="204" name="Google Shape;204;p24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13.1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Mempool</a:t>
            </a:r>
            <a:endParaRPr/>
          </a:p>
        </p:txBody>
      </p:sp>
      <p:pic>
        <p:nvPicPr>
          <p:cNvPr id="210" name="Google Shape;2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2354" y="1495955"/>
            <a:ext cx="5272441" cy="31212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475249" y="1111630"/>
            <a:ext cx="70472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¿Cómo es el flujo de desarrollo de una transacción en Ethereum?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2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/>
        </p:nvSpPr>
        <p:spPr>
          <a:xfrm>
            <a:off x="475249" y="1150730"/>
            <a:ext cx="6897370" cy="2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Usuario envía la transacción a su nodo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El nodo comparte la transacción al resto de los nodos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Las transacciones se ordenan por los mineros o validadores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El ganador de la lotería o el que adivina el hash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arma el bloque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El bloque se propaga a la red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/>
        </p:nvSpPr>
        <p:spPr>
          <a:xfrm>
            <a:off x="475249" y="437705"/>
            <a:ext cx="8527415" cy="38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Ahora bien, ¿cómo se arma el bloque?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¡Los validadores tienen un rol activo en esa decisión!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8636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 uno fuera dueño de un nodo, cuando gana el sorteo podrá elegir de qué forma se ordenan las transacciones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Por ejemplo: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7366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 observa que en la mempool alguien está intentando hacer un swap entre el token A y el token 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5461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Cómo se conocen los parámetros del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swap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es fácil (dado que la ecuación es determinista) conocer el resultado de las reservas después de esta transacción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Resolviendo entonces el problema anterior, se podría computar cual es el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input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óptimo para ese pool que se desarbitra para maximizar la ganancia! (si es que hay)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2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 envía entonces un “doble swap” atrás del swap que desarbitra las reservas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/>
        </p:nvSpPr>
        <p:spPr>
          <a:xfrm>
            <a:off x="475249" y="437705"/>
            <a:ext cx="855472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fuera tan sencillo…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Muy bien, entendemos cómo funciona el arbitraje entre pools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23495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 es tan sencillo de implementar, ¿qué dificultades se pueden llegar a presentar para tomar esos arbitrajes? ¿Ideas?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6223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¡Sistema de lotería! Si controlamos un nodo, solo vamos a poder ordenar las transacciones con muy baja frecuencia (proporcional al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share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de tokens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stakeados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que tengamos)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2934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 usamos un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provider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quizás tengan un mejor share. Pero competimos por el mismo arbitraje con el resto de los arbitradores. Para obtener ese arbitraje, tenemos que mejorar el gas price o prima para el validador para que nuestra transacción se ordene como queremos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4010" lvl="2" marL="1290955" marR="368935" rtl="0" algn="just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Por otro lado, este modelo de arbitraje es intensivo en capital. Se necesita tener ambos 	tokens para poder hacer el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swap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Esto suele implicar hundir capital, y tiene un costo de 	oportunidad asociado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2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38" name="Google Shape;238;p28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/>
        </p:nvSpPr>
        <p:spPr>
          <a:xfrm>
            <a:off x="475249" y="437705"/>
            <a:ext cx="8567420" cy="278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fuera tan sencillo… (continuación)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1293495" marR="163195" rtl="0" algn="l">
              <a:lnSpc>
                <a:spcPct val="114999"/>
              </a:lnSpc>
              <a:spcBef>
                <a:spcPts val="10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Asumamos que podemos resolver lo anterior asociado al capital, y tenemos suerte de que podemos ordenar nuestra transacción en el lugar adecuado del bloque. ¡En realidad necesitamos hacer dos transacciones! Un swap en el primer pool, y otro swap en la dirección contraria en el segundo pool.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2" marL="17506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Solución a esto: smart contract que en una transacción haga los dos swaps! Se puede resolver en Remix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1293495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 no hay disponibilidad de capital, hay que hacer un borrow. Otra transacción.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4" lvl="1" marL="1293495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Infraestructura…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2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46" name="Google Shape;246;p29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13.2 Privacidad</a:t>
            </a:r>
            <a:endParaRPr/>
          </a:p>
        </p:txBody>
      </p:sp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3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54" name="Google Shape;254;p30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475249" y="1070483"/>
            <a:ext cx="8455025" cy="2665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124714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Existen providers de mempool que nos permiten tener acceso a las transacciones pendientes de los distintos usuarios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¿Todas las transacciones son públicas?</a:t>
            </a:r>
            <a:endParaRPr/>
          </a:p>
          <a:p>
            <a:pPr indent="-367030" lvl="0" marL="3790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¡No! Existen servicios de nodos privados, sobre los cuales no se tiene acceso a la mempool</a:t>
            </a:r>
            <a:endParaRPr/>
          </a:p>
          <a:p>
            <a:pPr indent="-367030" lvl="0" marL="379095" marR="207009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Flashbots</a:t>
            </a:r>
            <a:r>
              <a:rPr lang="en-US"/>
              <a:t>: nodo RPC que NO brodcastea las transacciones pendientes. ¡Más seguro!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13.3 Ataques</a:t>
            </a:r>
            <a:endParaRPr/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3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1"/>
          <p:cNvSpPr txBox="1"/>
          <p:nvPr>
            <p:ph idx="1" type="body"/>
          </p:nvPr>
        </p:nvSpPr>
        <p:spPr>
          <a:xfrm>
            <a:off x="475249" y="1070483"/>
            <a:ext cx="8455025" cy="2665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8953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Como vimos anteriormente, existe un parámetro en los swaps del modelo de UNIV2 que se llama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minAmountOut</a:t>
            </a:r>
            <a:r>
              <a:rPr lang="en-US"/>
              <a:t>. Esto responde pura y exclusivamente a la necesidad de proteger los trades de los usuarios.</a:t>
            </a:r>
            <a:endParaRPr/>
          </a:p>
          <a:p>
            <a:pPr indent="-367030" lvl="0" marL="379095" marR="508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Si uno fuera a enviar un trade desprotegido (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minAmountOut </a:t>
            </a:r>
            <a:r>
              <a:rPr lang="en-US"/>
              <a:t>= 0), podría quedar expuesto a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frontrunning</a:t>
            </a:r>
            <a:r>
              <a:rPr lang="en-US"/>
              <a:t>,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backrunning</a:t>
            </a:r>
            <a:r>
              <a:rPr lang="en-US"/>
              <a:t>, o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sandwich trading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/>
        </p:nvSpPr>
        <p:spPr>
          <a:xfrm>
            <a:off x="485677" y="428241"/>
            <a:ext cx="8174355" cy="3669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-355600" lvl="0" marL="36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Char char="●"/>
            </a:pPr>
            <a:r>
              <a:rPr i="1" lang="en-US" sz="1650">
                <a:latin typeface="Arial"/>
                <a:ea typeface="Arial"/>
                <a:cs typeface="Arial"/>
                <a:sym typeface="Arial"/>
              </a:rPr>
              <a:t>Frontrunning</a:t>
            </a:r>
            <a:endParaRPr sz="1650">
              <a:latin typeface="Arial"/>
              <a:ea typeface="Arial"/>
              <a:cs typeface="Arial"/>
              <a:sym typeface="Arial"/>
            </a:endParaRPr>
          </a:p>
          <a:p>
            <a:pPr indent="-328295" lvl="1" marL="826135" marR="5080" rtl="0" algn="l">
              <a:lnSpc>
                <a:spcPct val="113846"/>
              </a:lnSpc>
              <a:spcBef>
                <a:spcPts val="1245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Consiste en ver una transacción pendiente, procesarla, y enviar una transacción para que se ejecute antes que esa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2" marL="128270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Ejemplo: liquidaciones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55600" lvl="0" marL="36830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SzPts val="1650"/>
              <a:buFont typeface="Arial"/>
              <a:buChar char="●"/>
            </a:pPr>
            <a:r>
              <a:rPr i="1" lang="en-US" sz="1650">
                <a:latin typeface="Arial"/>
                <a:ea typeface="Arial"/>
                <a:cs typeface="Arial"/>
                <a:sym typeface="Arial"/>
              </a:rPr>
              <a:t>Backrunning</a:t>
            </a:r>
            <a:endParaRPr sz="1650">
              <a:latin typeface="Arial"/>
              <a:ea typeface="Arial"/>
              <a:cs typeface="Arial"/>
              <a:sym typeface="Arial"/>
            </a:endParaRPr>
          </a:p>
          <a:p>
            <a:pPr indent="-328295" lvl="1" marL="826135" marR="5080" rtl="0" algn="l">
              <a:lnSpc>
                <a:spcPct val="113846"/>
              </a:lnSpc>
              <a:spcBef>
                <a:spcPts val="1245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Consiste en ver una transaccion pendiente, procesarla, y enviar una transacción para que se ejecute justo después que esa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2" marL="12827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Ejemplo: arbitraje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55600" lvl="0" marL="36830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SzPts val="1650"/>
              <a:buFont typeface="Arial"/>
              <a:buChar char="●"/>
            </a:pPr>
            <a:r>
              <a:rPr i="1" lang="en-US" sz="1650">
                <a:latin typeface="Arial"/>
                <a:ea typeface="Arial"/>
                <a:cs typeface="Arial"/>
                <a:sym typeface="Arial"/>
              </a:rPr>
              <a:t>Sandwitch trading</a:t>
            </a:r>
            <a:endParaRPr sz="1650">
              <a:latin typeface="Arial"/>
              <a:ea typeface="Arial"/>
              <a:cs typeface="Arial"/>
              <a:sym typeface="Arial"/>
            </a:endParaRPr>
          </a:p>
          <a:p>
            <a:pPr indent="-328295" lvl="1" marL="826135" marR="5080" rtl="0" algn="l">
              <a:lnSpc>
                <a:spcPct val="113846"/>
              </a:lnSpc>
              <a:spcBef>
                <a:spcPts val="1245"/>
              </a:spcBef>
              <a:spcAft>
                <a:spcPts val="0"/>
              </a:spcAft>
              <a:buSzPts val="1300"/>
              <a:buFont typeface="Arial"/>
              <a:buChar char="○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Consiste en ver una transacción pendiente, procesarla, y enviar una transacción para que se ejecute justo antes y otra que se ejecute justo despúes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27660" lvl="2" marL="128270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ts val="1300"/>
              <a:buFont typeface="Arial"/>
              <a:buChar char="■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i="1" lang="en-US" sz="1300">
                <a:latin typeface="Arial"/>
                <a:ea typeface="Arial"/>
                <a:cs typeface="Arial"/>
                <a:sym typeface="Arial"/>
              </a:rPr>
              <a:t>riskless profit 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de un swap desprotegido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3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3494419" y="4807050"/>
            <a:ext cx="213677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463698" y="2266442"/>
            <a:ext cx="82130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Módulo XIV: Otros productos financieros</a:t>
            </a:r>
            <a:endParaRPr sz="3600"/>
          </a:p>
        </p:txBody>
      </p:sp>
      <p:sp>
        <p:nvSpPr>
          <p:cNvPr id="278" name="Google Shape;278;p33"/>
          <p:cNvSpPr txBox="1"/>
          <p:nvPr/>
        </p:nvSpPr>
        <p:spPr>
          <a:xfrm>
            <a:off x="8781525" y="4778067"/>
            <a:ext cx="167005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14.1 Staking</a:t>
            </a:r>
            <a:endParaRPr/>
          </a:p>
        </p:txBody>
      </p:sp>
      <p:sp>
        <p:nvSpPr>
          <p:cNvPr id="285" name="Google Shape;285;p34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87" name="Google Shape;287;p34"/>
          <p:cNvSpPr txBox="1"/>
          <p:nvPr/>
        </p:nvSpPr>
        <p:spPr>
          <a:xfrm>
            <a:off x="3299231" y="4807050"/>
            <a:ext cx="252730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XIV: Otros productos financieros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475249" y="1056113"/>
            <a:ext cx="7644765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Consiste en: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Tomar un token determinado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Colocarlo en un depósito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 cambio de un rendimiento, puede ser fijo o variable, en tokens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Incentiva: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Al usuario, porque recibe tokens simplemente por tener tokens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Al protocolo, porque es una estrategia de incremento de usuarios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Desincentiva: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Al trading excesivo: funciona como una manera de reducir el circulante en el ambiente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Al usuario, porque sus tokens están bloqueados (a veces por períodos fijos)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Al protocolo, porque “debe emitir” para cubrir los intereses a pagar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14.2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Liquidity providing</a:t>
            </a:r>
            <a:endParaRPr/>
          </a:p>
        </p:txBody>
      </p:sp>
      <p:sp>
        <p:nvSpPr>
          <p:cNvPr id="294" name="Google Shape;294;p35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96" name="Google Shape;296;p35"/>
          <p:cNvSpPr txBox="1"/>
          <p:nvPr/>
        </p:nvSpPr>
        <p:spPr>
          <a:xfrm>
            <a:off x="3299231" y="4807050"/>
            <a:ext cx="252730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XIV: Otros productos financieros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475249" y="1111630"/>
            <a:ext cx="8178165" cy="2599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Consiste en “hacer market making” en los pools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118110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Uno deposita tokens en una proporción determinada (depende del punto de operación del pool) y recibe los fees prorrateados por la proporción de la liquidez que representa.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Impermanent loss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Dependiendo el modelo de pool, la liquidez puede ser concentrada (Uniswap V3), o distribuida (Uniswap V2) entre otros modelos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14.3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Yield Farming</a:t>
            </a:r>
            <a:endParaRPr/>
          </a:p>
        </p:txBody>
      </p:sp>
      <p:sp>
        <p:nvSpPr>
          <p:cNvPr id="303" name="Google Shape;303;p36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3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05" name="Google Shape;305;p36"/>
          <p:cNvSpPr txBox="1"/>
          <p:nvPr/>
        </p:nvSpPr>
        <p:spPr>
          <a:xfrm>
            <a:off x="3299231" y="4807050"/>
            <a:ext cx="252730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XIV: Otros productos financieros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475249" y="1111630"/>
            <a:ext cx="7388859" cy="334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Consiste en: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Tomar un token de liquidity providing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Stakear ese token de liquidity providing para obtener mayor share del pool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Sirve para: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Aumentar la liquidez en los pools, ya que incentiva a los usuarios a ofrecer liquidez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También a mantener a los usuarios ofreciendo liquidez por más tiempo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Nuevamente,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impermanent loss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Muy competitivo. ¡Requiere mucho seguimiento!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14.4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Lending / Borrowing</a:t>
            </a:r>
            <a:endParaRPr/>
          </a:p>
        </p:txBody>
      </p:sp>
      <p:sp>
        <p:nvSpPr>
          <p:cNvPr id="312" name="Google Shape;312;p37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3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14" name="Google Shape;314;p37"/>
          <p:cNvSpPr txBox="1"/>
          <p:nvPr/>
        </p:nvSpPr>
        <p:spPr>
          <a:xfrm>
            <a:off x="3299231" y="4807050"/>
            <a:ext cx="2527300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XIV: Otros productos financieros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 txBox="1"/>
          <p:nvPr/>
        </p:nvSpPr>
        <p:spPr>
          <a:xfrm>
            <a:off x="475249" y="1070483"/>
            <a:ext cx="8376284" cy="2009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Existen protocolos como AAVE y Compound que permiten tomar préstamos en tokens.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Son préstamos sobrecolateralizados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También permiten prestar los tokens para obtener un rendimiento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Se puede integrar esta idea a smart contracts, trading, etc.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>
            <p:ph type="title"/>
          </p:nvPr>
        </p:nvSpPr>
        <p:spPr>
          <a:xfrm>
            <a:off x="2056197" y="2266442"/>
            <a:ext cx="50304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Conclusiones y resumen</a:t>
            </a:r>
            <a:endParaRPr sz="3600"/>
          </a:p>
        </p:txBody>
      </p:sp>
      <p:sp>
        <p:nvSpPr>
          <p:cNvPr id="321" name="Google Shape;321;p38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3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328" name="Google Shape;328;p39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3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30" name="Google Shape;330;p39"/>
          <p:cNvSpPr txBox="1"/>
          <p:nvPr/>
        </p:nvSpPr>
        <p:spPr>
          <a:xfrm>
            <a:off x="516690" y="1114374"/>
            <a:ext cx="4700905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-325120" lvl="0" marL="337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Módulo X: Discusión de la tarea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Modos de suscripción, nuevo bloque y evento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25120" lvl="0" marL="3378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Módulo XI: </a:t>
            </a:r>
            <a:r>
              <a:rPr i="1" lang="en-US" sz="1250">
                <a:latin typeface="Arial"/>
                <a:ea typeface="Arial"/>
                <a:cs typeface="Arial"/>
                <a:sym typeface="Arial"/>
              </a:rPr>
              <a:t>Flash Loans </a:t>
            </a:r>
            <a:r>
              <a:rPr lang="en-US" sz="1250">
                <a:latin typeface="Arial"/>
                <a:ea typeface="Arial"/>
                <a:cs typeface="Arial"/>
                <a:sym typeface="Arial"/>
              </a:rPr>
              <a:t>y margin trading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¿Cómo resolvemos la cuestión operativa de tomar estos arbitrajes?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25120" lvl="0" marL="3378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Módulo XII: Modelos de arbitraje para AMMs de UNIV2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¿Cómo resolvemos la cuestión matemática de tomar estos arbigrajes?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25120" lvl="0" marL="337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Módulo XIII: Riesgos de ejecución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No es tan fácil como parece…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0" lvl="1" marL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SzPts val="950"/>
              <a:buFont typeface="Arial"/>
              <a:buNone/>
            </a:pPr>
            <a:r>
              <a:t/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indent="-325120" lvl="0" marL="3378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Char char="●"/>
            </a:pPr>
            <a:r>
              <a:rPr lang="en-US" sz="1250">
                <a:latin typeface="Arial"/>
                <a:ea typeface="Arial"/>
                <a:cs typeface="Arial"/>
                <a:sym typeface="Arial"/>
              </a:rPr>
              <a:t>Módulo XIV: Otros productos financieros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-304164" lvl="1" marL="795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○"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Distintas ideas del mundo defi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 txBox="1"/>
          <p:nvPr>
            <p:ph type="title"/>
          </p:nvPr>
        </p:nvSpPr>
        <p:spPr>
          <a:xfrm>
            <a:off x="384725" y="505248"/>
            <a:ext cx="73469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Conclusión</a:t>
            </a:r>
            <a:endParaRPr/>
          </a:p>
        </p:txBody>
      </p:sp>
      <p:sp>
        <p:nvSpPr>
          <p:cNvPr id="336" name="Google Shape;336;p40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4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38" name="Google Shape;338;p40"/>
          <p:cNvSpPr txBox="1"/>
          <p:nvPr/>
        </p:nvSpPr>
        <p:spPr>
          <a:xfrm>
            <a:off x="475249" y="1111630"/>
            <a:ext cx="8163559" cy="2326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Existen limitaciones para operar entre el mundo cex y el mundo dex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Pudimos implementar casi end to end un sistema de monitoreo de arbitrajes, tanto entre dexes, entre cexes, y cex-dex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Discutimos riesgos operativos asociados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Revisión general de otros productos financieros, para quien tenga interés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387" y="163850"/>
            <a:ext cx="4352925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4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>
            <p:ph type="title"/>
          </p:nvPr>
        </p:nvSpPr>
        <p:spPr>
          <a:xfrm>
            <a:off x="2818792" y="2266442"/>
            <a:ext cx="350329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¡Muchas gracias!</a:t>
            </a:r>
            <a:endParaRPr sz="3600"/>
          </a:p>
        </p:txBody>
      </p:sp>
      <p:sp>
        <p:nvSpPr>
          <p:cNvPr id="351" name="Google Shape;351;p42"/>
          <p:cNvSpPr txBox="1"/>
          <p:nvPr>
            <p:ph idx="12" type="sldNum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4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
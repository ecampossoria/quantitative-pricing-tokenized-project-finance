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5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5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5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6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6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6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6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6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6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6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469876" y="1109448"/>
            <a:ext cx="4345305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001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001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001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001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001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667399"/>
            <a:ext cx="9144000" cy="476250"/>
          </a:xfrm>
          <a:custGeom>
            <a:rect b="b" l="l" r="r" t="t"/>
            <a:pathLst>
              <a:path extrusionOk="0" h="476250" w="9144000">
                <a:moveTo>
                  <a:pt x="9143639" y="475919"/>
                </a:moveTo>
                <a:lnTo>
                  <a:pt x="0" y="475919"/>
                </a:lnTo>
                <a:lnTo>
                  <a:pt x="0" y="0"/>
                </a:lnTo>
                <a:lnTo>
                  <a:pt x="9143639" y="0"/>
                </a:lnTo>
                <a:lnTo>
                  <a:pt x="9143639" y="475919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4667399"/>
            <a:ext cx="9144000" cy="476250"/>
          </a:xfrm>
          <a:custGeom>
            <a:rect b="b" l="l" r="r" t="t"/>
            <a:pathLst>
              <a:path extrusionOk="0" h="476250" w="9144000">
                <a:moveTo>
                  <a:pt x="0" y="0"/>
                </a:moveTo>
                <a:lnTo>
                  <a:pt x="9143639" y="0"/>
                </a:lnTo>
                <a:lnTo>
                  <a:pt x="9143639" y="475919"/>
                </a:lnTo>
                <a:lnTo>
                  <a:pt x="0" y="47591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69876" y="1109448"/>
            <a:ext cx="4345305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0010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001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/>
        </p:nvSpPr>
        <p:spPr>
          <a:xfrm>
            <a:off x="63665" y="4793532"/>
            <a:ext cx="87185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Matias Selser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1128393" y="294559"/>
            <a:ext cx="6880225" cy="2402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Class 3: Macro Drivers, Tokenization &amp; Applied Trading Signals</a:t>
            </a:r>
            <a:endParaRPr sz="5200"/>
          </a:p>
        </p:txBody>
      </p:sp>
      <p:sp>
        <p:nvSpPr>
          <p:cNvPr id="47" name="Google Shape;47;p7"/>
          <p:cNvSpPr txBox="1"/>
          <p:nvPr/>
        </p:nvSpPr>
        <p:spPr>
          <a:xfrm>
            <a:off x="3186514" y="2893080"/>
            <a:ext cx="2882900" cy="130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UCEMA - QUANt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Clase III: 05/11/25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3</a:t>
            </a:r>
            <a:endParaRPr/>
          </a:p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001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5" name="Google Shape;55;p8"/>
          <p:cNvSpPr txBox="1"/>
          <p:nvPr/>
        </p:nvSpPr>
        <p:spPr>
          <a:xfrm>
            <a:off x="469876" y="1109448"/>
            <a:ext cx="7621905" cy="2681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Macro Drivers, Tokenization &amp; Applied Trading Signals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Understanding how traditional markets drive crypto prices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Exploring the tokenization revolution (RWAs)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Implementing practical trading signals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Building real trading strategies with backtesting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53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Duration: 3 hours (with 15-minute break)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Today's Agenda</a:t>
            </a:r>
            <a:endParaRPr/>
          </a:p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001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475129" y="1112497"/>
            <a:ext cx="5737860" cy="30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385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Part 1: Introduction &amp; Context (15 min)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47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Real-world scenario: Fed rate hikes and crypto crash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Why macro matters for crypto traders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3855" lvl="0" marL="379095" rtl="0" algn="l">
              <a:lnSpc>
                <a:spcPct val="100000"/>
              </a:lnSpc>
              <a:spcBef>
                <a:spcPts val="153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Part 2: Macro Drivers (60 min)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Federal Reserve policy and interest rates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DXY dollar strength and inverse correlation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S&amp;P 500 correlation (risk appetite)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 Recap</a:t>
            </a:r>
            <a:endParaRPr/>
          </a:p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001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1" name="Google Shape;71;p10"/>
          <p:cNvSpPr txBox="1"/>
          <p:nvPr/>
        </p:nvSpPr>
        <p:spPr>
          <a:xfrm>
            <a:off x="469876" y="1109448"/>
            <a:ext cx="7060565" cy="2681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we learned last class: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Stablecoin mechanics and risk (USDT, USDC, DAI)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DeFi yield strategies and impermanent loss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Perpetual futures and funding rates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Portfolio optimization and diversification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53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Key Takeaway: Crypto offers multiple income streams beyond spot trading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Real Scenario - Fed Rate Hikes &amp; BTC Crash</a:t>
            </a:r>
            <a:endParaRPr/>
          </a:p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001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9" name="Google Shape;79;p11"/>
          <p:cNvSpPr txBox="1"/>
          <p:nvPr/>
        </p:nvSpPr>
        <p:spPr>
          <a:xfrm>
            <a:off x="469876" y="1109448"/>
            <a:ext cx="6134100" cy="324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March 2022: The Fed Pivot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Fed announces aggressive rate hikes (0% → 5.5%)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Goal: Combat 40-year high inflation (9.1% CPI)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Market reaction: BTC crashes from $69K to $15K (-78%)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Why did this happen?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Higher rates = money becomes expensive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Investors sell risk assets (crypto, tech stocks)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Macro Matters for Crypto</a:t>
            </a:r>
            <a:endParaRPr/>
          </a:p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001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469876" y="1109448"/>
            <a:ext cx="5356860" cy="324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Crypto used to be "uncorrelated"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2013-2019: BTC moved independently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"Digital gold" narrative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Safe haven during crises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Now crypto is CORRELATED (0.7-0.8)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Trades like tech stocks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Sensitive to Fed policy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Big Picture - Macro Variables</a:t>
            </a:r>
            <a:endParaRPr/>
          </a:p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001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3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69876" y="1109448"/>
            <a:ext cx="3922395" cy="3108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Key Macro Drivers: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 Interest Rates (Federal Funds Rate)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Higher rates = bearish for crypto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Lower rates = bullish for crypto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53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2. Dollar Strength (DXY Index)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Stronger dollar = bearish for crypto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Weaker dollar = bullish for crypto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Roadmap</a:t>
            </a:r>
            <a:endParaRPr/>
          </a:p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001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4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9876" y="1109448"/>
            <a:ext cx="6061075" cy="2973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By the end of today, you will: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Calculate 30-day rolling correlation between BTC and S&amp;P 500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Understand how Fed policy impacts crypto prices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Identify what tokenization is and why it matters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Backtest a moving average crossover strategy on ETH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Monitor perpetual funding rates for arbitrage opportunities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Evaluate an RWA project for trading viability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467722" y="1879519"/>
            <a:ext cx="8197850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PART 1: MACRO DRIVERS</a:t>
            </a:r>
            <a:endParaRPr sz="5200"/>
          </a:p>
        </p:txBody>
      </p:sp>
      <p:sp>
        <p:nvSpPr>
          <p:cNvPr id="109" name="Google Shape;109;p15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Overview - Macro Drivers</a:t>
            </a:r>
            <a:endParaRPr/>
          </a:p>
        </p:txBody>
      </p:sp>
      <p:sp>
        <p:nvSpPr>
          <p:cNvPr id="115" name="Google Shape;115;p16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16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69876" y="1109448"/>
            <a:ext cx="4055745" cy="3108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we'll cover: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 Federal Reserve &amp; Interest Rates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How the Fed influences markets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Rate hike cycles and crypto crashes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QE/QT mechanics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53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2. Liquidity &amp; DXY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Global liquidity theory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Federal Reserve - Who They Are</a:t>
            </a:r>
            <a:endParaRPr/>
          </a:p>
        </p:txBody>
      </p:sp>
      <p:sp>
        <p:nvSpPr>
          <p:cNvPr id="123" name="Google Shape;123;p17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17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469876" y="1109448"/>
            <a:ext cx="5591175" cy="3183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is the Federal Reserve?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Central bank of the United States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Created in 1913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Independent agency (but accountable to Congress)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The Fed's Dual Mandate: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 Maximum Employment (low unemployment)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2. Price Stability (2% inflation target)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Federal Reserve Policy Tools</a:t>
            </a:r>
            <a:endParaRPr/>
          </a:p>
        </p:txBody>
      </p:sp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18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469876" y="1109448"/>
            <a:ext cx="6136640" cy="324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1. Federal Funds Rate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Interest rate banks charge each other for overnight loans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Fed's primary tool for controlling economy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Raised to cool inflation, lowered to stimulate growth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2. Quantitative Easing (QE)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Fed buys bonds → injects liquidity into system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"Money printer go brrr"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Interest Rate Cycles - Historical Context</a:t>
            </a:r>
            <a:endParaRPr/>
          </a:p>
        </p:txBody>
      </p:sp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9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469876" y="1109448"/>
            <a:ext cx="5271770" cy="324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Low Rate Era (2008-2021)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Post-financial crisis: Rates near 0%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QE programs: $4.5 trillion printed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Result: Massive bull market in stocks and crypto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Rate Hike Cycle (2022-2023)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March 2022: Fed starts hiking (0% → 5.5%)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Fastest hike cycle in 40 years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Study - 2022 Rate Hikes</a:t>
            </a:r>
            <a:endParaRPr/>
          </a:p>
        </p:txBody>
      </p:sp>
      <p:sp>
        <p:nvSpPr>
          <p:cNvPr id="147" name="Google Shape;147;p20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20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469876" y="1109448"/>
            <a:ext cx="4345305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/>
              <a:t>Timeline:</a:t>
            </a:r>
            <a:endParaRPr/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lang="en-US" sz="1600">
                <a:latin typeface="Arial"/>
                <a:ea typeface="Arial"/>
                <a:cs typeface="Arial"/>
                <a:sym typeface="Arial"/>
              </a:rPr>
              <a:t>March 2022: First rate hike (+0.25%)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BTC: $45,000 → Starts declining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lang="en-US" sz="1600">
                <a:latin typeface="Arial"/>
                <a:ea typeface="Arial"/>
                <a:cs typeface="Arial"/>
                <a:sym typeface="Arial"/>
              </a:rPr>
              <a:t>May 2022: +0.50% hike (largest since 2000)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BTC: $30,000 → Accelerates down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lang="en-US" sz="1600">
                <a:latin typeface="Arial"/>
                <a:ea typeface="Arial"/>
                <a:cs typeface="Arial"/>
                <a:sym typeface="Arial"/>
              </a:rPr>
              <a:t>November 2022: 6th consecutive hike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BTC: $15,500 (bottom)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QE vs QT - The Liquidity Cycle</a:t>
            </a:r>
            <a:endParaRPr/>
          </a:p>
        </p:txBody>
      </p:sp>
      <p:sp>
        <p:nvSpPr>
          <p:cNvPr id="155" name="Google Shape;155;p21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21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469876" y="1109448"/>
            <a:ext cx="5502275" cy="324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Quantitative Easing (QE) = Bullish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Fed buys bonds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Money supply increases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Asset prices inflate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Example: 2020 COVID QE → BTC $10K to $69K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Quantitative Tightening (QT) = Bearish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Fed sells bonds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Fed Pivot Indicators - What to Watch</a:t>
            </a:r>
            <a:endParaRPr/>
          </a:p>
        </p:txBody>
      </p:sp>
      <p:sp>
        <p:nvSpPr>
          <p:cNvPr id="163" name="Google Shape;163;p22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22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65" name="Google Shape;165;p22"/>
          <p:cNvSpPr txBox="1"/>
          <p:nvPr/>
        </p:nvSpPr>
        <p:spPr>
          <a:xfrm>
            <a:off x="469876" y="1109448"/>
            <a:ext cx="6044565" cy="3108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Leading Indicators of Fed Policy Changes: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 Inflation Data (CPI, PCE)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If inflation falls → Fed may cut rates (bullish)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If inflation rises → Fed may hike more (bearish)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53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2. Employment Data (Non-Farm Payrolls)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Strong jobs → Fed keeps rates high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Weak jobs → Fed may cut to stimulate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Global Liquidity Theory</a:t>
            </a:r>
            <a:endParaRPr/>
          </a:p>
        </p:txBody>
      </p:sp>
      <p:sp>
        <p:nvSpPr>
          <p:cNvPr id="171" name="Google Shape;171;p23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23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73" name="Google Shape;173;p23"/>
          <p:cNvSpPr txBox="1"/>
          <p:nvPr/>
        </p:nvSpPr>
        <p:spPr>
          <a:xfrm>
            <a:off x="469876" y="1109448"/>
            <a:ext cx="5934710" cy="321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The Thesis: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Asset prices (including crypto) driven by global liquidity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Liquidity = available capital in financial system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More liquidity → higher prices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Less liquidity → lower prices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Measuring Liquidity: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 M2 Money Supply (US)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DXY - The Dollar Index</a:t>
            </a:r>
            <a:endParaRPr/>
          </a:p>
        </p:txBody>
      </p:sp>
      <p:sp>
        <p:nvSpPr>
          <p:cNvPr id="179" name="Google Shape;179;p24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24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81" name="Google Shape;181;p24"/>
          <p:cNvSpPr txBox="1"/>
          <p:nvPr/>
        </p:nvSpPr>
        <p:spPr>
          <a:xfrm>
            <a:off x="469876" y="1109448"/>
            <a:ext cx="5563870" cy="317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is DXY?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 Dollar Index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Measures dollar strength vs basket of 6 currencies: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Euro (57.6%)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Japanese Yen (13.6%)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British Pound (11.9%)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Canadian Dollar (9.1%)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DXY Historical Relationship with BTC</a:t>
            </a:r>
            <a:endParaRPr/>
          </a:p>
        </p:txBody>
      </p:sp>
      <p:sp>
        <p:nvSpPr>
          <p:cNvPr id="187" name="Google Shape;187;p25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25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89" name="Google Shape;189;p25"/>
          <p:cNvSpPr txBox="1"/>
          <p:nvPr/>
        </p:nvSpPr>
        <p:spPr>
          <a:xfrm>
            <a:off x="469876" y="1109448"/>
            <a:ext cx="4627245" cy="324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2020-2021: Dollar Weakness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DXY: 103 → 89 (-13%)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BTC: $10K → $69K (+590%)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Fed printing money (QE) weakened dollar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2022: Dollar Strength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DXY: 89 → 114 (+28%)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BTC: $45K → $15K (-67%)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S&amp;P 500 Correlation - The Risk-On Trade</a:t>
            </a:r>
            <a:endParaRPr/>
          </a:p>
        </p:txBody>
      </p:sp>
      <p:sp>
        <p:nvSpPr>
          <p:cNvPr id="195" name="Google Shape;195;p26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26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97" name="Google Shape;197;p26"/>
          <p:cNvSpPr txBox="1"/>
          <p:nvPr/>
        </p:nvSpPr>
        <p:spPr>
          <a:xfrm>
            <a:off x="469876" y="1109448"/>
            <a:ext cx="5137150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BTC vs S&amp;P 500: Rising Correlation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Historical Correlation: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2013-2019: 0.1-0.3 (mostly uncorrelated)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2020-2021: 0.4-0.6 (moderate correlation)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2022-2024: 0.7-0.9 (high correlation)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This Means: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Crypto now trades as "risk-on" asset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BTC vs NASDAQ - Tech Stock Correlation</a:t>
            </a:r>
            <a:endParaRPr/>
          </a:p>
        </p:txBody>
      </p:sp>
      <p:sp>
        <p:nvSpPr>
          <p:cNvPr id="203" name="Google Shape;203;p27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27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05" name="Google Shape;205;p27"/>
          <p:cNvSpPr txBox="1"/>
          <p:nvPr/>
        </p:nvSpPr>
        <p:spPr>
          <a:xfrm>
            <a:off x="469876" y="1109448"/>
            <a:ext cx="6207760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Even Stronger Correlation with Tech Stocks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NASDAQ Correlation: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Often 0.8-0.9 (stronger than S&amp;P 500)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BTC trades like "leveraged tech stock"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Why NASDAQ?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Similar investor base (growth/risk seekers)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Both sensitive to interest rates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BTC vs Gold - The "Digital Gold" Debate</a:t>
            </a:r>
            <a:endParaRPr/>
          </a:p>
        </p:txBody>
      </p:sp>
      <p:sp>
        <p:nvSpPr>
          <p:cNvPr id="211" name="Google Shape;211;p28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8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13" name="Google Shape;213;p28"/>
          <p:cNvSpPr txBox="1"/>
          <p:nvPr/>
        </p:nvSpPr>
        <p:spPr>
          <a:xfrm>
            <a:off x="469876" y="1109448"/>
            <a:ext cx="4193540" cy="324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The Original Narrative: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BTC as "digital gold"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Store of value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Inflation hedge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Uncorrelated to stocks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Reality Check: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Correlation: 0.2-0.4 (low to moderate)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Correlation Regime Analysis</a:t>
            </a:r>
            <a:endParaRPr/>
          </a:p>
        </p:txBody>
      </p:sp>
      <p:sp>
        <p:nvSpPr>
          <p:cNvPr id="219" name="Google Shape;219;p29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29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21" name="Google Shape;221;p29"/>
          <p:cNvSpPr txBox="1"/>
          <p:nvPr/>
        </p:nvSpPr>
        <p:spPr>
          <a:xfrm>
            <a:off x="469876" y="1109448"/>
            <a:ext cx="6007100" cy="324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High Correlation Regime (0.7+)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Characteristics: Stable markets, institutional dominance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Trading: Follow stock market trends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Risk: Crypto offers little diversification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Medium Correlation Regime (0.4-0.7)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Characteristics: Mixed signals, transitional periods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Trading: Use multiple indicators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Putting It All Together - The Macro Dashboard</a:t>
            </a:r>
            <a:endParaRPr/>
          </a:p>
        </p:txBody>
      </p:sp>
      <p:sp>
        <p:nvSpPr>
          <p:cNvPr id="227" name="Google Shape;227;p30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30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29" name="Google Shape;229;p30"/>
          <p:cNvSpPr txBox="1"/>
          <p:nvPr/>
        </p:nvSpPr>
        <p:spPr>
          <a:xfrm>
            <a:off x="469876" y="1109448"/>
            <a:ext cx="5836920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Your Macro Checklist for Crypto Trading: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Fed Policy: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Next FOMC meeting date?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Expected rate change?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QE or QT active?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Dollar Strength: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DXY level and trend?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DEMO A - Macro Correlations Notebook</a:t>
            </a:r>
            <a:endParaRPr/>
          </a:p>
        </p:txBody>
      </p:sp>
      <p:sp>
        <p:nvSpPr>
          <p:cNvPr id="235" name="Google Shape;235;p31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31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37" name="Google Shape;237;p31"/>
          <p:cNvSpPr txBox="1"/>
          <p:nvPr/>
        </p:nvSpPr>
        <p:spPr>
          <a:xfrm>
            <a:off x="469876" y="1109448"/>
            <a:ext cx="5461635" cy="3079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we'll see in Notebook A: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 Fetch macro data: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S&amp;P 500, NASDAQ, Gold, DXY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Federal Funds Rate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BTC and ETH prices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53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2. Calculate 30-day rolling correlation (BTC vs S&amp;P 500)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3. Identify correlation regimes: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Findings from Notebook A</a:t>
            </a:r>
            <a:endParaRPr/>
          </a:p>
        </p:txBody>
      </p:sp>
      <p:sp>
        <p:nvSpPr>
          <p:cNvPr id="243" name="Google Shape;243;p32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32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45" name="Google Shape;245;p32"/>
          <p:cNvSpPr txBox="1"/>
          <p:nvPr/>
        </p:nvSpPr>
        <p:spPr>
          <a:xfrm>
            <a:off x="469876" y="1109448"/>
            <a:ext cx="5464810" cy="3079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30-Day Rolling Correlation Results: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Average Correlation: ~0.75 (high correlation regime)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Peak Correlation: 0.85+ during Fed hiking cycle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Lowest Correlation: 0.3-0.4 during crypto-specific events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46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Insights: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 Correlation has steadily increased since 2020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2. Fed policy changes drive correlation spikes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/>
        </p:nvSpPr>
        <p:spPr>
          <a:xfrm>
            <a:off x="63665" y="4793532"/>
            <a:ext cx="87185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Matias Selser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3"/>
          <p:cNvSpPr txBox="1"/>
          <p:nvPr>
            <p:ph type="title"/>
          </p:nvPr>
        </p:nvSpPr>
        <p:spPr>
          <a:xfrm>
            <a:off x="852875" y="1087039"/>
            <a:ext cx="7430134" cy="161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34415" lvl="0" marL="104648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PART 2: TOKENIZATION FUNDAMENTALS</a:t>
            </a:r>
            <a:endParaRPr sz="5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Tokenization?</a:t>
            </a:r>
            <a:endParaRPr/>
          </a:p>
        </p:txBody>
      </p:sp>
      <p:sp>
        <p:nvSpPr>
          <p:cNvPr id="257" name="Google Shape;257;p34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34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59" name="Google Shape;259;p34"/>
          <p:cNvSpPr txBox="1"/>
          <p:nvPr/>
        </p:nvSpPr>
        <p:spPr>
          <a:xfrm>
            <a:off x="469876" y="1109448"/>
            <a:ext cx="8352155" cy="321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Definition: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&gt; Tokenization = Converting real-world assets (RWAs) into digital tokens on a blockchain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46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Examples: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 Treasury bonds → OUSG (Ondo Finance)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Physical gold → PAXG (Paxos Gold)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Real estate → RIO (Realio)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Corporate bonds → Tokenized bonds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Tokenization Matters</a:t>
            </a:r>
            <a:endParaRPr/>
          </a:p>
        </p:txBody>
      </p:sp>
      <p:sp>
        <p:nvSpPr>
          <p:cNvPr id="265" name="Google Shape;265;p35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35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67" name="Google Shape;267;p35"/>
          <p:cNvSpPr txBox="1"/>
          <p:nvPr/>
        </p:nvSpPr>
        <p:spPr>
          <a:xfrm>
            <a:off x="469876" y="1109448"/>
            <a:ext cx="5950585" cy="321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The Opportunity: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Total Addressable Market: $16 trillion by 2030 (BCG estimate)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46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Assets Being Tokenized: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Real estate: $11.5 trillion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Bonds: $130 trillion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Commodities: $21 trillion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Private equity: $10 trillion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RWA Token Categories</a:t>
            </a:r>
            <a:endParaRPr/>
          </a:p>
        </p:txBody>
      </p:sp>
      <p:sp>
        <p:nvSpPr>
          <p:cNvPr id="273" name="Google Shape;273;p36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36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75" name="Google Shape;275;p36"/>
          <p:cNvSpPr txBox="1"/>
          <p:nvPr/>
        </p:nvSpPr>
        <p:spPr>
          <a:xfrm>
            <a:off x="469876" y="1109448"/>
            <a:ext cx="6645275" cy="324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1. Treasury &amp; Fixed Income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Examples: OUSG, USDY (Ondo), BENJI (Franklin Templeton)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Yield: 4-5% (risk-free rate)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Use Case: Earn tradfi yield in DeFi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2. Tokenized Gold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Examples: PAXG (Paxos), XAUT (Tether Gold)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Backing: 1:1 physical gold in vaults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Deep Dive - Ondo Finance (ONDO)</a:t>
            </a:r>
            <a:endParaRPr/>
          </a:p>
        </p:txBody>
      </p:sp>
      <p:sp>
        <p:nvSpPr>
          <p:cNvPr id="281" name="Google Shape;281;p37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2" name="Google Shape;282;p37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83" name="Google Shape;283;p37"/>
          <p:cNvSpPr txBox="1"/>
          <p:nvPr/>
        </p:nvSpPr>
        <p:spPr>
          <a:xfrm>
            <a:off x="469876" y="1109448"/>
            <a:ext cx="5033645" cy="321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is Ondo Finance?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Tokenized US Treasury bills and bonds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Institutional-grade RWA platform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Founded 2021, backed by Coinbase Ventures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Products: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OUSG (US Government Bonds)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Backed by short-term T-bills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Deep Dive - Paxos Gold (PAXG)</a:t>
            </a:r>
            <a:endParaRPr/>
          </a:p>
        </p:txBody>
      </p:sp>
      <p:sp>
        <p:nvSpPr>
          <p:cNvPr id="289" name="Google Shape;289;p38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38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91" name="Google Shape;291;p38"/>
          <p:cNvSpPr txBox="1"/>
          <p:nvPr/>
        </p:nvSpPr>
        <p:spPr>
          <a:xfrm>
            <a:off x="469876" y="1109448"/>
            <a:ext cx="5769610" cy="324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is PAXG?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 PAXG token = 1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troy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oz of physical gold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Gold stored in Paxos Trust Company vaults (London)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Regulated by NY Department of Financial Services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Key Features: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Redeemable: Can exchange for physical gold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Audited: Regular third-party audits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Deep Dive - Realio (RIO)</a:t>
            </a:r>
            <a:endParaRPr/>
          </a:p>
        </p:txBody>
      </p:sp>
      <p:sp>
        <p:nvSpPr>
          <p:cNvPr id="297" name="Google Shape;297;p39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39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99" name="Google Shape;299;p39"/>
          <p:cNvSpPr txBox="1"/>
          <p:nvPr/>
        </p:nvSpPr>
        <p:spPr>
          <a:xfrm>
            <a:off x="469876" y="1109448"/>
            <a:ext cx="5362575" cy="3183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is Realio?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Real estate and securities tokenization platform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Focus: Commercial real estate and private equity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Network: Realio Network (Layer 1 blockchain)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How It Works: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 Real estate property identified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2. SPV (Special Purpose Vehicle) created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Deep Dive - Centrifuge (CFG)</a:t>
            </a:r>
            <a:endParaRPr/>
          </a:p>
        </p:txBody>
      </p:sp>
      <p:sp>
        <p:nvSpPr>
          <p:cNvPr id="305" name="Google Shape;305;p40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40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07" name="Google Shape;307;p40"/>
          <p:cNvSpPr txBox="1"/>
          <p:nvPr/>
        </p:nvSpPr>
        <p:spPr>
          <a:xfrm>
            <a:off x="469876" y="1109448"/>
            <a:ext cx="5398135" cy="321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is Centrifuge?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DeFi protocol for real-world asset financing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Focus: Supply chain finance, invoices, real estate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Built on Polkadot ecosystem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How It Works: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 Asset Originators (businesses with invoices/assets)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Submit real-world assets to Centrifuge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Deep Dive - Maple Finance (MPL)</a:t>
            </a:r>
            <a:endParaRPr/>
          </a:p>
        </p:txBody>
      </p:sp>
      <p:sp>
        <p:nvSpPr>
          <p:cNvPr id="313" name="Google Shape;313;p41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41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15" name="Google Shape;315;p41"/>
          <p:cNvSpPr txBox="1"/>
          <p:nvPr/>
        </p:nvSpPr>
        <p:spPr>
          <a:xfrm>
            <a:off x="469876" y="1109448"/>
            <a:ext cx="5705475" cy="321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is Maple Finance?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Institutional capital markets infrastructure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Focus: Uncollateralized lending to verified borrowers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Launched 2021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How It Works: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 Lending Pools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Pool Delegates (credit experts) manage pools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Deep Dive - TrueFi (TRU)</a:t>
            </a:r>
            <a:endParaRPr/>
          </a:p>
        </p:txBody>
      </p:sp>
      <p:sp>
        <p:nvSpPr>
          <p:cNvPr id="321" name="Google Shape;321;p42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42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23" name="Google Shape;323;p42"/>
          <p:cNvSpPr txBox="1"/>
          <p:nvPr/>
        </p:nvSpPr>
        <p:spPr>
          <a:xfrm>
            <a:off x="469876" y="1109448"/>
            <a:ext cx="5955665" cy="321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is TrueFi?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Uncollateralized lending protocol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Credit lines to verified institutions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Launched by TrustToken (creators of TUSD stablecoin)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How It Works: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 Credit Assessment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Borrowers submit financial info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RWA Sector Performance</a:t>
            </a:r>
            <a:endParaRPr/>
          </a:p>
        </p:txBody>
      </p:sp>
      <p:sp>
        <p:nvSpPr>
          <p:cNvPr id="329" name="Google Shape;329;p43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0" name="Google Shape;330;p43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31" name="Google Shape;331;p43"/>
          <p:cNvSpPr txBox="1"/>
          <p:nvPr/>
        </p:nvSpPr>
        <p:spPr>
          <a:xfrm>
            <a:off x="469876" y="1109448"/>
            <a:ext cx="4396740" cy="2710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Sector Growth: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2021: $1 billion TVL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2022: $2 billion (bear market resilience)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2023: $5 billion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2024: $8+ billion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2025 target: $15+ billion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4"/>
          <p:cNvSpPr txBox="1"/>
          <p:nvPr>
            <p:ph type="title"/>
          </p:nvPr>
        </p:nvSpPr>
        <p:spPr>
          <a:xfrm>
            <a:off x="393885" y="1087039"/>
            <a:ext cx="8536305" cy="161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PART 3: APPLIED TRADING</a:t>
            </a:r>
            <a:endParaRPr sz="5200"/>
          </a:p>
          <a:p>
            <a:pPr indent="0" lvl="0" marL="0" marR="17653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SIGNALS</a:t>
            </a:r>
            <a:endParaRPr sz="5200"/>
          </a:p>
        </p:txBody>
      </p:sp>
      <p:sp>
        <p:nvSpPr>
          <p:cNvPr id="337" name="Google Shape;337;p44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Overview - Trading Signals</a:t>
            </a:r>
            <a:endParaRPr/>
          </a:p>
        </p:txBody>
      </p:sp>
      <p:sp>
        <p:nvSpPr>
          <p:cNvPr id="343" name="Google Shape;343;p45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40</a:t>
            </a:r>
            <a:endParaRPr/>
          </a:p>
        </p:txBody>
      </p:sp>
      <p:sp>
        <p:nvSpPr>
          <p:cNvPr id="344" name="Google Shape;344;p45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45" name="Google Shape;345;p45"/>
          <p:cNvSpPr txBox="1"/>
          <p:nvPr/>
        </p:nvSpPr>
        <p:spPr>
          <a:xfrm>
            <a:off x="469876" y="1109448"/>
            <a:ext cx="3573145" cy="3108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we'll cover: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 Momentum Signals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Moving average crossovers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Golden Cross and Death Cross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Backtesting on ETH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53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2. Mean Reversion Signals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RSI divergences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6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Moving Averages - Foundation</a:t>
            </a:r>
            <a:endParaRPr/>
          </a:p>
        </p:txBody>
      </p:sp>
      <p:sp>
        <p:nvSpPr>
          <p:cNvPr id="351" name="Google Shape;351;p46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41</a:t>
            </a:r>
            <a:endParaRPr/>
          </a:p>
        </p:txBody>
      </p:sp>
      <p:sp>
        <p:nvSpPr>
          <p:cNvPr id="352" name="Google Shape;352;p46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53" name="Google Shape;353;p46"/>
          <p:cNvSpPr txBox="1"/>
          <p:nvPr/>
        </p:nvSpPr>
        <p:spPr>
          <a:xfrm>
            <a:off x="469876" y="1109448"/>
            <a:ext cx="4410710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is a Moving Average?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Average price over a specific period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Smooths out short-term noise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Identifies trend direction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Types: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Simple Moving Average (SMA)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Equal weight to all data points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Golden Cross vs Death Cross</a:t>
            </a:r>
            <a:endParaRPr/>
          </a:p>
        </p:txBody>
      </p:sp>
      <p:sp>
        <p:nvSpPr>
          <p:cNvPr id="359" name="Google Shape;359;p47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42</a:t>
            </a:r>
            <a:endParaRPr/>
          </a:p>
        </p:txBody>
      </p:sp>
      <p:sp>
        <p:nvSpPr>
          <p:cNvPr id="360" name="Google Shape;360;p47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61" name="Google Shape;361;p47"/>
          <p:cNvSpPr txBox="1"/>
          <p:nvPr/>
        </p:nvSpPr>
        <p:spPr>
          <a:xfrm>
            <a:off x="469876" y="1109448"/>
            <a:ext cx="4524375" cy="324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Golden Cross (Bullish)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50-day MA crosses ABOVE 200-day MA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Signal: Long-term uptrend starting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Action: BUY signal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Death Cross (Bearish)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50-day MA crosses BELOW 200-day MA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Signal: Long-term downtrend starting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 Crossover Strategy - Setup</a:t>
            </a:r>
            <a:endParaRPr/>
          </a:p>
        </p:txBody>
      </p:sp>
      <p:sp>
        <p:nvSpPr>
          <p:cNvPr id="367" name="Google Shape;367;p48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43</a:t>
            </a:r>
            <a:endParaRPr/>
          </a:p>
        </p:txBody>
      </p:sp>
      <p:sp>
        <p:nvSpPr>
          <p:cNvPr id="368" name="Google Shape;368;p48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69" name="Google Shape;369;p48"/>
          <p:cNvSpPr txBox="1"/>
          <p:nvPr/>
        </p:nvSpPr>
        <p:spPr>
          <a:xfrm>
            <a:off x="469876" y="1109448"/>
            <a:ext cx="5922010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Strategy Rules: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Entry Signal (Buy):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50-day MA crosses above 200-day MA (Golden Cross)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Enter long position (100% of capital)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Exit Signal (Sell):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50-day MA crosses below 200-day MA (Death Cross)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Exit long position (move to cash)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9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Backtest Methodology</a:t>
            </a:r>
            <a:endParaRPr/>
          </a:p>
        </p:txBody>
      </p:sp>
      <p:sp>
        <p:nvSpPr>
          <p:cNvPr id="375" name="Google Shape;375;p49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44</a:t>
            </a:r>
            <a:endParaRPr/>
          </a:p>
        </p:txBody>
      </p:sp>
      <p:sp>
        <p:nvSpPr>
          <p:cNvPr id="376" name="Google Shape;376;p49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77" name="Google Shape;377;p49"/>
          <p:cNvSpPr txBox="1"/>
          <p:nvPr/>
        </p:nvSpPr>
        <p:spPr>
          <a:xfrm>
            <a:off x="469876" y="1109448"/>
            <a:ext cx="5781040" cy="3307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Backtest Components: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1. Historical Data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Asset: ETH/USD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Period: 2+ years (need 200+ days for MA calculation)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Frequency: Daily close prices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Source: CoinGecko, Yahoo Finance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2. Signal Generation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0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DEMO B - MA Crossover Backtest</a:t>
            </a:r>
            <a:endParaRPr/>
          </a:p>
        </p:txBody>
      </p:sp>
      <p:sp>
        <p:nvSpPr>
          <p:cNvPr id="383" name="Google Shape;383;p50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45</a:t>
            </a:r>
            <a:endParaRPr/>
          </a:p>
        </p:txBody>
      </p:sp>
      <p:sp>
        <p:nvSpPr>
          <p:cNvPr id="384" name="Google Shape;384;p50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85" name="Google Shape;385;p50"/>
          <p:cNvSpPr txBox="1"/>
          <p:nvPr/>
        </p:nvSpPr>
        <p:spPr>
          <a:xfrm>
            <a:off x="469876" y="1109448"/>
            <a:ext cx="5037455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we'll see in Notebook B: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 Fetch 2+ years of ETH historical data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2. Calculate 50-day and 200-day moving averages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3. Generate Golden Cross and Death Cross signals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4. Backtest strategy: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Simulate trades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Calculate returns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1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Typical Backtest Results</a:t>
            </a:r>
            <a:endParaRPr/>
          </a:p>
        </p:txBody>
      </p:sp>
      <p:sp>
        <p:nvSpPr>
          <p:cNvPr id="391" name="Google Shape;391;p51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46</a:t>
            </a:r>
            <a:endParaRPr/>
          </a:p>
        </p:txBody>
      </p:sp>
      <p:sp>
        <p:nvSpPr>
          <p:cNvPr id="392" name="Google Shape;392;p51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93" name="Google Shape;393;p51"/>
          <p:cNvSpPr txBox="1"/>
          <p:nvPr/>
        </p:nvSpPr>
        <p:spPr>
          <a:xfrm>
            <a:off x="469876" y="1109448"/>
            <a:ext cx="4325620" cy="324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Example Results (2021-2023):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Strategy Performance: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Total Return: +45%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Sharpe Ratio: 0.85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Max Drawdown: -32%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Win Rate: 54%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Market Exposure: 65%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2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Pros and Cons of MA Crossover</a:t>
            </a:r>
            <a:endParaRPr/>
          </a:p>
        </p:txBody>
      </p:sp>
      <p:sp>
        <p:nvSpPr>
          <p:cNvPr id="399" name="Google Shape;399;p52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47</a:t>
            </a:r>
            <a:endParaRPr/>
          </a:p>
        </p:txBody>
      </p:sp>
      <p:sp>
        <p:nvSpPr>
          <p:cNvPr id="400" name="Google Shape;400;p52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01" name="Google Shape;401;p52"/>
          <p:cNvSpPr txBox="1"/>
          <p:nvPr/>
        </p:nvSpPr>
        <p:spPr>
          <a:xfrm>
            <a:off x="469876" y="1109448"/>
            <a:ext cx="3675379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Advantages: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Simple to implement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Easy to understand and execute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complex calculations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Trend following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Captures major trends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Avoids significant drawdowns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3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RSI - Relative Strength Index</a:t>
            </a:r>
            <a:endParaRPr/>
          </a:p>
        </p:txBody>
      </p:sp>
      <p:sp>
        <p:nvSpPr>
          <p:cNvPr id="407" name="Google Shape;407;p53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48</a:t>
            </a:r>
            <a:endParaRPr/>
          </a:p>
        </p:txBody>
      </p:sp>
      <p:sp>
        <p:nvSpPr>
          <p:cNvPr id="408" name="Google Shape;408;p53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09" name="Google Shape;409;p53"/>
          <p:cNvSpPr txBox="1"/>
          <p:nvPr/>
        </p:nvSpPr>
        <p:spPr>
          <a:xfrm>
            <a:off x="469876" y="1109448"/>
            <a:ext cx="5402580" cy="3183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is RSI?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Momentum oscillator (0-100 scale)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Measures speed and magnitude of price changes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Created by J. Welles Wilder (1978)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Formula: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```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RSI = 100 - [100 / (1 + RS)]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4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RSI Trading Strategy</a:t>
            </a:r>
            <a:endParaRPr/>
          </a:p>
        </p:txBody>
      </p:sp>
      <p:sp>
        <p:nvSpPr>
          <p:cNvPr id="415" name="Google Shape;415;p54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49</a:t>
            </a:r>
            <a:endParaRPr/>
          </a:p>
        </p:txBody>
      </p:sp>
      <p:sp>
        <p:nvSpPr>
          <p:cNvPr id="416" name="Google Shape;416;p54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17" name="Google Shape;417;p54"/>
          <p:cNvSpPr txBox="1"/>
          <p:nvPr/>
        </p:nvSpPr>
        <p:spPr>
          <a:xfrm>
            <a:off x="469876" y="1109448"/>
            <a:ext cx="5493385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Strategy 1: Overbought/Oversold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Buy Signal: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RSI crosses below 30 (oversold)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Wait for RSI to cross back above 30 (confirmation)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Sell Signal: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RSI crosses above 70 (overbought)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Wait for RSI to cross back below 70 (confirmation)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5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Volume Analysis</a:t>
            </a:r>
            <a:endParaRPr/>
          </a:p>
        </p:txBody>
      </p:sp>
      <p:sp>
        <p:nvSpPr>
          <p:cNvPr id="423" name="Google Shape;423;p55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50</a:t>
            </a:r>
            <a:endParaRPr/>
          </a:p>
        </p:txBody>
      </p:sp>
      <p:sp>
        <p:nvSpPr>
          <p:cNvPr id="424" name="Google Shape;424;p55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25" name="Google Shape;425;p55"/>
          <p:cNvSpPr txBox="1"/>
          <p:nvPr/>
        </p:nvSpPr>
        <p:spPr>
          <a:xfrm>
            <a:off x="469876" y="1109448"/>
            <a:ext cx="5946140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Why Volume Matters: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Confirms price moves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High volume = strong conviction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Low volume = weak move (likely to reverse)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Volume Patterns: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1. Volume Surge on Breakout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Price breaks resistance + high volume = valid breakout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6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Combining Indicators - Multi-Factor Approach</a:t>
            </a:r>
            <a:endParaRPr/>
          </a:p>
        </p:txBody>
      </p:sp>
      <p:sp>
        <p:nvSpPr>
          <p:cNvPr id="431" name="Google Shape;431;p56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51</a:t>
            </a:r>
            <a:endParaRPr/>
          </a:p>
        </p:txBody>
      </p:sp>
      <p:sp>
        <p:nvSpPr>
          <p:cNvPr id="432" name="Google Shape;432;p56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33" name="Google Shape;433;p56"/>
          <p:cNvSpPr txBox="1"/>
          <p:nvPr/>
        </p:nvSpPr>
        <p:spPr>
          <a:xfrm>
            <a:off x="469876" y="1104408"/>
            <a:ext cx="5145405" cy="177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The Problem with Single Indicators: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Each indicator has weaknesses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False signals in isolation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Need confirmation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7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Perpetual Futures Funding Rates - Recap</a:t>
            </a:r>
            <a:endParaRPr/>
          </a:p>
        </p:txBody>
      </p:sp>
      <p:sp>
        <p:nvSpPr>
          <p:cNvPr id="439" name="Google Shape;439;p57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52</a:t>
            </a:r>
            <a:endParaRPr/>
          </a:p>
        </p:txBody>
      </p:sp>
      <p:sp>
        <p:nvSpPr>
          <p:cNvPr id="440" name="Google Shape;440;p57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41" name="Google Shape;441;p57"/>
          <p:cNvSpPr txBox="1"/>
          <p:nvPr/>
        </p:nvSpPr>
        <p:spPr>
          <a:xfrm>
            <a:off x="469876" y="1109448"/>
            <a:ext cx="4829810" cy="324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are Perpetual Futures?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Futures contracts with no expiry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Can hold position indefinitely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Used for leverage and speculation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is Funding Rate?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Periodic payment between longs and shorts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Keeps perp price close to spot price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8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Cash-and-Carry Arbitrage Explained</a:t>
            </a:r>
            <a:endParaRPr/>
          </a:p>
        </p:txBody>
      </p:sp>
      <p:sp>
        <p:nvSpPr>
          <p:cNvPr id="447" name="Google Shape;447;p58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53</a:t>
            </a:r>
            <a:endParaRPr/>
          </a:p>
        </p:txBody>
      </p:sp>
      <p:sp>
        <p:nvSpPr>
          <p:cNvPr id="448" name="Google Shape;448;p58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49" name="Google Shape;449;p58"/>
          <p:cNvSpPr txBox="1"/>
          <p:nvPr/>
        </p:nvSpPr>
        <p:spPr>
          <a:xfrm>
            <a:off x="469876" y="1109448"/>
            <a:ext cx="5724525" cy="321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The Strategy: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Setup: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 Buy 1 BTC on spot market (e.g., Binance Spot)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2. Short 1 BTC on perpetual futures (e.g., Binance Futures)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3. Position is delta-neutral (no price risk)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46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When Funding is Positive (+0.05%):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You receive funding payment every 8 hours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9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Funding Rate Arbitrage - Cost Analysis</a:t>
            </a:r>
            <a:endParaRPr/>
          </a:p>
        </p:txBody>
      </p:sp>
      <p:sp>
        <p:nvSpPr>
          <p:cNvPr id="455" name="Google Shape;455;p59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54</a:t>
            </a:r>
            <a:endParaRPr/>
          </a:p>
        </p:txBody>
      </p:sp>
      <p:sp>
        <p:nvSpPr>
          <p:cNvPr id="456" name="Google Shape;456;p59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57" name="Google Shape;457;p59"/>
          <p:cNvSpPr txBox="1"/>
          <p:nvPr>
            <p:ph idx="1" type="body"/>
          </p:nvPr>
        </p:nvSpPr>
        <p:spPr>
          <a:xfrm>
            <a:off x="469876" y="1109448"/>
            <a:ext cx="4345305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/>
              <a:t>Entry Costs:</a:t>
            </a:r>
            <a:endParaRPr/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/>
              <a:t>Spot Trading Fee:</a:t>
            </a:r>
            <a:endParaRPr/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Binance: 0.1% (maker/taker)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Cost: $10,000 * 0.1% = $10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/>
              <a:t>Futures Trading Fee:</a:t>
            </a:r>
            <a:endParaRPr/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Binance: 0.02% (maker), 0.04% (taker)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Cost: $10,000 * 0.04% = $4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0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Funding Arbitrage Works</a:t>
            </a:r>
            <a:endParaRPr/>
          </a:p>
        </p:txBody>
      </p:sp>
      <p:sp>
        <p:nvSpPr>
          <p:cNvPr id="463" name="Google Shape;463;p60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55</a:t>
            </a:r>
            <a:endParaRPr/>
          </a:p>
        </p:txBody>
      </p:sp>
      <p:sp>
        <p:nvSpPr>
          <p:cNvPr id="464" name="Google Shape;464;p60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65" name="Google Shape;465;p60"/>
          <p:cNvSpPr txBox="1"/>
          <p:nvPr/>
        </p:nvSpPr>
        <p:spPr>
          <a:xfrm>
            <a:off x="469876" y="1109448"/>
            <a:ext cx="5508625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Ideal Conditions: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High Positive Funding (&gt;0.05% per 8H)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Strong bull market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Retail FOMO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Leverage demand high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Stable Funding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Persistent positive rates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1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to AVOID Funding Arbitrage</a:t>
            </a:r>
            <a:endParaRPr/>
          </a:p>
        </p:txBody>
      </p:sp>
      <p:sp>
        <p:nvSpPr>
          <p:cNvPr id="471" name="Google Shape;471;p61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56</a:t>
            </a:r>
            <a:endParaRPr/>
          </a:p>
        </p:txBody>
      </p:sp>
      <p:sp>
        <p:nvSpPr>
          <p:cNvPr id="472" name="Google Shape;472;p61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73" name="Google Shape;473;p61"/>
          <p:cNvSpPr txBox="1"/>
          <p:nvPr/>
        </p:nvSpPr>
        <p:spPr>
          <a:xfrm>
            <a:off x="469876" y="1109448"/>
            <a:ext cx="4491355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Red Flags: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Negative or Near-Zero Funding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You'd be paying instead of receiving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arbitrage opportunity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High Volatility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Risk of liquidation on futures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Slippage on entry/exit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2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DEMO C - Funding Rate Analysis</a:t>
            </a:r>
            <a:endParaRPr/>
          </a:p>
        </p:txBody>
      </p:sp>
      <p:sp>
        <p:nvSpPr>
          <p:cNvPr id="479" name="Google Shape;479;p62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57</a:t>
            </a:r>
            <a:endParaRPr/>
          </a:p>
        </p:txBody>
      </p:sp>
      <p:sp>
        <p:nvSpPr>
          <p:cNvPr id="480" name="Google Shape;480;p62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81" name="Google Shape;481;p62"/>
          <p:cNvSpPr txBox="1"/>
          <p:nvPr>
            <p:ph idx="1" type="body"/>
          </p:nvPr>
        </p:nvSpPr>
        <p:spPr>
          <a:xfrm>
            <a:off x="469876" y="1109448"/>
            <a:ext cx="4345305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/>
              <a:t>What we'll see in Notebook C:</a:t>
            </a:r>
            <a:endParaRPr/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lang="en-US" sz="1600">
                <a:latin typeface="Arial"/>
                <a:ea typeface="Arial"/>
                <a:cs typeface="Arial"/>
                <a:sym typeface="Arial"/>
              </a:rPr>
              <a:t>1. Fetch Current Funding Rates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Binance: BTC, ETH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Bybit: BTC, ETH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Compare across exchanges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53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lang="en-US" sz="1600">
                <a:latin typeface="Arial"/>
                <a:ea typeface="Arial"/>
                <a:cs typeface="Arial"/>
                <a:sym typeface="Arial"/>
              </a:rPr>
              <a:t>2. Historical Funding Rates (30 days)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Time series chart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3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Funding Rate Key Findings</a:t>
            </a:r>
            <a:endParaRPr/>
          </a:p>
        </p:txBody>
      </p:sp>
      <p:sp>
        <p:nvSpPr>
          <p:cNvPr id="487" name="Google Shape;487;p63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58</a:t>
            </a:r>
            <a:endParaRPr/>
          </a:p>
        </p:txBody>
      </p:sp>
      <p:sp>
        <p:nvSpPr>
          <p:cNvPr id="488" name="Google Shape;488;p63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89" name="Google Shape;489;p63"/>
          <p:cNvSpPr txBox="1"/>
          <p:nvPr/>
        </p:nvSpPr>
        <p:spPr>
          <a:xfrm>
            <a:off x="469876" y="1109448"/>
            <a:ext cx="4928235" cy="3307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Typical Results: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Current Funding Rates (Example):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BTC Binance: +0.03% per 8H (32% APR)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BTC Bybit: +0.028% per 8H (30% APR)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ETH Binance: +0.04% per 8H (44% APR)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ETH Bybit: +0.038% per 8H (42% APR)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30-Day Analysis: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4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DEMO D - RWA Project Evaluation</a:t>
            </a:r>
            <a:endParaRPr/>
          </a:p>
        </p:txBody>
      </p:sp>
      <p:sp>
        <p:nvSpPr>
          <p:cNvPr id="495" name="Google Shape;495;p64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59</a:t>
            </a:r>
            <a:endParaRPr/>
          </a:p>
        </p:txBody>
      </p:sp>
      <p:sp>
        <p:nvSpPr>
          <p:cNvPr id="496" name="Google Shape;496;p64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97" name="Google Shape;497;p64"/>
          <p:cNvSpPr txBox="1"/>
          <p:nvPr>
            <p:ph idx="1" type="body"/>
          </p:nvPr>
        </p:nvSpPr>
        <p:spPr>
          <a:xfrm>
            <a:off x="469876" y="1109448"/>
            <a:ext cx="4345305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/>
              <a:t>What we'll see in Notebook D:</a:t>
            </a:r>
            <a:endParaRPr/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lang="en-US" sz="1600">
                <a:latin typeface="Arial"/>
                <a:ea typeface="Arial"/>
                <a:cs typeface="Arial"/>
                <a:sym typeface="Arial"/>
              </a:rPr>
              <a:t>1. Fetch RWA Token Data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ONDO, PAXG, RIO, CFG, MPL, TRU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Prices, market caps, volume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53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lang="en-US" sz="1600">
                <a:latin typeface="Arial"/>
                <a:ea typeface="Arial"/>
                <a:cs typeface="Arial"/>
                <a:sym typeface="Arial"/>
              </a:rPr>
              <a:t>2. Fetch TVL Data (DeFiLlama)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Protocol TVL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90-day growth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5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RWA Analysis - Typical Results</a:t>
            </a:r>
            <a:endParaRPr/>
          </a:p>
        </p:txBody>
      </p:sp>
      <p:sp>
        <p:nvSpPr>
          <p:cNvPr id="503" name="Google Shape;503;p65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60</a:t>
            </a:r>
            <a:endParaRPr/>
          </a:p>
        </p:txBody>
      </p:sp>
      <p:sp>
        <p:nvSpPr>
          <p:cNvPr id="504" name="Google Shape;504;p65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05" name="Google Shape;505;p65"/>
          <p:cNvSpPr txBox="1"/>
          <p:nvPr/>
        </p:nvSpPr>
        <p:spPr>
          <a:xfrm>
            <a:off x="477517" y="1109957"/>
            <a:ext cx="8466455" cy="3496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3855" lvl="0" marL="3765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Investment Scores (Example):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3855" lvl="0" marL="376555" rtl="0" algn="l">
              <a:lnSpc>
                <a:spcPct val="100000"/>
              </a:lnSpc>
              <a:spcBef>
                <a:spcPts val="1575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Rank 1: ONDO Finance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58775" lvl="0" marL="37655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Score: 82/100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58775" lvl="0" marL="37655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Recommendation: STRONG BUY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59410" lvl="0" marL="376555" marR="5080" rtl="0" algn="l">
              <a:lnSpc>
                <a:spcPct val="114999"/>
              </a:lnSpc>
              <a:spcBef>
                <a:spcPts val="1195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Highlights: High volume ($100M+), Fair valuation (MC/TVL 1.5), Growing TVL (+45% QoQ)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63855" lvl="0" marL="37655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Rank 2: PAXG (Paxos Gold)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58775" lvl="0" marL="37655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Score: 75/100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6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RWA Investment Thesis Summary</a:t>
            </a:r>
            <a:endParaRPr/>
          </a:p>
        </p:txBody>
      </p:sp>
      <p:sp>
        <p:nvSpPr>
          <p:cNvPr id="511" name="Google Shape;511;p66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61</a:t>
            </a:r>
            <a:endParaRPr/>
          </a:p>
        </p:txBody>
      </p:sp>
      <p:sp>
        <p:nvSpPr>
          <p:cNvPr id="512" name="Google Shape;512;p66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13" name="Google Shape;513;p66"/>
          <p:cNvSpPr txBox="1"/>
          <p:nvPr/>
        </p:nvSpPr>
        <p:spPr>
          <a:xfrm>
            <a:off x="469876" y="1109448"/>
            <a:ext cx="4114800" cy="3079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Why Invest in RWA Tokens?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Bullish Factors: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Massive TAM ($16T opportunity)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Growing institutional interest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Regulatory clarity improving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Real yields in bear markets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Technology maturation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7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DCA vs Tactical Entry Strategies</a:t>
            </a:r>
            <a:endParaRPr/>
          </a:p>
        </p:txBody>
      </p:sp>
      <p:sp>
        <p:nvSpPr>
          <p:cNvPr id="519" name="Google Shape;519;p67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62</a:t>
            </a:r>
            <a:endParaRPr/>
          </a:p>
        </p:txBody>
      </p:sp>
      <p:sp>
        <p:nvSpPr>
          <p:cNvPr id="520" name="Google Shape;520;p67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21" name="Google Shape;521;p67"/>
          <p:cNvSpPr txBox="1"/>
          <p:nvPr/>
        </p:nvSpPr>
        <p:spPr>
          <a:xfrm>
            <a:off x="469876" y="1109448"/>
            <a:ext cx="5737860" cy="325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Dollar-Cost Averaging (DCA)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is DCA?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Invest fixed amount at regular intervals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Example: $100 every Monday for 52 weeks = $5,200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Advantages: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Removes emotion (no timing decisions)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Averages entry price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8"/>
          <p:cNvSpPr txBox="1"/>
          <p:nvPr/>
        </p:nvSpPr>
        <p:spPr>
          <a:xfrm>
            <a:off x="469876" y="1109448"/>
            <a:ext cx="6286500" cy="325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Tactical Entry (Timing the Market)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What is Tactical Entry?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Wait for specific signals to enter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Examples: Golden Cross, RSI oversold, funding rate spike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Advantages: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Potentially better returns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Enter at better prices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68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63</a:t>
            </a:r>
            <a:endParaRPr/>
          </a:p>
        </p:txBody>
      </p:sp>
      <p:sp>
        <p:nvSpPr>
          <p:cNvPr id="528" name="Google Shape;528;p68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9"/>
          <p:cNvSpPr txBox="1"/>
          <p:nvPr/>
        </p:nvSpPr>
        <p:spPr>
          <a:xfrm>
            <a:off x="469876" y="1109448"/>
            <a:ext cx="7843520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Hybrid Approach (Best of Both)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Strategy: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70% DCA (core position)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30% tactical (opportunistic buys)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Example: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DCA: $700/month into BTC/ETH automatically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Tactical: Keep $300/month for dips (e.g., RSI &lt; 30, Death Cross bounces)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69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</a:t>
            </a:r>
            <a:endParaRPr/>
          </a:p>
        </p:txBody>
      </p:sp>
      <p:sp>
        <p:nvSpPr>
          <p:cNvPr id="535" name="Google Shape;535;p69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0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Risk Management - Position Sizing</a:t>
            </a:r>
            <a:endParaRPr/>
          </a:p>
        </p:txBody>
      </p:sp>
      <p:sp>
        <p:nvSpPr>
          <p:cNvPr id="541" name="Google Shape;541;p70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65</a:t>
            </a:r>
            <a:endParaRPr/>
          </a:p>
        </p:txBody>
      </p:sp>
      <p:sp>
        <p:nvSpPr>
          <p:cNvPr id="542" name="Google Shape;542;p70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43" name="Google Shape;543;p70"/>
          <p:cNvSpPr txBox="1"/>
          <p:nvPr/>
        </p:nvSpPr>
        <p:spPr>
          <a:xfrm>
            <a:off x="469876" y="1109448"/>
            <a:ext cx="7749540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The 1-2% Rule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Never risk more than 1-2% of portfolio on a single trade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Example: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Portfolio: $10,000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Max risk per trade: $200 (2%)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Entry: $50,000 BTC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8417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Stop loss: 8% below entry = $46,000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1"/>
          <p:cNvSpPr txBox="1"/>
          <p:nvPr/>
        </p:nvSpPr>
        <p:spPr>
          <a:xfrm>
            <a:off x="469876" y="1109448"/>
            <a:ext cx="3903979" cy="2213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Kelly Criterion (Advanced)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Formula: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Kelly % = W - [(1-W) / R]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W = Win rate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R = Average win / Average loss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71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66</a:t>
            </a:r>
            <a:endParaRPr/>
          </a:p>
        </p:txBody>
      </p:sp>
      <p:sp>
        <p:nvSpPr>
          <p:cNvPr id="550" name="Google Shape;550;p71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2"/>
          <p:cNvSpPr txBox="1"/>
          <p:nvPr>
            <p:ph type="title"/>
          </p:nvPr>
        </p:nvSpPr>
        <p:spPr>
          <a:xfrm>
            <a:off x="384785" y="503761"/>
            <a:ext cx="7195184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Takeaways - Class 3 Summary</a:t>
            </a:r>
            <a:endParaRPr/>
          </a:p>
        </p:txBody>
      </p:sp>
      <p:sp>
        <p:nvSpPr>
          <p:cNvPr id="556" name="Google Shape;556;p72"/>
          <p:cNvSpPr txBox="1"/>
          <p:nvPr>
            <p:ph idx="12" type="sldNum"/>
          </p:nvPr>
        </p:nvSpPr>
        <p:spPr>
          <a:xfrm>
            <a:off x="8633220" y="4697180"/>
            <a:ext cx="258445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67</a:t>
            </a:r>
            <a:endParaRPr/>
          </a:p>
        </p:txBody>
      </p:sp>
      <p:sp>
        <p:nvSpPr>
          <p:cNvPr id="557" name="Google Shape;557;p72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58" name="Google Shape;558;p72"/>
          <p:cNvSpPr txBox="1"/>
          <p:nvPr/>
        </p:nvSpPr>
        <p:spPr>
          <a:xfrm>
            <a:off x="469876" y="1109448"/>
            <a:ext cx="5270500" cy="3079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1475" lvl="0" marL="38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Macro Drivers: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Crypto is now highly correlated (0.7-0.8) with S&amp;P 500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Fed policy (rates, QE/QT) drives crypto prices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DXY has inverse relationship with crypto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Monitor: Fed meetings, CPI, employment data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71475" lvl="0" marL="384175" rtl="0" algn="l">
              <a:lnSpc>
                <a:spcPct val="100000"/>
              </a:lnSpc>
              <a:spcBef>
                <a:spcPts val="146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Tokenization: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3855" lvl="0" marL="384175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RWA sector: $16T opportunity (currently $10B)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" name="Google Shape;563;p73"/>
          <p:cNvGrpSpPr/>
          <p:nvPr/>
        </p:nvGrpSpPr>
        <p:grpSpPr>
          <a:xfrm>
            <a:off x="0" y="4667250"/>
            <a:ext cx="9144000" cy="476884"/>
            <a:chOff x="0" y="4667250"/>
            <a:chExt cx="9144000" cy="476884"/>
          </a:xfrm>
        </p:grpSpPr>
        <p:sp>
          <p:nvSpPr>
            <p:cNvPr id="564" name="Google Shape;564;p73"/>
            <p:cNvSpPr/>
            <p:nvPr/>
          </p:nvSpPr>
          <p:spPr>
            <a:xfrm>
              <a:off x="0" y="4667250"/>
              <a:ext cx="9144000" cy="476884"/>
            </a:xfrm>
            <a:custGeom>
              <a:rect b="b" l="l" r="r" t="t"/>
              <a:pathLst>
                <a:path extrusionOk="0" h="476885" w="9144000">
                  <a:moveTo>
                    <a:pt x="9143999" y="476399"/>
                  </a:moveTo>
                  <a:lnTo>
                    <a:pt x="0" y="4763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76399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73"/>
            <p:cNvSpPr/>
            <p:nvPr/>
          </p:nvSpPr>
          <p:spPr>
            <a:xfrm>
              <a:off x="0" y="4667250"/>
              <a:ext cx="9144000" cy="476884"/>
            </a:xfrm>
            <a:custGeom>
              <a:rect b="b" l="l" r="r" t="t"/>
              <a:pathLst>
                <a:path extrusionOk="0" h="476885" w="9144000">
                  <a:moveTo>
                    <a:pt x="0" y="0"/>
                  </a:moveTo>
                  <a:lnTo>
                    <a:pt x="9143999" y="0"/>
                  </a:lnTo>
                  <a:lnTo>
                    <a:pt x="9143999" y="476399"/>
                  </a:lnTo>
                  <a:lnTo>
                    <a:pt x="0" y="476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66" name="Google Shape;56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8387" y="163850"/>
            <a:ext cx="4352925" cy="43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73"/>
          <p:cNvSpPr txBox="1"/>
          <p:nvPr/>
        </p:nvSpPr>
        <p:spPr>
          <a:xfrm>
            <a:off x="76365" y="4819465"/>
            <a:ext cx="846455" cy="15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Matias Selser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73"/>
          <p:cNvSpPr txBox="1"/>
          <p:nvPr/>
        </p:nvSpPr>
        <p:spPr>
          <a:xfrm>
            <a:off x="8781525" y="4778067"/>
            <a:ext cx="167005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73"/>
          <p:cNvSpPr txBox="1"/>
          <p:nvPr>
            <p:ph idx="11" type="ftr"/>
          </p:nvPr>
        </p:nvSpPr>
        <p:spPr>
          <a:xfrm>
            <a:off x="63500" y="4806765"/>
            <a:ext cx="872020" cy="18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
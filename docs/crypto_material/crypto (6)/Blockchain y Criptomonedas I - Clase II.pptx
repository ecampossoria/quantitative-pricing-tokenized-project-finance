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4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5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5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6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6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6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6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6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6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7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7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7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7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7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7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7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7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7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7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8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8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8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8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8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8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8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8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8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8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8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8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9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9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9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9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9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9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9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9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9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9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9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9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9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9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9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9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0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0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0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0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0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0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0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0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0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0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0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0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0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0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475249" y="1111630"/>
            <a:ext cx="54082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255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255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255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255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255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667250"/>
            <a:ext cx="9144000" cy="476884"/>
          </a:xfrm>
          <a:custGeom>
            <a:rect b="b" l="l" r="r" t="t"/>
            <a:pathLst>
              <a:path extrusionOk="0" h="476885" w="9144000">
                <a:moveTo>
                  <a:pt x="9143999" y="476399"/>
                </a:moveTo>
                <a:lnTo>
                  <a:pt x="0" y="4763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76399"/>
                </a:ln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4667250"/>
            <a:ext cx="9144000" cy="476884"/>
          </a:xfrm>
          <a:custGeom>
            <a:rect b="b" l="l" r="r" t="t"/>
            <a:pathLst>
              <a:path extrusionOk="0" h="476885" w="9144000">
                <a:moveTo>
                  <a:pt x="0" y="0"/>
                </a:moveTo>
                <a:lnTo>
                  <a:pt x="9143999" y="0"/>
                </a:lnTo>
                <a:lnTo>
                  <a:pt x="9143999" y="476399"/>
                </a:lnTo>
                <a:lnTo>
                  <a:pt x="0" y="4763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75249" y="1111630"/>
            <a:ext cx="54082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2554">
              <a:lnSpc>
                <a:spcPct val="11875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2554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/>
        </p:nvSpPr>
        <p:spPr>
          <a:xfrm>
            <a:off x="63500" y="4793817"/>
            <a:ext cx="87185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Matias Selser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136840" y="1087373"/>
            <a:ext cx="4870450" cy="161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56832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Blockchain y Criptomonedas I</a:t>
            </a:r>
            <a:endParaRPr sz="5200"/>
          </a:p>
        </p:txBody>
      </p:sp>
      <p:sp>
        <p:nvSpPr>
          <p:cNvPr id="47" name="Google Shape;47;p7"/>
          <p:cNvSpPr txBox="1"/>
          <p:nvPr/>
        </p:nvSpPr>
        <p:spPr>
          <a:xfrm>
            <a:off x="3179026" y="2892926"/>
            <a:ext cx="2784475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93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UCEMA - QUANt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Clase II: 03/11/25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518394" y="2599009"/>
            <a:ext cx="475043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PARTE 1: INTRODUCCIÓN</a:t>
            </a:r>
            <a:endParaRPr sz="3000"/>
          </a:p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Agenda: Clase II</a:t>
            </a:r>
            <a:endParaRPr/>
          </a:p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2" name="Google Shape;62;p9"/>
          <p:cNvSpPr txBox="1"/>
          <p:nvPr/>
        </p:nvSpPr>
        <p:spPr>
          <a:xfrm>
            <a:off x="475249" y="1111630"/>
            <a:ext cx="647128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Parte 1: Stablecoins (fiat, crypto-collateralized, algorítmicas)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Demo A: Análisis de riesgo de stablecoins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Break (15 minutos)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Parte 2: DeFi primitives (lending, liquidity pools, IL)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Parte 3: Perpetual futures y Hyperliquid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Demos B &amp; C: IL calculator y funding rates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¿Por Qué Importan las Stablecoins?</a:t>
            </a:r>
            <a:endParaRPr/>
          </a:p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0" name="Google Shape;70;p10"/>
          <p:cNvSpPr txBox="1"/>
          <p:nvPr/>
        </p:nvSpPr>
        <p:spPr>
          <a:xfrm>
            <a:off x="475249" y="1111630"/>
            <a:ext cx="55225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Base del trading cripto: par principal en exchanges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Refugio durante volatilidad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Colateral para DeFi (lending, perps)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On/off ramps (fiat ↔ crypto)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Pero... NO todas las stablecoins son iguales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Caso Real: USDC Depeg (Marzo 2023)</a:t>
            </a:r>
            <a:endParaRPr/>
          </a:p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475249" y="1111630"/>
            <a:ext cx="442976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Silicon Valley Bank colapsa (10 marzo)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Circle tenía $3.3B en SVB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USDC cae a $0.88 (-12%)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Pregunta: ¿Comprar o vender?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Resultado: USDC volvió a $1.00 en 48h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Caso Real: UST Collapse (Mayo 2022)</a:t>
            </a:r>
            <a:endParaRPr/>
          </a:p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475249" y="1111630"/>
            <a:ext cx="500253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Terra UST: $60B market cap (algorithmic)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Mayo 9: Depeg a $0.98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Mayo 12: UST a $0.30, LUNA a $0.0001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Resultado: $60B evaporados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Lección: Stablecoins pueden fallar totalmente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Trilemma de las Stablecoins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75249" y="1111630"/>
            <a:ext cx="51415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se pueden tener las 3 a la vez: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1. Estabilidad (precio = $1.00)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2. Descentralización (sin punto central de fallo)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3. Eficiencia de capital (baja colateralización)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Trade-offs determinan el mecanismo elegido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Tres Mecanismos de Stablecoins</a:t>
            </a:r>
            <a:endParaRPr/>
          </a:p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75249" y="1111630"/>
            <a:ext cx="574865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1. Fiat-Backed: Reservas USD 1:1 (USDT, USDC)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Estable, eficiente Centralizado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2. Crypto-Collateralized: Sobre-colateralizado (DAI)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Estable, descentralizado Ineficiente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3. Algorítmicas: Algoritmo mantiene peg (UST-fallido)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Eficiente, descentralizado Inestable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Eventos Históricos de Depeg</a:t>
            </a:r>
            <a:endParaRPr/>
          </a:p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475249" y="1111630"/>
            <a:ext cx="54082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Mayo 2022: UST colapso completo ($1 → $0.10)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Marzo 2023: USDC depeg temporal ($1 → $0.88)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2018-2019: USDT mini-depegs recurrentes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2023: BUSD shutdown regulatorio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Lección: Estudiar mecanismos y riesgos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Roadmap de Hoy</a:t>
            </a:r>
            <a:endParaRPr/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75249" y="1111630"/>
            <a:ext cx="515366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00:00-01:30: Stablecoins + Demo 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01:30-01:45: BREAK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01:45-02:15: DeFi (lending, LPs) + Demo B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02:15-03:00: Perps + Hyperliquid + Demo 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Homework: Notebook D (Portfolio optimization)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2274688" y="2599009"/>
            <a:ext cx="523494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STABLECOINS FIAT-BACKED</a:t>
            </a:r>
            <a:endParaRPr sz="3000"/>
          </a:p>
        </p:txBody>
      </p:sp>
      <p:sp>
        <p:nvSpPr>
          <p:cNvPr id="124" name="Google Shape;124;p17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USDT (Tether): El Gigante</a:t>
            </a:r>
            <a:endParaRPr/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475249" y="1111630"/>
            <a:ext cx="712597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Market cap: $90B+ (la stablecoin más grande)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Backing: Afirma reservas USD 1:1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Transparencia: Attestations trimestrales (NO auditorías completas)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Controversias: 2017-2019 dudas sobre reservas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¿Por qué sigue dominando? Liquidez masiva, network effects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USDT: Riesgos y Consideraciones</a:t>
            </a:r>
            <a:endParaRPr/>
          </a:p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475249" y="1111630"/>
            <a:ext cx="535368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Opacidad: No auditoría completa externa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Regulatorio: Scrutinio por SEC y CFTC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Centralización: Tether puede congelar fondos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Uso: Preferido en exchanges asiáticos y offshore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Trade-off: Liquidez vs transparencia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USDC (Circle): El Regulado</a:t>
            </a:r>
            <a:endParaRPr/>
          </a:p>
        </p:txBody>
      </p:sp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475249" y="1111630"/>
            <a:ext cx="608012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Market cap: $30B+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Backing: 100% USD + US Treasuries corto plazo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Transparencia: Attestations mensuales (Grant Thornton)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Regulado: Circle es money transmitter en USA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Caso SVB: Depeg temporal pero recuperación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USDC: Fortalezas y Debilidades</a:t>
            </a:r>
            <a:endParaRPr/>
          </a:p>
        </p:txBody>
      </p:sp>
      <p:sp>
        <p:nvSpPr>
          <p:cNvPr id="155" name="Google Shape;155;p2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2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475249" y="1111630"/>
            <a:ext cx="52304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5450" lvl="0" marL="438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Transparencia: Reportes mensuales detallados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Regulación: Cumplimiento USA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Respaldo institucional: Coinbase, Blackrock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Centralización: Circle controla emisión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Riesgo bancario: SVB mostró vulnerabilidad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BUSD (Binance USD): El Shutdown</a:t>
            </a:r>
            <a:endParaRPr/>
          </a:p>
        </p:txBody>
      </p:sp>
      <p:sp>
        <p:nvSpPr>
          <p:cNvPr id="163" name="Google Shape;163;p22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475249" y="1111630"/>
            <a:ext cx="530733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Emitido por Paxos para Binance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Market cap: Era $16B (2022)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Regulado por NYDFS, auditorías mensuales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Feb 2023: SEC ordena a Paxos detener emisión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Market cap → $0 (phased out en 2023)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Lección BUSD: Riesgo Regulatorio</a:t>
            </a:r>
            <a:endParaRPr/>
          </a:p>
        </p:txBody>
      </p:sp>
      <p:sp>
        <p:nvSpPr>
          <p:cNvPr id="171" name="Google Shape;171;p23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2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475249" y="1111630"/>
            <a:ext cx="57130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Incluso stablecoins "seguros" pueden ser cerrados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Regulación USA es impredecible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Dependencia del emisor: Paxos no controló decisión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Implicación: Diversificar entre stablecoins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mantener 100% en una sola stablecoin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Otras Fiat-Backed: TUSD, USDP, PYUSD</a:t>
            </a:r>
            <a:endParaRPr/>
          </a:p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2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475249" y="1111630"/>
            <a:ext cx="6299200" cy="1703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TrueUSD (TUSD): Attestations real-time, custodia terceros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Pax Dollar (USDP): Paxos-issued, NYDFS regulated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PayPal USD (PYUSD): Lanzado agosto 2023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Todas: Mismo trade-off (estabilidad vs centralización)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Trading con Fiat-Backed Stablecoins</a:t>
            </a:r>
            <a:endParaRPr/>
          </a:p>
        </p:txBody>
      </p:sp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2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475249" y="1111630"/>
            <a:ext cx="4024629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9894" lvl="0" marL="4425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Más estables, liquidez profunda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17194" lvl="0" marL="429894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Aceptadas en todos los CEX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Mejor para grandes volúmenes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Pueden ser congeladas por emisor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Riesgo regulatorio y de contraparte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1000719" y="2599009"/>
            <a:ext cx="77800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STABLECOINS CRYPTO-COLLATERALIZED</a:t>
            </a:r>
            <a:endParaRPr sz="3000"/>
          </a:p>
        </p:txBody>
      </p:sp>
      <p:sp>
        <p:nvSpPr>
          <p:cNvPr id="195" name="Google Shape;195;p26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DAI (MakerDAO): Estabilidad Descentralizada</a:t>
            </a:r>
            <a:endParaRPr/>
          </a:p>
        </p:txBody>
      </p:sp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2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04" name="Google Shape;204;p27"/>
          <p:cNvSpPr txBox="1"/>
          <p:nvPr/>
        </p:nvSpPr>
        <p:spPr>
          <a:xfrm>
            <a:off x="475249" y="1111630"/>
            <a:ext cx="637095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Mecanismo: Sobre-colateralizado con crypto (ETH, WBTC)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Collateralization Ratio: 150%+ requerido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Bloquear $150 ETH → mintear $100 DAI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Totalmente on-chain y transparente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hay emisor central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Cómo Funciona DAI: Vaults</a:t>
            </a:r>
            <a:endParaRPr/>
          </a:p>
        </p:txBody>
      </p:sp>
      <p:sp>
        <p:nvSpPr>
          <p:cNvPr id="210" name="Google Shape;210;p28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2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475249" y="1111630"/>
            <a:ext cx="574929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1. Depositar colateral (ETH) en vault (smart contract)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2. Generar DAI contra el colateral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3. Pagar stability fee (interés)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4. Para recuperar ETH: devolver DAI + fee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Todo automatizado vía smart contracts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DAI: Liquidaciones</a:t>
            </a:r>
            <a:endParaRPr/>
          </a:p>
        </p:txBody>
      </p:sp>
      <p:sp>
        <p:nvSpPr>
          <p:cNvPr id="218" name="Google Shape;218;p29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20" name="Google Shape;220;p29"/>
          <p:cNvSpPr txBox="1"/>
          <p:nvPr/>
        </p:nvSpPr>
        <p:spPr>
          <a:xfrm>
            <a:off x="475249" y="1111630"/>
            <a:ext cx="539369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 ETH cae → ratio de colateral baja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Bajo 150%: Vault es liquidado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Smart contract vende ETH para pagar deuda DAI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Penalización: 13% del colateral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Incentiva a keepers (bots) a liquidar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Black Thursday: Marzo 2020</a:t>
            </a:r>
            <a:endParaRPr/>
          </a:p>
        </p:txBody>
      </p:sp>
      <p:sp>
        <p:nvSpPr>
          <p:cNvPr id="226" name="Google Shape;226;p3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3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28" name="Google Shape;228;p30"/>
          <p:cNvSpPr txBox="1"/>
          <p:nvPr/>
        </p:nvSpPr>
        <p:spPr>
          <a:xfrm>
            <a:off x="475249" y="1111630"/>
            <a:ext cx="496506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ETH cayó 50% en horas (COVID crash)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Miles de vaults bajo agua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Network congestionado → gas fees altísimos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Resultado: $8M de DAI bajo-colateralizado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MakerDAO tuvo que emitir MKR para cubrir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Evolución de DAI: El Problema USDC</a:t>
            </a:r>
            <a:endParaRPr/>
          </a:p>
        </p:txBody>
      </p:sp>
      <p:sp>
        <p:nvSpPr>
          <p:cNvPr id="234" name="Google Shape;234;p3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3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36" name="Google Shape;236;p31"/>
          <p:cNvSpPr txBox="1"/>
          <p:nvPr/>
        </p:nvSpPr>
        <p:spPr>
          <a:xfrm>
            <a:off x="475249" y="1111630"/>
            <a:ext cx="544512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Originalmente: 100% crypto (ETH, WBTC)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Hoy: ~60% del backing es USDC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¿Por qué? Eficiencia de capital, estabilidad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Controversia: ¿Sigue siendo descentralizado?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Sky Protocol (nuevo Maker): Busca reducir USDC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Otras Crypto-Collateralized: LUSD</a:t>
            </a:r>
            <a:endParaRPr/>
          </a:p>
        </p:txBody>
      </p:sp>
      <p:sp>
        <p:nvSpPr>
          <p:cNvPr id="242" name="Google Shape;242;p32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3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44" name="Google Shape;244;p32"/>
          <p:cNvSpPr txBox="1"/>
          <p:nvPr/>
        </p:nvSpPr>
        <p:spPr>
          <a:xfrm>
            <a:off x="475249" y="1111630"/>
            <a:ext cx="507682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Liquity USD (LUSD): Solo ETH como colateral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Min CR: 110% (más eficiente que DAI)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Protocolo inmutable (no governance)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Fee único: 0.5% al abrir vault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Más descentralizado pero menos flexible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Trading con Crypto-Collateralized</a:t>
            </a:r>
            <a:endParaRPr/>
          </a:p>
        </p:txBody>
      </p:sp>
      <p:sp>
        <p:nvSpPr>
          <p:cNvPr id="250" name="Google Shape;250;p33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3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52" name="Google Shape;252;p33"/>
          <p:cNvSpPr txBox="1"/>
          <p:nvPr/>
        </p:nvSpPr>
        <p:spPr>
          <a:xfrm>
            <a:off x="475249" y="1111630"/>
            <a:ext cx="475742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5450" lvl="0" marL="438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Totalmente descentralizado y transparente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Censorship-resistant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Ideal para DeFi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Capital-ineficiente (150%+ CR)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Riesgo de liquidación en volatilidad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2080560" y="2599009"/>
            <a:ext cx="562038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STABLECOINS ALGORÍTMICAS</a:t>
            </a:r>
            <a:endParaRPr sz="3000"/>
          </a:p>
        </p:txBody>
      </p:sp>
      <p:sp>
        <p:nvSpPr>
          <p:cNvPr id="258" name="Google Shape;258;p34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UST (Terra): El Death Spiral de $60B</a:t>
            </a:r>
            <a:endParaRPr/>
          </a:p>
        </p:txBody>
      </p:sp>
      <p:sp>
        <p:nvSpPr>
          <p:cNvPr id="265" name="Google Shape;265;p35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3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67" name="Google Shape;267;p35"/>
          <p:cNvSpPr txBox="1"/>
          <p:nvPr/>
        </p:nvSpPr>
        <p:spPr>
          <a:xfrm>
            <a:off x="475249" y="1111630"/>
            <a:ext cx="6111875" cy="1703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Mecanismo: Algoritmo + LUNA token mantienen peg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Cómo funcionaba: Burn LUNA → mint UST (y viceversa)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Promesa: Descentralizado, eficiente, 20% APY (Anchor)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Realidad: Ponzi scheme, insostenible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Cómo Funcionaba el Peg de UST</a:t>
            </a:r>
            <a:endParaRPr/>
          </a:p>
        </p:txBody>
      </p:sp>
      <p:sp>
        <p:nvSpPr>
          <p:cNvPr id="273" name="Google Shape;273;p36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3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75" name="Google Shape;275;p36"/>
          <p:cNvSpPr txBox="1"/>
          <p:nvPr/>
        </p:nvSpPr>
        <p:spPr>
          <a:xfrm>
            <a:off x="475249" y="1111630"/>
            <a:ext cx="7232015" cy="1703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UST &gt; $1.00: Traders burn $1 LUNA → mint $1 UST → vender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UST &lt; $1.00: Traders compran UST barato → burn → get $1 LUNA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Incentivo de arbitraje mantiene peg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Problema: Funciona solo si hay confianza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UST Collapse: Mayo 2022</a:t>
            </a:r>
            <a:endParaRPr/>
          </a:p>
        </p:txBody>
      </p:sp>
      <p:sp>
        <p:nvSpPr>
          <p:cNvPr id="281" name="Google Shape;281;p37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3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83" name="Google Shape;283;p37"/>
          <p:cNvSpPr txBox="1"/>
          <p:nvPr/>
        </p:nvSpPr>
        <p:spPr>
          <a:xfrm>
            <a:off x="475249" y="1111630"/>
            <a:ext cx="521398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Mayo 9: Grandes ventas → UST depeg a $0.98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Mecanismo: Traders burn UST por $1 LUNA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LUNA supply explota (hiperinflación)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Mayo 10: UST $0.60, LUNA $10 → $0.10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Mayo 12: UST $0.30, LUNA $0.0001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¿Por Qué Colapsó UST?</a:t>
            </a:r>
            <a:endParaRPr/>
          </a:p>
        </p:txBody>
      </p:sp>
      <p:sp>
        <p:nvSpPr>
          <p:cNvPr id="289" name="Google Shape;289;p38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3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91" name="Google Shape;291;p38"/>
          <p:cNvSpPr txBox="1"/>
          <p:nvPr/>
        </p:nvSpPr>
        <p:spPr>
          <a:xfrm>
            <a:off x="475249" y="1111630"/>
            <a:ext cx="6938009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Bank run: Una vez que peg se rompe, pánico masivo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Reflexividad: Depeg → vender LUNA → más UST → más depeg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Sin respaldo real: Solo confianza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Anchor: 20% APY insostenible (subsidios agotados)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$60B evaporados en 3 días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Lecciones de UST</a:t>
            </a:r>
            <a:endParaRPr/>
          </a:p>
        </p:txBody>
      </p:sp>
      <p:sp>
        <p:nvSpPr>
          <p:cNvPr id="297" name="Google Shape;297;p39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3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299" name="Google Shape;299;p39"/>
          <p:cNvSpPr txBox="1"/>
          <p:nvPr/>
        </p:nvSpPr>
        <p:spPr>
          <a:xfrm>
            <a:off x="475249" y="1111630"/>
            <a:ext cx="535813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hay "free lunch" en finanzas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20% APY sin riesgo NO existe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Algoritmos solos NO mantienen peg bajo presión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Reflexividad puede ser mortal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Lección: EVITAR stablecoins algorítmicas puras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FRAX: El Sobreviviente (Modelo Híbrido)</a:t>
            </a:r>
            <a:endParaRPr/>
          </a:p>
        </p:txBody>
      </p:sp>
      <p:sp>
        <p:nvSpPr>
          <p:cNvPr id="305" name="Google Shape;305;p4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4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07" name="Google Shape;307;p40"/>
          <p:cNvSpPr txBox="1"/>
          <p:nvPr/>
        </p:nvSpPr>
        <p:spPr>
          <a:xfrm>
            <a:off x="475249" y="1111630"/>
            <a:ext cx="606044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Mecanismo: Colateral parcial (USDC) + algoritmo (FXS)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Collateral Ratio (CR): Ajustable según peg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 depeg: CR aumenta (más colateral)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 actual: ~92% (casi totalmente respaldado)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Éxito: Enfoque conservador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Qué FRAX Sobrevivió</a:t>
            </a:r>
            <a:endParaRPr/>
          </a:p>
        </p:txBody>
      </p:sp>
      <p:sp>
        <p:nvSpPr>
          <p:cNvPr id="313" name="Google Shape;313;p4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4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15" name="Google Shape;315;p41"/>
          <p:cNvSpPr txBox="1"/>
          <p:nvPr/>
        </p:nvSpPr>
        <p:spPr>
          <a:xfrm>
            <a:off x="475249" y="1111630"/>
            <a:ext cx="554926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Siempre mantuvo CR alto (80%+)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prometió yields insostenibles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Ajuste dinámico de CR según mercado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Backing real con USDC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Lección: Híbridos conservadores pueden funcionar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/>
          <p:nvPr>
            <p:ph type="title"/>
          </p:nvPr>
        </p:nvSpPr>
        <p:spPr>
          <a:xfrm>
            <a:off x="3675346" y="2599009"/>
            <a:ext cx="243586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LIVE DEMO A</a:t>
            </a:r>
            <a:endParaRPr sz="3000"/>
          </a:p>
        </p:txBody>
      </p:sp>
      <p:sp>
        <p:nvSpPr>
          <p:cNvPr id="321" name="Google Shape;321;p42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Notebook A: Stablecoin Risk Analysis</a:t>
            </a:r>
            <a:endParaRPr/>
          </a:p>
        </p:txBody>
      </p:sp>
      <p:sp>
        <p:nvSpPr>
          <p:cNvPr id="328" name="Google Shape;328;p43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4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30" name="Google Shape;330;p43"/>
          <p:cNvSpPr txBox="1"/>
          <p:nvPr/>
        </p:nvSpPr>
        <p:spPr>
          <a:xfrm>
            <a:off x="475249" y="1111630"/>
            <a:ext cx="5510530" cy="1703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Objetivo: Evaluar riesgos de stablecoins con datos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API: CoinGecko (precio, market cap, volumen)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Análisis: 90 días de precio histórico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Output: Risk score, depeg events, volatilidad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Visualizaciones en Notebook A</a:t>
            </a:r>
            <a:endParaRPr/>
          </a:p>
        </p:txBody>
      </p:sp>
      <p:sp>
        <p:nvSpPr>
          <p:cNvPr id="336" name="Google Shape;336;p44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4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38" name="Google Shape;338;p44"/>
          <p:cNvSpPr txBox="1"/>
          <p:nvPr/>
        </p:nvSpPr>
        <p:spPr>
          <a:xfrm>
            <a:off x="475249" y="1111630"/>
            <a:ext cx="5253990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Grupo 1: Time series (6 charts)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Precio histórico, desviación del peg, volatilidad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Grupo 2: Eventos de depeg (4 charts)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Magnitud, frecuencia, heatmap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Grupo 3: Dashboard de riesgo (6 charts)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Risk scores, radar, market cap vs volume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Risk Scoring Model</a:t>
            </a:r>
            <a:endParaRPr/>
          </a:p>
        </p:txBody>
      </p:sp>
      <p:sp>
        <p:nvSpPr>
          <p:cNvPr id="344" name="Google Shape;344;p45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4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46" name="Google Shape;346;p45"/>
          <p:cNvSpPr txBox="1"/>
          <p:nvPr/>
        </p:nvSpPr>
        <p:spPr>
          <a:xfrm>
            <a:off x="475249" y="1111630"/>
            <a:ext cx="5224145" cy="310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Factores (0-100, mayor = más seguro):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Estabilidad de precio (35%)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Market cap (20%)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Volumen (15%)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Transparencia (20%)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Mecanismo (10%)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USDC score 85, UST (antes) score 45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Depeg Arbitrage Calculator</a:t>
            </a:r>
            <a:endParaRPr/>
          </a:p>
        </p:txBody>
      </p:sp>
      <p:sp>
        <p:nvSpPr>
          <p:cNvPr id="352" name="Google Shape;352;p46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4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54" name="Google Shape;354;p46"/>
          <p:cNvSpPr txBox="1"/>
          <p:nvPr/>
        </p:nvSpPr>
        <p:spPr>
          <a:xfrm>
            <a:off x="475249" y="1111630"/>
            <a:ext cx="445516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Escenario: USDC a $0.88 (depeg -12%)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Comprar: $10,000 → 11,363 USDC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 repeg: Vender a $1.00 → $11,363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Profit: $1,363 (13.6%) menos fees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Riesgo: ¿Y si NO repeg? (caso UST)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7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Takeaway: Notebook A</a:t>
            </a:r>
            <a:endParaRPr/>
          </a:p>
        </p:txBody>
      </p:sp>
      <p:sp>
        <p:nvSpPr>
          <p:cNvPr id="360" name="Google Shape;360;p47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4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62" name="Google Shape;362;p47"/>
          <p:cNvSpPr txBox="1"/>
          <p:nvPr/>
        </p:nvSpPr>
        <p:spPr>
          <a:xfrm>
            <a:off x="475249" y="1111630"/>
            <a:ext cx="526986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todas las stablecoins son iguales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Modelos cuantitativos ayudan a evaluar riesgo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Depeg arbitrage puede ser rentable (con riesgo)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Transparencia y mecanismo importan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Diversificación entre stablecoins reduce riesgo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/>
          <p:nvPr>
            <p:ph type="title"/>
          </p:nvPr>
        </p:nvSpPr>
        <p:spPr>
          <a:xfrm>
            <a:off x="3929284" y="2599009"/>
            <a:ext cx="192913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BREAK 15’</a:t>
            </a:r>
            <a:endParaRPr sz="3000"/>
          </a:p>
        </p:txBody>
      </p:sp>
      <p:sp>
        <p:nvSpPr>
          <p:cNvPr id="368" name="Google Shape;368;p48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"/>
          <p:cNvSpPr txBox="1"/>
          <p:nvPr>
            <p:ph type="title"/>
          </p:nvPr>
        </p:nvSpPr>
        <p:spPr>
          <a:xfrm>
            <a:off x="3315741" y="2599009"/>
            <a:ext cx="315341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DEFI PRIMITIVES</a:t>
            </a:r>
            <a:endParaRPr sz="3000"/>
          </a:p>
        </p:txBody>
      </p:sp>
      <p:sp>
        <p:nvSpPr>
          <p:cNvPr id="375" name="Google Shape;375;p49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Aave &amp; Compound: Bancos DeFi</a:t>
            </a:r>
            <a:endParaRPr/>
          </a:p>
        </p:txBody>
      </p:sp>
      <p:sp>
        <p:nvSpPr>
          <p:cNvPr id="382" name="Google Shape;382;p5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3" name="Google Shape;383;p5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84" name="Google Shape;384;p50"/>
          <p:cNvSpPr txBox="1"/>
          <p:nvPr/>
        </p:nvSpPr>
        <p:spPr>
          <a:xfrm>
            <a:off x="475249" y="1111630"/>
            <a:ext cx="515302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Mecanismo: Supply assets → earn yield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Borrow: Contra colateral (over-collateralized)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Supply APY: 5% en USDC (variable)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Borrow APY: 7% para tomar USDC prestado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Tasas dinámicas: Más demanda → mayor APY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Cómo Funciona Lending DeFi</a:t>
            </a:r>
            <a:endParaRPr/>
          </a:p>
        </p:txBody>
      </p:sp>
      <p:sp>
        <p:nvSpPr>
          <p:cNvPr id="390" name="Google Shape;390;p5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5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392" name="Google Shape;392;p51"/>
          <p:cNvSpPr txBox="1"/>
          <p:nvPr/>
        </p:nvSpPr>
        <p:spPr>
          <a:xfrm>
            <a:off x="475249" y="1111630"/>
            <a:ext cx="3961129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1. Usuario deposita $10,000 USDC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2. Pool presta a otros usuarios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3. Borrower paga 7% APY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4. Supplier gana 5% APY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5. Protocolo toma 2% (spread)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2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Collateralization y LTV</a:t>
            </a:r>
            <a:endParaRPr/>
          </a:p>
        </p:txBody>
      </p:sp>
      <p:sp>
        <p:nvSpPr>
          <p:cNvPr id="398" name="Google Shape;398;p52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9" name="Google Shape;399;p5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00" name="Google Shape;400;p52"/>
          <p:cNvSpPr txBox="1"/>
          <p:nvPr/>
        </p:nvSpPr>
        <p:spPr>
          <a:xfrm>
            <a:off x="475249" y="1111630"/>
            <a:ext cx="595249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LTV (Loan-to-Value): % que puedes pedir prestado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ETH tiene 75% LTV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Depositar $10,000 ETH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Pedir prestado hasta $7,500 USDC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Diferente por asset: BTC 75%, ETH 75%, altcoins 60%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3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Liquidaciones en Lending</a:t>
            </a:r>
            <a:endParaRPr/>
          </a:p>
        </p:txBody>
      </p:sp>
      <p:sp>
        <p:nvSpPr>
          <p:cNvPr id="406" name="Google Shape;406;p53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7" name="Google Shape;407;p5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08" name="Google Shape;408;p53"/>
          <p:cNvSpPr txBox="1"/>
          <p:nvPr/>
        </p:nvSpPr>
        <p:spPr>
          <a:xfrm>
            <a:off x="475249" y="1111630"/>
            <a:ext cx="598678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 colateral cae bajo threshold → liquidación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$10k ETH, borrow $7.5k USDC (75%)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ETH cae 20% → Colateral $8k → Liquidación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Liquidator paga deuda, toma colateral + bonus (5-10%)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Incentivo para bots liquidadores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4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Cases: Lending DeFi</a:t>
            </a:r>
            <a:endParaRPr/>
          </a:p>
        </p:txBody>
      </p:sp>
      <p:sp>
        <p:nvSpPr>
          <p:cNvPr id="414" name="Google Shape;414;p54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5" name="Google Shape;415;p5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16" name="Google Shape;416;p54"/>
          <p:cNvSpPr txBox="1"/>
          <p:nvPr/>
        </p:nvSpPr>
        <p:spPr>
          <a:xfrm>
            <a:off x="475249" y="1111630"/>
            <a:ext cx="515175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9894" lvl="0" marL="4425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Earn yield en assets idle (5-8% stablecoins)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Leverage: Borrow para aumentar posición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Short selling: Borrow asset, vender, recomprar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Riesgo smart contract (exploits)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Liquidación si colateral volátil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 txBox="1"/>
          <p:nvPr>
            <p:ph type="title"/>
          </p:nvPr>
        </p:nvSpPr>
        <p:spPr>
          <a:xfrm>
            <a:off x="2584901" y="2599009"/>
            <a:ext cx="461391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LIQUIDITY POOLS Y AMM</a:t>
            </a:r>
            <a:endParaRPr sz="3000"/>
          </a:p>
        </p:txBody>
      </p:sp>
      <p:sp>
        <p:nvSpPr>
          <p:cNvPr id="422" name="Google Shape;422;p55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6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AMMs: No Orderbook</a:t>
            </a:r>
            <a:endParaRPr/>
          </a:p>
        </p:txBody>
      </p:sp>
      <p:sp>
        <p:nvSpPr>
          <p:cNvPr id="429" name="Google Shape;429;p56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" name="Google Shape;430;p5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31" name="Google Shape;431;p56"/>
          <p:cNvSpPr txBox="1"/>
          <p:nvPr>
            <p:ph idx="1" type="body"/>
          </p:nvPr>
        </p:nvSpPr>
        <p:spPr>
          <a:xfrm>
            <a:off x="475249" y="1111630"/>
            <a:ext cx="54082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Automated Market Maker: precio por ratio en pool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Ejemplo: Pool ETH/USDC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- 100 ETH, 200,000 USDC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- Precio: 200,000 / 100 = $2,000 por ETH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Constant Product: x * y = k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7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Constant Product Formula: x * y = k</a:t>
            </a:r>
            <a:endParaRPr/>
          </a:p>
        </p:txBody>
      </p:sp>
      <p:sp>
        <p:nvSpPr>
          <p:cNvPr id="437" name="Google Shape;437;p57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p5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39" name="Google Shape;439;p57"/>
          <p:cNvSpPr txBox="1"/>
          <p:nvPr>
            <p:ph idx="1" type="body"/>
          </p:nvPr>
        </p:nvSpPr>
        <p:spPr>
          <a:xfrm>
            <a:off x="475249" y="1111630"/>
            <a:ext cx="54082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Pool: 100 ETH × 200,000 USDC = 20,000,000 (k)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Alguien compra 10 ETH: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- Nuevo: 90 ETH × 222,222 USDC = k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- Precio nuevo: $2,469 por ETH (slippage!)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k permanece constante (menos fees)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8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Cómo Proveer Liquidez</a:t>
            </a:r>
            <a:endParaRPr/>
          </a:p>
        </p:txBody>
      </p:sp>
      <p:sp>
        <p:nvSpPr>
          <p:cNvPr id="445" name="Google Shape;445;p58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6" name="Google Shape;446;p5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47" name="Google Shape;447;p58"/>
          <p:cNvSpPr txBox="1"/>
          <p:nvPr/>
        </p:nvSpPr>
        <p:spPr>
          <a:xfrm>
            <a:off x="475249" y="1111630"/>
            <a:ext cx="49383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Depositar AMBOS assets en valor USD igual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1 ETH ($2,000) + $2,000 USDC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Recibes LP tokens (representan tu share)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Earns: 0.3% por swap (Uniswap v2)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Puedes retirar en cualquier momento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9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Impermanent Loss (IL): Definición</a:t>
            </a:r>
            <a:endParaRPr/>
          </a:p>
        </p:txBody>
      </p:sp>
      <p:sp>
        <p:nvSpPr>
          <p:cNvPr id="453" name="Google Shape;453;p59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p5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55" name="Google Shape;455;p59"/>
          <p:cNvSpPr txBox="1"/>
          <p:nvPr/>
        </p:nvSpPr>
        <p:spPr>
          <a:xfrm>
            <a:off x="475249" y="1111630"/>
            <a:ext cx="46970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Pérdida vs simplemente holdear assets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Causa: Divergencia de precio entre assets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"Impermanent": Solo realizado al retirar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 precio vuelve al original: IL = 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Pero si no vuelve: Pérdida permanente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IL: Ejemplo Numérico</a:t>
            </a:r>
            <a:endParaRPr/>
          </a:p>
        </p:txBody>
      </p:sp>
      <p:sp>
        <p:nvSpPr>
          <p:cNvPr id="461" name="Google Shape;461;p6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2" name="Google Shape;462;p6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63" name="Google Shape;463;p60"/>
          <p:cNvSpPr txBox="1"/>
          <p:nvPr/>
        </p:nvSpPr>
        <p:spPr>
          <a:xfrm>
            <a:off x="475249" y="1111630"/>
            <a:ext cx="4931410" cy="310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Depositar: 1 ETH ($2,000) + $2,000 USDC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Total inicial: $4,000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ETH sube a $4,000 (2x)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Pool rebalancea: 0.707 ETH + $2,828 USDC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Valor LP: $5,656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Hold: 1 ETH ($4,000) + $2,000 = $6,000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IL: $344 (5.7%)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Fórmula de IL</a:t>
            </a:r>
            <a:endParaRPr/>
          </a:p>
        </p:txBody>
      </p:sp>
      <p:sp>
        <p:nvSpPr>
          <p:cNvPr id="469" name="Google Shape;469;p6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0" name="Google Shape;470;p6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71" name="Google Shape;471;p61"/>
          <p:cNvSpPr txBox="1"/>
          <p:nvPr/>
        </p:nvSpPr>
        <p:spPr>
          <a:xfrm>
            <a:off x="475249" y="1111630"/>
            <a:ext cx="494855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IL = 2 × sqrt(price_ratio) / (1 + price_ratio) - 1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Precio 1.5x: -2.0% IL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Precio 2x: -5.7% IL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Precio 5x: -25.5% IL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Peor con mayor divergencia de precio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2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¿Cuándo Es Rentable Ser LP?</a:t>
            </a:r>
            <a:endParaRPr/>
          </a:p>
        </p:txBody>
      </p:sp>
      <p:sp>
        <p:nvSpPr>
          <p:cNvPr id="477" name="Google Shape;477;p62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" name="Google Shape;478;p6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79" name="Google Shape;479;p62"/>
          <p:cNvSpPr txBox="1"/>
          <p:nvPr/>
        </p:nvSpPr>
        <p:spPr>
          <a:xfrm>
            <a:off x="475249" y="1111630"/>
            <a:ext cx="415099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Fees deben superar IL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High volume pools: Fees compensan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Low volatility: Menor IL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USDC/DAI pool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Volatilidad ~0% (ambos $1)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IL ≈ 0, solo ganas fees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3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Minimizar Impermanent Loss</a:t>
            </a:r>
            <a:endParaRPr/>
          </a:p>
        </p:txBody>
      </p:sp>
      <p:sp>
        <p:nvSpPr>
          <p:cNvPr id="485" name="Google Shape;485;p63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6" name="Google Shape;486;p6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87" name="Google Shape;487;p63"/>
          <p:cNvSpPr txBox="1"/>
          <p:nvPr/>
        </p:nvSpPr>
        <p:spPr>
          <a:xfrm>
            <a:off x="475249" y="1111630"/>
            <a:ext cx="566039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1. Stablecoin pairs: USDC/DAI, USDC/USDT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2. Correlated assets: ETH/stETH, BTC/WBTC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3. Concentrated liquidity: Uniswap v3 (rangos)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4. High volume pools: Más fees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5. Short timeframes: Entrar/salir antes de big moves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4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Trading con LPs</a:t>
            </a:r>
            <a:endParaRPr/>
          </a:p>
        </p:txBody>
      </p:sp>
      <p:sp>
        <p:nvSpPr>
          <p:cNvPr id="493" name="Google Shape;493;p64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4" name="Google Shape;494;p6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495" name="Google Shape;495;p64"/>
          <p:cNvSpPr txBox="1"/>
          <p:nvPr/>
        </p:nvSpPr>
        <p:spPr>
          <a:xfrm>
            <a:off x="475249" y="1111630"/>
            <a:ext cx="457898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9894" lvl="0" marL="4425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Best for: Market makers, passive income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5450" lvl="0" marL="438150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Yields: 10-100% APY (fees + rewards)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Diversificación de ingresos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IL risk en pares volátiles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Smart contract risk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5"/>
          <p:cNvSpPr txBox="1"/>
          <p:nvPr>
            <p:ph type="title"/>
          </p:nvPr>
        </p:nvSpPr>
        <p:spPr>
          <a:xfrm>
            <a:off x="3664835" y="2599009"/>
            <a:ext cx="245681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LIVE DEMO B</a:t>
            </a:r>
            <a:endParaRPr sz="3000"/>
          </a:p>
        </p:txBody>
      </p:sp>
      <p:sp>
        <p:nvSpPr>
          <p:cNvPr id="501" name="Google Shape;501;p65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6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Notebook B: IL Calculator &amp; DeFi Yields</a:t>
            </a:r>
            <a:endParaRPr/>
          </a:p>
        </p:txBody>
      </p:sp>
      <p:sp>
        <p:nvSpPr>
          <p:cNvPr id="508" name="Google Shape;508;p66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9" name="Google Shape;509;p6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10" name="Google Shape;510;p66"/>
          <p:cNvSpPr txBox="1"/>
          <p:nvPr/>
        </p:nvSpPr>
        <p:spPr>
          <a:xfrm>
            <a:off x="475249" y="1111630"/>
            <a:ext cx="5354320" cy="1703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Objetivo: Calcular IL y comparar yields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Tool: IL calculator interactivo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Análisis: ETH/USDC pool real (Uniswap)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Output: IL curves, LP vs HODL, yield comparison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7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Visualizaciones en Notebook B</a:t>
            </a:r>
            <a:endParaRPr/>
          </a:p>
        </p:txBody>
      </p:sp>
      <p:sp>
        <p:nvSpPr>
          <p:cNvPr id="516" name="Google Shape;516;p67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7" name="Google Shape;517;p6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18" name="Google Shape;518;p67"/>
          <p:cNvSpPr txBox="1"/>
          <p:nvPr/>
        </p:nvSpPr>
        <p:spPr>
          <a:xfrm>
            <a:off x="475249" y="1111630"/>
            <a:ext cx="5113020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Grupo 1: IL curves (4 charts)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Full range, IL vs price, LP vs HODL, heatmap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Grupo 2: Real LP simulation (4 charts)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Backtest histórico, fees vs IL, APY scenarios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Grupo 3: DeFi yields (4 charts)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APY rankings, risk-adjusted, scatter, boxplot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8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 Calculator: Uso</a:t>
            </a:r>
            <a:endParaRPr/>
          </a:p>
        </p:txBody>
      </p:sp>
      <p:sp>
        <p:nvSpPr>
          <p:cNvPr id="524" name="Google Shape;524;p68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5" name="Google Shape;525;p6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26" name="Google Shape;526;p68"/>
          <p:cNvSpPr txBox="1"/>
          <p:nvPr/>
        </p:nvSpPr>
        <p:spPr>
          <a:xfrm>
            <a:off x="475249" y="1111630"/>
            <a:ext cx="420560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Input: Initial price, Final price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Output: IL%, LP value, HODL value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ETH $2k → $3k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IL: -2.0%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Pero si fees = 5% APY: Net positive!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Experimenta con diferentes precios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9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 Yield Comparison</a:t>
            </a:r>
            <a:endParaRPr/>
          </a:p>
        </p:txBody>
      </p:sp>
      <p:sp>
        <p:nvSpPr>
          <p:cNvPr id="532" name="Google Shape;532;p69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3" name="Google Shape;533;p6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34" name="Google Shape;534;p69"/>
          <p:cNvSpPr txBox="1"/>
          <p:nvPr/>
        </p:nvSpPr>
        <p:spPr>
          <a:xfrm>
            <a:off x="475249" y="1111630"/>
            <a:ext cx="512953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Lending (USDC): 5% APY, bajo riesgo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LP stablecoins: 10-20% APY, muy bajo riesgo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LP volátil: 30-100% APY, alto riesgo (IL)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Leverage farming: 100%+ APY, riesgo extremo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Risk-adjusted returns importan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Takeaway: Notebook B</a:t>
            </a:r>
            <a:endParaRPr/>
          </a:p>
        </p:txBody>
      </p:sp>
      <p:sp>
        <p:nvSpPr>
          <p:cNvPr id="540" name="Google Shape;540;p7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1" name="Google Shape;541;p7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42" name="Google Shape;542;p70"/>
          <p:cNvSpPr txBox="1"/>
          <p:nvPr/>
        </p:nvSpPr>
        <p:spPr>
          <a:xfrm>
            <a:off x="475249" y="1111630"/>
            <a:ext cx="587883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IL puede ser significativo en pares volátiles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Fees pueden compensar IL en high-volume pools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Stablecoin LPs: Mejor risk/reward para conservadores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Uniswap v3: Concentrated liquidity aumenta fees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Siempre calcular net return (fees - IL)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1"/>
          <p:cNvSpPr txBox="1"/>
          <p:nvPr>
            <p:ph type="title"/>
          </p:nvPr>
        </p:nvSpPr>
        <p:spPr>
          <a:xfrm>
            <a:off x="2804051" y="2599009"/>
            <a:ext cx="417893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PERPETUAL FUTURES</a:t>
            </a:r>
            <a:endParaRPr sz="3000"/>
          </a:p>
        </p:txBody>
      </p:sp>
      <p:sp>
        <p:nvSpPr>
          <p:cNvPr id="548" name="Google Shape;548;p71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7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2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Son Perpetual Futures?</a:t>
            </a:r>
            <a:endParaRPr/>
          </a:p>
        </p:txBody>
      </p:sp>
      <p:sp>
        <p:nvSpPr>
          <p:cNvPr id="555" name="Google Shape;555;p72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6" name="Google Shape;556;p7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57" name="Google Shape;557;p72"/>
          <p:cNvSpPr txBox="1"/>
          <p:nvPr/>
        </p:nvSpPr>
        <p:spPr>
          <a:xfrm>
            <a:off x="475249" y="1111630"/>
            <a:ext cx="618172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Como futures tradicionales, pero SIN fecha de expiración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Trade BTC, ETH, altcoins con leverage (hasta 100x+)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Inventado por BitMEX (2016)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Volumen: $100B+ diario en CEXs y DEXs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Ahora: Asset class más líquido en crypto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3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Funding Rate: El Mecanismo de Anclaje</a:t>
            </a:r>
            <a:endParaRPr/>
          </a:p>
        </p:txBody>
      </p:sp>
      <p:sp>
        <p:nvSpPr>
          <p:cNvPr id="563" name="Google Shape;563;p73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4" name="Google Shape;564;p7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65" name="Google Shape;565;p73"/>
          <p:cNvSpPr txBox="1"/>
          <p:nvPr/>
        </p:nvSpPr>
        <p:spPr>
          <a:xfrm>
            <a:off x="475249" y="1111630"/>
            <a:ext cx="560514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Problema: Precio perp puede divergir de spot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Solución: Funding rate (pago cada 8h)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Funding positivo: Longs pagan shorts (perp &gt; spot)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Funding negativo: Shorts pagan longs (perp &lt; spot)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Incentivo: Arbitrage mantiene precios alineados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4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Funding Rate: Ejemplo</a:t>
            </a:r>
            <a:endParaRPr/>
          </a:p>
        </p:txBody>
      </p:sp>
      <p:sp>
        <p:nvSpPr>
          <p:cNvPr id="571" name="Google Shape;571;p74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2" name="Google Shape;572;p7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73" name="Google Shape;573;p74"/>
          <p:cNvSpPr txBox="1"/>
          <p:nvPr/>
        </p:nvSpPr>
        <p:spPr>
          <a:xfrm>
            <a:off x="475249" y="1111630"/>
            <a:ext cx="5312410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 spot: $50,000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 perp: $50,100 (premium)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Funding rate: +0.01% cada 8h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Long $10,000 BTC: Pagas $1 cada 8h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Anualizado: +0.01% × 3 × 365 = +10.95% al año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Altos funding rates pueden ser costosos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5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Leverage: Ganancias y Pérdidas Amplificadas</a:t>
            </a:r>
            <a:endParaRPr/>
          </a:p>
        </p:txBody>
      </p:sp>
      <p:sp>
        <p:nvSpPr>
          <p:cNvPr id="579" name="Google Shape;579;p75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0" name="Google Shape;580;p7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81" name="Google Shape;581;p75"/>
          <p:cNvSpPr txBox="1"/>
          <p:nvPr/>
        </p:nvSpPr>
        <p:spPr>
          <a:xfrm>
            <a:off x="475249" y="1111630"/>
            <a:ext cx="619633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Leverage: Controlar posición grande con capital pequeño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$1,000 capital, 10x leverage = $10,000 posición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 sube 5%: Tu PnL = +50% ($500 profit)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BTC baja 5%: Tu PnL = -50% ($500 loss)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Peligro: 10% en contra = -100% (liquidación)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6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Leverage: Tabla de Riesgo</a:t>
            </a:r>
            <a:endParaRPr/>
          </a:p>
        </p:txBody>
      </p:sp>
      <p:sp>
        <p:nvSpPr>
          <p:cNvPr id="587" name="Google Shape;587;p76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8" name="Google Shape;588;p7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89" name="Google Shape;589;p76"/>
          <p:cNvSpPr txBox="1"/>
          <p:nvPr/>
        </p:nvSpPr>
        <p:spPr>
          <a:xfrm>
            <a:off x="475249" y="1111630"/>
            <a:ext cx="4577080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2x leverage: Liquidación -50%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5x leverage: Liquidación -20%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10x leverage: Liquidación -10%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20x leverage: Liquidación -5%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50x leverage: Liquidación -2%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Mayor leverage = Menor margen de error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7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Liquidaciones: El Asesino de Traders</a:t>
            </a:r>
            <a:endParaRPr/>
          </a:p>
        </p:txBody>
      </p:sp>
      <p:sp>
        <p:nvSpPr>
          <p:cNvPr id="595" name="Google Shape;595;p77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6" name="Google Shape;596;p7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597" name="Google Shape;597;p77"/>
          <p:cNvSpPr txBox="1"/>
          <p:nvPr/>
        </p:nvSpPr>
        <p:spPr>
          <a:xfrm>
            <a:off x="475249" y="1111630"/>
            <a:ext cx="528256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Trigger: Pérdida excede maintenance margin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$1k capital, 10x long BTC $50k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BTC cae a $45k (-10%)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Tu posición: -100% → Liquidado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Liquidation engine vende tu posición al mercado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Pierdes TODO el capital (no solo el 10%)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8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Liquidation Cascades</a:t>
            </a:r>
            <a:endParaRPr/>
          </a:p>
        </p:txBody>
      </p:sp>
      <p:sp>
        <p:nvSpPr>
          <p:cNvPr id="603" name="Google Shape;603;p78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4" name="Google Shape;604;p7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05" name="Google Shape;605;p78"/>
          <p:cNvSpPr txBox="1"/>
          <p:nvPr/>
        </p:nvSpPr>
        <p:spPr>
          <a:xfrm>
            <a:off x="475249" y="1111630"/>
            <a:ext cx="648716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Grandes liquidaciones → presión de venta → precio cae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Precio cae → más posiciones liquidadas → más ventas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Cascada: Amplifica volatilidad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Wick events: Flash crash por liquidaciones masivas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Marzo 2020, Mayo 2021 (BTC $30k→$50k→$30k)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9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 Price vs Last Price</a:t>
            </a:r>
            <a:endParaRPr/>
          </a:p>
        </p:txBody>
      </p:sp>
      <p:sp>
        <p:nvSpPr>
          <p:cNvPr id="611" name="Google Shape;611;p79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2" name="Google Shape;612;p7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13" name="Google Shape;613;p79"/>
          <p:cNvSpPr txBox="1"/>
          <p:nvPr/>
        </p:nvSpPr>
        <p:spPr>
          <a:xfrm>
            <a:off x="475249" y="1111630"/>
            <a:ext cx="53828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Last Price: Último trade ejecutado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Mark Price: Index price (promedio de exchanges)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Problema: Last price manipulable (flash crash)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Solución: Liquidaciones usan Mark Price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Funding rate: Basado en premium (Mark - Index)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Interest y Volume</a:t>
            </a:r>
            <a:endParaRPr/>
          </a:p>
        </p:txBody>
      </p:sp>
      <p:sp>
        <p:nvSpPr>
          <p:cNvPr id="619" name="Google Shape;619;p8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0" name="Google Shape;620;p8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21" name="Google Shape;621;p80"/>
          <p:cNvSpPr txBox="1"/>
          <p:nvPr/>
        </p:nvSpPr>
        <p:spPr>
          <a:xfrm>
            <a:off x="475249" y="1111630"/>
            <a:ext cx="53701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Open Interest (OI): Total contratos outstanding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High OI: Posiciones grandes, potencial big move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Volume: Total tradeado en 24h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OI </a:t>
            </a:r>
            <a:r>
              <a:rPr lang="en-US" sz="1800">
                <a:latin typeface="MS PGothic"/>
                <a:ea typeface="MS PGothic"/>
                <a:cs typeface="MS PGothic"/>
                <a:sym typeface="MS PGothic"/>
              </a:rPr>
              <a:t>≫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Volume: Posiciones held (no trading activo)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OI </a:t>
            </a:r>
            <a:r>
              <a:rPr lang="en-US" sz="1800">
                <a:latin typeface="MS PGothic"/>
                <a:ea typeface="MS PGothic"/>
                <a:cs typeface="MS PGothic"/>
                <a:sym typeface="MS PGothic"/>
              </a:rPr>
              <a:t>≪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Volume: High turnover (scalpers, HFT)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8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Trading con Perps</a:t>
            </a:r>
            <a:endParaRPr/>
          </a:p>
        </p:txBody>
      </p:sp>
      <p:sp>
        <p:nvSpPr>
          <p:cNvPr id="627" name="Google Shape;627;p8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8" name="Google Shape;628;p8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29" name="Google Shape;629;p81"/>
          <p:cNvSpPr txBox="1"/>
          <p:nvPr/>
        </p:nvSpPr>
        <p:spPr>
          <a:xfrm>
            <a:off x="475249" y="1111630"/>
            <a:ext cx="511683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9894" lvl="0" marL="4425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Best for: Directional trading, hedging, shorting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necesitas holdear asset físico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Leverage para capital-efficiency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Liquidation risk (especialmente high leverage)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Funding rate costs si posición contra mercado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2"/>
          <p:cNvSpPr txBox="1"/>
          <p:nvPr>
            <p:ph type="title"/>
          </p:nvPr>
        </p:nvSpPr>
        <p:spPr>
          <a:xfrm>
            <a:off x="2514766" y="2599009"/>
            <a:ext cx="475869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HYPERLIQUID PLATFORM</a:t>
            </a:r>
            <a:endParaRPr sz="3000"/>
          </a:p>
        </p:txBody>
      </p:sp>
      <p:sp>
        <p:nvSpPr>
          <p:cNvPr id="635" name="Google Shape;635;p82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8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83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Es Hyperliquid?</a:t>
            </a:r>
            <a:endParaRPr/>
          </a:p>
        </p:txBody>
      </p:sp>
      <p:sp>
        <p:nvSpPr>
          <p:cNvPr id="642" name="Google Shape;642;p83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3" name="Google Shape;643;p8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44" name="Google Shape;644;p83"/>
          <p:cNvSpPr txBox="1"/>
          <p:nvPr/>
        </p:nvSpPr>
        <p:spPr>
          <a:xfrm>
            <a:off x="475249" y="1111630"/>
            <a:ext cx="477139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Native L1 blockchain para perps trading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Orderbook-based (CLOB), no AMM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Fully on-chain: Transparente, non-custodial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Lanzado: 2023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Volumen: $1B+ diario (creciendo rápido)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4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Hyperliquid: Arquitectura</a:t>
            </a:r>
            <a:endParaRPr/>
          </a:p>
        </p:txBody>
      </p:sp>
      <p:sp>
        <p:nvSpPr>
          <p:cNvPr id="650" name="Google Shape;650;p84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1" name="Google Shape;651;p8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52" name="Google Shape;652;p84"/>
          <p:cNvSpPr txBox="1"/>
          <p:nvPr>
            <p:ph idx="1" type="body"/>
          </p:nvPr>
        </p:nvSpPr>
        <p:spPr>
          <a:xfrm>
            <a:off x="475249" y="1111630"/>
            <a:ext cx="54082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HyperBFT consensus (custom PoS)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Validators: 4 inicialmente (descentralizando)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Block time: ~0.2 segundos (ultra-fast)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Gas fees: $0 para traders (subsidio del protocolo)</a:t>
            </a:r>
            <a:endParaRPr/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Todo on-chain: Auditable, transparente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5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Trading Features</a:t>
            </a:r>
            <a:endParaRPr/>
          </a:p>
        </p:txBody>
      </p:sp>
      <p:sp>
        <p:nvSpPr>
          <p:cNvPr id="658" name="Google Shape;658;p85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9" name="Google Shape;659;p8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60" name="Google Shape;660;p85"/>
          <p:cNvSpPr txBox="1"/>
          <p:nvPr/>
        </p:nvSpPr>
        <p:spPr>
          <a:xfrm>
            <a:off x="475249" y="1111630"/>
            <a:ext cx="597217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Assets: 50+ perps (BTC, ETH, altcoins, memecoins)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Leverage: Hasta 50x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Order types: Limit, market, stop-loss, take-profit, TWAP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Maker/taker fees: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Maker: 0.0025% rebate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Taker: 0.035% fee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86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 KYC, Totalmente Permissionless</a:t>
            </a:r>
            <a:endParaRPr/>
          </a:p>
        </p:txBody>
      </p:sp>
      <p:sp>
        <p:nvSpPr>
          <p:cNvPr id="666" name="Google Shape;666;p86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7" name="Google Shape;667;p8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68" name="Google Shape;668;p86"/>
          <p:cNvSpPr txBox="1"/>
          <p:nvPr/>
        </p:nvSpPr>
        <p:spPr>
          <a:xfrm>
            <a:off x="475249" y="1111630"/>
            <a:ext cx="482219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registro: Conecta wallet y tradea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límites geográficos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custodial: Tú controlas fondos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Trade-off: Menor liquidez que Binance/Bybit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Pero: Creciendo rápidamente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7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HLP Vault: Liquidity Provision</a:t>
            </a:r>
            <a:endParaRPr/>
          </a:p>
        </p:txBody>
      </p:sp>
      <p:sp>
        <p:nvSpPr>
          <p:cNvPr id="674" name="Google Shape;674;p87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5" name="Google Shape;675;p8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76" name="Google Shape;676;p87"/>
          <p:cNvSpPr txBox="1"/>
          <p:nvPr/>
        </p:nvSpPr>
        <p:spPr>
          <a:xfrm>
            <a:off x="475249" y="1111630"/>
            <a:ext cx="585152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HLP: Hyperliquid Liquidity Provider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Mecanismo: Depositar USDC → vault es counterparty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Returns: Trading fees + profit cuando traders pierden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Risk: Si traders profit mucho, HLP pierde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APY histórico: 20-50% (variable)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8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HLP: Riesgos y Rewards</a:t>
            </a:r>
            <a:endParaRPr/>
          </a:p>
        </p:txBody>
      </p:sp>
      <p:sp>
        <p:nvSpPr>
          <p:cNvPr id="682" name="Google Shape;682;p88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3" name="Google Shape;683;p8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84" name="Google Shape;684;p88"/>
          <p:cNvSpPr txBox="1"/>
          <p:nvPr/>
        </p:nvSpPr>
        <p:spPr>
          <a:xfrm>
            <a:off x="475249" y="1111630"/>
            <a:ext cx="52685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29894" lvl="0" marL="4425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Earn fees de todos los trades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Profit cuando traders pierden (mayoría pierden)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Diversificación: Exposición a todo el mercado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Drawdown si traders tienen rally masivo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429894" lvl="0" marL="442594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Smart contract risk (protocolo nuevo)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9"/>
          <p:cNvSpPr txBox="1"/>
          <p:nvPr>
            <p:ph type="title"/>
          </p:nvPr>
        </p:nvSpPr>
        <p:spPr>
          <a:xfrm>
            <a:off x="384725" y="503825"/>
            <a:ext cx="20332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HYPE Token</a:t>
            </a:r>
            <a:endParaRPr/>
          </a:p>
        </p:txBody>
      </p:sp>
      <p:sp>
        <p:nvSpPr>
          <p:cNvPr id="690" name="Google Shape;690;p89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1" name="Google Shape;691;p8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692" name="Google Shape;692;p89"/>
          <p:cNvSpPr txBox="1"/>
          <p:nvPr/>
        </p:nvSpPr>
        <p:spPr>
          <a:xfrm>
            <a:off x="475249" y="1111630"/>
            <a:ext cx="4925695" cy="310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Native token lanzado Diciembre 2024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Utility: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Fee discounts (staking HYPE)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Governance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HLP staking (boost APY)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Distribution: Airdrop a early users, emissions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Token economics: Deflationary (fees burned)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HYPE Tokenomics</a:t>
            </a:r>
            <a:endParaRPr/>
          </a:p>
        </p:txBody>
      </p:sp>
      <p:sp>
        <p:nvSpPr>
          <p:cNvPr id="698" name="Google Shape;698;p9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9" name="Google Shape;699;p9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00" name="Google Shape;700;p90"/>
          <p:cNvSpPr txBox="1"/>
          <p:nvPr/>
        </p:nvSpPr>
        <p:spPr>
          <a:xfrm>
            <a:off x="475249" y="1111630"/>
            <a:ext cx="476059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Supply: 1B tokens (max)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Airdrop: 31% a users (Diciembre 2024)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Emissions: 38% over 5 years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Team/investors: 31% (vesting)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Fee burn: Deflacionario en long-term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Objetivo: Alinear incentivos users/protocolo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9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Hyperliquid vs Competencia</a:t>
            </a:r>
            <a:endParaRPr/>
          </a:p>
        </p:txBody>
      </p:sp>
      <p:sp>
        <p:nvSpPr>
          <p:cNvPr id="706" name="Google Shape;706;p9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7" name="Google Shape;707;p9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08" name="Google Shape;708;p91"/>
          <p:cNvSpPr txBox="1"/>
          <p:nvPr/>
        </p:nvSpPr>
        <p:spPr>
          <a:xfrm>
            <a:off x="475249" y="1111630"/>
            <a:ext cx="578929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vs Binance/Bybit: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KYC, transparente Menor liquidez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vs dYdX: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Más rápido, fees menores Menos maduro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vs GMX: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Orderbook (no AMM), menos slippage Más complejo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2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 Qué Hyperliquid Es Interesante</a:t>
            </a:r>
            <a:endParaRPr/>
          </a:p>
        </p:txBody>
      </p:sp>
      <p:sp>
        <p:nvSpPr>
          <p:cNvPr id="714" name="Google Shape;714;p92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5" name="Google Shape;715;p9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16" name="Google Shape;716;p92"/>
          <p:cNvSpPr txBox="1"/>
          <p:nvPr/>
        </p:nvSpPr>
        <p:spPr>
          <a:xfrm>
            <a:off x="475249" y="1111630"/>
            <a:ext cx="493776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Fully on-chain pero performance de CEX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Crecimiento explosivo (2023-2024)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Innovación: Native L1 para trading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Community-driven: Airdrops generosos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Riesgo: Protocolo joven, menos battle-tested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93"/>
          <p:cNvSpPr txBox="1"/>
          <p:nvPr>
            <p:ph type="title"/>
          </p:nvPr>
        </p:nvSpPr>
        <p:spPr>
          <a:xfrm>
            <a:off x="3654325" y="2599009"/>
            <a:ext cx="247840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LIVE DEMO C</a:t>
            </a:r>
            <a:endParaRPr sz="3000"/>
          </a:p>
        </p:txBody>
      </p:sp>
      <p:sp>
        <p:nvSpPr>
          <p:cNvPr id="722" name="Google Shape;722;p93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9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4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Notebook C: Funding Rates &amp; Hyperliquid</a:t>
            </a:r>
            <a:endParaRPr/>
          </a:p>
        </p:txBody>
      </p:sp>
      <p:sp>
        <p:nvSpPr>
          <p:cNvPr id="729" name="Google Shape;729;p94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0" name="Google Shape;730;p9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31" name="Google Shape;731;p94"/>
          <p:cNvSpPr txBox="1"/>
          <p:nvPr/>
        </p:nvSpPr>
        <p:spPr>
          <a:xfrm>
            <a:off x="475249" y="1111630"/>
            <a:ext cx="5967730" cy="1703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Objetivo: Analizar funding rates y calcular liquidaciones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API: Hyperliquid public endpoints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Análisis: 30 días de funding rates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Output: Funding rate charts, liquidation calculator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5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Visualizaciones en Notebook C</a:t>
            </a:r>
            <a:endParaRPr/>
          </a:p>
        </p:txBody>
      </p:sp>
      <p:sp>
        <p:nvSpPr>
          <p:cNvPr id="737" name="Google Shape;737;p95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8" name="Google Shape;738;p9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39" name="Google Shape;739;p95"/>
          <p:cNvSpPr txBox="1"/>
          <p:nvPr/>
        </p:nvSpPr>
        <p:spPr>
          <a:xfrm>
            <a:off x="475249" y="1111630"/>
            <a:ext cx="6229350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Grupo 1: Current funding rates (3 charts)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Rankings, annualized, OI vs volume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Grupo 2: Historical analysis (3 charts)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Time series, cumulative payments, distribution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Grupo 3: Trading insights (4 charts)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Funding vs price, liquidation heatmap, regimes, backtest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6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Funding Rate Analysis</a:t>
            </a:r>
            <a:endParaRPr/>
          </a:p>
        </p:txBody>
      </p:sp>
      <p:sp>
        <p:nvSpPr>
          <p:cNvPr id="745" name="Google Shape;745;p96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6" name="Google Shape;746;p9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47" name="Google Shape;747;p96"/>
          <p:cNvSpPr txBox="1"/>
          <p:nvPr/>
        </p:nvSpPr>
        <p:spPr>
          <a:xfrm>
            <a:off x="475249" y="1111630"/>
            <a:ext cx="5521960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Fetch: Current funding rates (all assets)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Interpretation: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High positive: Mercado muy bullish (longs pagan)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High negative: Mercado bearish (shorts pagan)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Neutral: Equilibrio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Strategy: Fade extremes (contrarian)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7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Liquidation Calculator</a:t>
            </a:r>
            <a:endParaRPr/>
          </a:p>
        </p:txBody>
      </p:sp>
      <p:sp>
        <p:nvSpPr>
          <p:cNvPr id="753" name="Google Shape;753;p97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4" name="Google Shape;754;p9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55" name="Google Shape;755;p97"/>
          <p:cNvSpPr txBox="1"/>
          <p:nvPr/>
        </p:nvSpPr>
        <p:spPr>
          <a:xfrm>
            <a:off x="475249" y="1111630"/>
            <a:ext cx="452945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Input: Entry price, leverage, position type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Output: Liquidation price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Long BTC $50k, 10x leverage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Liquidación: $45k (-10% move)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Tool interactivo para estudiantes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8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Funding vs Price Correlation</a:t>
            </a:r>
            <a:endParaRPr/>
          </a:p>
        </p:txBody>
      </p:sp>
      <p:sp>
        <p:nvSpPr>
          <p:cNvPr id="761" name="Google Shape;761;p98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2" name="Google Shape;762;p9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63" name="Google Shape;763;p98"/>
          <p:cNvSpPr txBox="1"/>
          <p:nvPr/>
        </p:nvSpPr>
        <p:spPr>
          <a:xfrm>
            <a:off x="475249" y="1111630"/>
            <a:ext cx="641159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Observación: High funding a menudo precede correcciones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Razón: Mercado sobre-apalancado en una dirección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Trading signal: Extreme funding = contrarian opportunity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Backtest: Estrategia de funding rate arbitrage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Resultado: Modesto pero consistente alpha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99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Takeaway: Notebook C</a:t>
            </a:r>
            <a:endParaRPr/>
          </a:p>
        </p:txBody>
      </p:sp>
      <p:sp>
        <p:nvSpPr>
          <p:cNvPr id="769" name="Google Shape;769;p99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0" name="Google Shape;770;p9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71" name="Google Shape;771;p99"/>
          <p:cNvSpPr txBox="1"/>
          <p:nvPr/>
        </p:nvSpPr>
        <p:spPr>
          <a:xfrm>
            <a:off x="475249" y="1111630"/>
            <a:ext cx="602869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Funding rates revelan sentiment del mercado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High funding = Riesgo de corrección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Liquidation calculator: SIEMPRE úsalo antes de tradear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Hyperliquid API: Fácil de usar para análisis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Data on-chain: Totalmente transparente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0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Hyperliquid Platform: Demo en Vivo</a:t>
            </a:r>
            <a:endParaRPr/>
          </a:p>
        </p:txBody>
      </p:sp>
      <p:sp>
        <p:nvSpPr>
          <p:cNvPr id="777" name="Google Shape;777;p10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8" name="Google Shape;778;p10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79" name="Google Shape;779;p100"/>
          <p:cNvSpPr txBox="1"/>
          <p:nvPr/>
        </p:nvSpPr>
        <p:spPr>
          <a:xfrm>
            <a:off x="475249" y="1111630"/>
            <a:ext cx="430339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Abrir: app.hyperliquid.xyz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Conectar wallet (MetaMask, etc)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UI tour: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Order book (bids/asks)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Chart (TradingView)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Position panel (PnL, liquidation price)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0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Colocar Order (No Ejecutar)</a:t>
            </a:r>
            <a:endParaRPr/>
          </a:p>
        </p:txBody>
      </p:sp>
      <p:sp>
        <p:nvSpPr>
          <p:cNvPr id="785" name="Google Shape;785;p10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6" name="Google Shape;786;p10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87" name="Google Shape;787;p101"/>
          <p:cNvSpPr txBox="1"/>
          <p:nvPr/>
        </p:nvSpPr>
        <p:spPr>
          <a:xfrm>
            <a:off x="475249" y="1111630"/>
            <a:ext cx="444182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Demo: Limit order en BTC perp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Input: Size, price, leverage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Mostrar: Liquidation price automático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Mostrar: Funding rate actual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ejecutar: Solo demostración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Emphasize: Esto NO es financial advice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02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HLP Vault y HYPE Stats</a:t>
            </a:r>
            <a:endParaRPr/>
          </a:p>
        </p:txBody>
      </p:sp>
      <p:sp>
        <p:nvSpPr>
          <p:cNvPr id="793" name="Google Shape;793;p102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2554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4" name="Google Shape;794;p10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795" name="Google Shape;795;p102"/>
          <p:cNvSpPr txBox="1"/>
          <p:nvPr/>
        </p:nvSpPr>
        <p:spPr>
          <a:xfrm>
            <a:off x="475249" y="1111630"/>
            <a:ext cx="42926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Navegar a: HLP vault page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Mostrar: Current APY (~30-40%)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Explicar: De dónde viene el yield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Mostrar: HYPE token price y staking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Discutir: Trade-offs de ser LP en perps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03"/>
          <p:cNvSpPr txBox="1"/>
          <p:nvPr>
            <p:ph type="title"/>
          </p:nvPr>
        </p:nvSpPr>
        <p:spPr>
          <a:xfrm>
            <a:off x="2454398" y="2599009"/>
            <a:ext cx="487362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WRAP UP Y ESTRATEGIAS</a:t>
            </a:r>
            <a:endParaRPr sz="3000"/>
          </a:p>
        </p:txBody>
      </p:sp>
      <p:sp>
        <p:nvSpPr>
          <p:cNvPr id="801" name="Google Shape;801;p103"/>
          <p:cNvSpPr txBox="1"/>
          <p:nvPr/>
        </p:nvSpPr>
        <p:spPr>
          <a:xfrm>
            <a:off x="8842006" y="4697180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103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04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Construcción de Portfolio de Stablecoins</a:t>
            </a:r>
            <a:endParaRPr/>
          </a:p>
        </p:txBody>
      </p:sp>
      <p:sp>
        <p:nvSpPr>
          <p:cNvPr id="808" name="Google Shape;808;p104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9" name="Google Shape;809;p104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10" name="Google Shape;810;p104"/>
          <p:cNvSpPr txBox="1"/>
          <p:nvPr/>
        </p:nvSpPr>
        <p:spPr>
          <a:xfrm>
            <a:off x="475249" y="1111630"/>
            <a:ext cx="5735320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Conservative: 70% USDC, 20% DAI, 10% FRAX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Enfoque: Seguridad máxima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Moderate: 50% USDC, 30% DAI, 20% LUSD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Balance: Seguridad + descentralización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Aggressive: 40% USDC, 30% FRAX, 30% DeFi yield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Mayor yield, mayor riesgo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5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Estrategias de DeFi Yield</a:t>
            </a:r>
            <a:endParaRPr/>
          </a:p>
        </p:txBody>
      </p:sp>
      <p:sp>
        <p:nvSpPr>
          <p:cNvPr id="816" name="Google Shape;816;p105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7" name="Google Shape;817;p105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18" name="Google Shape;818;p105"/>
          <p:cNvSpPr txBox="1"/>
          <p:nvPr/>
        </p:nvSpPr>
        <p:spPr>
          <a:xfrm>
            <a:off x="475249" y="1111630"/>
            <a:ext cx="4945380" cy="310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Lending (conservador): 5-8% APY en stables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Riesgo: Bajo (smart contract)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LP stablecoin pairs: 10-20% APY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Riesgo: Muy bajo (casi sin IL)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LP volatile pairs: 30-100% APY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Riesgo: Alto (IL significativo)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Leverage farming: 100%+ APY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06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 Yield: Risk-Adjusted Returns</a:t>
            </a:r>
            <a:endParaRPr/>
          </a:p>
        </p:txBody>
      </p:sp>
      <p:sp>
        <p:nvSpPr>
          <p:cNvPr id="824" name="Google Shape;824;p106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p106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26" name="Google Shape;826;p106"/>
          <p:cNvSpPr txBox="1"/>
          <p:nvPr/>
        </p:nvSpPr>
        <p:spPr>
          <a:xfrm>
            <a:off x="475249" y="1111630"/>
            <a:ext cx="4098925" cy="310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solo mirar APY nominal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Considerar: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Impermanent Loss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Smart contract risk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Liquidation risk (si leveraged)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Protocol maturity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Sharpe ratio approach: Return / Risk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07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Risk Management: Position Sizing</a:t>
            </a:r>
            <a:endParaRPr/>
          </a:p>
        </p:txBody>
      </p:sp>
      <p:sp>
        <p:nvSpPr>
          <p:cNvPr id="832" name="Google Shape;832;p107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102</a:t>
            </a:r>
            <a:endParaRPr/>
          </a:p>
        </p:txBody>
      </p:sp>
      <p:sp>
        <p:nvSpPr>
          <p:cNvPr id="833" name="Google Shape;833;p107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34" name="Google Shape;834;p107"/>
          <p:cNvSpPr txBox="1"/>
          <p:nvPr/>
        </p:nvSpPr>
        <p:spPr>
          <a:xfrm>
            <a:off x="475249" y="1111630"/>
            <a:ext cx="532955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Ejemplo: $10,000 portfolio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Conservative: $100 por trade (1%), 2x leverage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Moderate: $500 (5%), 3x leverage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Aggressive: $1,000 (10%), 5x leverage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NUNCA all-in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NUNCA use más de 10% en una posición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08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Funding Rate Strategy</a:t>
            </a:r>
            <a:endParaRPr/>
          </a:p>
        </p:txBody>
      </p:sp>
      <p:sp>
        <p:nvSpPr>
          <p:cNvPr id="840" name="Google Shape;840;p108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103</a:t>
            </a:r>
            <a:endParaRPr/>
          </a:p>
        </p:txBody>
      </p:sp>
      <p:sp>
        <p:nvSpPr>
          <p:cNvPr id="841" name="Google Shape;841;p108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42" name="Google Shape;842;p108"/>
          <p:cNvSpPr txBox="1"/>
          <p:nvPr/>
        </p:nvSpPr>
        <p:spPr>
          <a:xfrm>
            <a:off x="475249" y="1111630"/>
            <a:ext cx="4685665" cy="310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 funding muy positivo (&gt;0.05% cada 8h):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Mercado overheated (demasiados longs)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Considerar short o esperar corrección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 funding muy negativo (&lt;-0.05%):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Mercado oversold (demasiados shorts)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Considerar long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Neutral funding: Sin sesgo claro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09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Homework: Notebook D</a:t>
            </a:r>
            <a:endParaRPr/>
          </a:p>
        </p:txBody>
      </p:sp>
      <p:sp>
        <p:nvSpPr>
          <p:cNvPr id="848" name="Google Shape;848;p109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104</a:t>
            </a:r>
            <a:endParaRPr/>
          </a:p>
        </p:txBody>
      </p:sp>
      <p:sp>
        <p:nvSpPr>
          <p:cNvPr id="849" name="Google Shape;849;p109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50" name="Google Shape;850;p109"/>
          <p:cNvSpPr txBox="1"/>
          <p:nvPr/>
        </p:nvSpPr>
        <p:spPr>
          <a:xfrm>
            <a:off x="475249" y="1111630"/>
            <a:ext cx="4645660" cy="310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Portfolio Optimization (Monte Carlo)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Tareas: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1. Crear portfolio con 3-5 crypto assets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2. Optimizar para max Sharpe ratio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3. Run Monte Carlo (1,000+ simulations)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4. Calcular VaR y CVaR (95%)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5. Comparar con equal-weight benchmark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10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Takeaways: Clase II</a:t>
            </a:r>
            <a:endParaRPr/>
          </a:p>
        </p:txBody>
      </p:sp>
      <p:sp>
        <p:nvSpPr>
          <p:cNvPr id="856" name="Google Shape;856;p110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105</a:t>
            </a:r>
            <a:endParaRPr/>
          </a:p>
        </p:txBody>
      </p:sp>
      <p:sp>
        <p:nvSpPr>
          <p:cNvPr id="857" name="Google Shape;857;p110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58" name="Google Shape;858;p110"/>
          <p:cNvSpPr txBox="1"/>
          <p:nvPr/>
        </p:nvSpPr>
        <p:spPr>
          <a:xfrm>
            <a:off x="475249" y="1111630"/>
            <a:ext cx="6727825" cy="263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Stablecoins NO son risk-free: Evaluar mecanismo y depeg risk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DeFi ofrece yield, pero entender IL y smart contract risk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Perps amplifican ganancias Y pérdidas: Leverage con cautela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Hyperliquid: Plataforma prometedora pero aún madurando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SIEMPRE calcular risk-adjusted returns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Diversificación es clave en todos los niveles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11"/>
          <p:cNvSpPr txBox="1"/>
          <p:nvPr>
            <p:ph type="title"/>
          </p:nvPr>
        </p:nvSpPr>
        <p:spPr>
          <a:xfrm>
            <a:off x="384725" y="503825"/>
            <a:ext cx="7292340" cy="45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Próxima Clase: Preview</a:t>
            </a:r>
            <a:endParaRPr/>
          </a:p>
        </p:txBody>
      </p:sp>
      <p:sp>
        <p:nvSpPr>
          <p:cNvPr id="864" name="Google Shape;864;p111"/>
          <p:cNvSpPr txBox="1"/>
          <p:nvPr>
            <p:ph idx="12" type="sldNum"/>
          </p:nvPr>
        </p:nvSpPr>
        <p:spPr>
          <a:xfrm>
            <a:off x="8647030" y="4697180"/>
            <a:ext cx="343534" cy="196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106</a:t>
            </a:r>
            <a:endParaRPr/>
          </a:p>
        </p:txBody>
      </p:sp>
      <p:sp>
        <p:nvSpPr>
          <p:cNvPr id="865" name="Google Shape;865;p111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  <p:sp>
        <p:nvSpPr>
          <p:cNvPr id="866" name="Google Shape;866;p111"/>
          <p:cNvSpPr txBox="1"/>
          <p:nvPr/>
        </p:nvSpPr>
        <p:spPr>
          <a:xfrm>
            <a:off x="475249" y="1111630"/>
            <a:ext cx="5340985" cy="3107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Clase III: Trading Strategies &amp; Technical Analysis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Contenido Tentativo: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Análisis macro (indicators, patterns)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Backtesting strategies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Risk management avanzado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Market microstructure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- Live trading session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1" name="Google Shape;871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387" y="163850"/>
            <a:ext cx="4352925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112"/>
          <p:cNvSpPr txBox="1"/>
          <p:nvPr/>
        </p:nvSpPr>
        <p:spPr>
          <a:xfrm>
            <a:off x="8710921" y="4778067"/>
            <a:ext cx="23749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106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12"/>
          <p:cNvSpPr txBox="1"/>
          <p:nvPr>
            <p:ph idx="11" type="ftr"/>
          </p:nvPr>
        </p:nvSpPr>
        <p:spPr>
          <a:xfrm>
            <a:off x="63500" y="4807050"/>
            <a:ext cx="871855" cy="18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9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Matias Selser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
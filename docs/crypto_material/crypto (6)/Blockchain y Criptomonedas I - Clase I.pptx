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5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5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5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6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6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6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6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6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6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6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6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6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6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6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6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7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7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7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7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7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7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7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7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7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7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7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7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7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7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7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7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7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8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8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8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8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8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8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8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8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8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8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8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8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8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8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8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8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8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8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8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9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9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9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9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9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9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9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9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9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9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9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9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9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9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9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9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9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9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9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9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10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0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10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0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10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0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10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0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0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0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0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0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0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0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0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0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0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0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0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0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1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11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11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11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1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1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11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11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11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11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12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2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12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2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2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2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12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2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12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2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12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2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12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2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12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2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12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2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12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2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13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3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13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3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13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3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13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3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13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3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3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3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13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3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13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3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13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3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384725" y="505248"/>
            <a:ext cx="6323330"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280850" y="1046045"/>
            <a:ext cx="8389620" cy="331152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6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 name="Google Shape;16;p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1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2" type="sldNum"/>
          </p:nvPr>
        </p:nvSpPr>
        <p:spPr>
          <a:xfrm>
            <a:off x="8710921" y="4778067"/>
            <a:ext cx="275590" cy="167639"/>
          </a:xfrm>
          <a:prstGeom prst="rect">
            <a:avLst/>
          </a:prstGeom>
          <a:noFill/>
          <a:ln>
            <a:noFill/>
          </a:ln>
        </p:spPr>
        <p:txBody>
          <a:bodyPr anchorCtr="0" anchor="t" bIns="0" lIns="0" spcFirstLastPara="1" rIns="0" wrap="square" tIns="0">
            <a:spAutoFit/>
          </a:bodyPr>
          <a:lstStyle>
            <a:lvl1pPr indent="0" lvl="0" marL="12700">
              <a:lnSpc>
                <a:spcPct val="100000"/>
              </a:lnSpc>
              <a:spcBef>
                <a:spcPts val="0"/>
              </a:spcBef>
              <a:buNone/>
              <a:defRPr b="0" i="0" sz="1000">
                <a:solidFill>
                  <a:schemeClr val="lt1"/>
                </a:solidFill>
                <a:latin typeface="Arial"/>
                <a:ea typeface="Arial"/>
                <a:cs typeface="Arial"/>
                <a:sym typeface="Arial"/>
              </a:defRPr>
            </a:lvl1pPr>
            <a:lvl2pPr indent="0" lvl="1" marL="12700">
              <a:lnSpc>
                <a:spcPct val="100000"/>
              </a:lnSpc>
              <a:spcBef>
                <a:spcPts val="0"/>
              </a:spcBef>
              <a:buNone/>
              <a:defRPr b="0" i="0" sz="1000">
                <a:solidFill>
                  <a:schemeClr val="lt1"/>
                </a:solidFill>
                <a:latin typeface="Arial"/>
                <a:ea typeface="Arial"/>
                <a:cs typeface="Arial"/>
                <a:sym typeface="Arial"/>
              </a:defRPr>
            </a:lvl2pPr>
            <a:lvl3pPr indent="0" lvl="2" marL="12700">
              <a:lnSpc>
                <a:spcPct val="100000"/>
              </a:lnSpc>
              <a:spcBef>
                <a:spcPts val="0"/>
              </a:spcBef>
              <a:buNone/>
              <a:defRPr b="0" i="0" sz="1000">
                <a:solidFill>
                  <a:schemeClr val="lt1"/>
                </a:solidFill>
                <a:latin typeface="Arial"/>
                <a:ea typeface="Arial"/>
                <a:cs typeface="Arial"/>
                <a:sym typeface="Arial"/>
              </a:defRPr>
            </a:lvl3pPr>
            <a:lvl4pPr indent="0" lvl="3" marL="12700">
              <a:lnSpc>
                <a:spcPct val="100000"/>
              </a:lnSpc>
              <a:spcBef>
                <a:spcPts val="0"/>
              </a:spcBef>
              <a:buNone/>
              <a:defRPr b="0" i="0" sz="1000">
                <a:solidFill>
                  <a:schemeClr val="lt1"/>
                </a:solidFill>
                <a:latin typeface="Arial"/>
                <a:ea typeface="Arial"/>
                <a:cs typeface="Arial"/>
                <a:sym typeface="Arial"/>
              </a:defRPr>
            </a:lvl4pPr>
            <a:lvl5pPr indent="0" lvl="4" marL="12700">
              <a:lnSpc>
                <a:spcPct val="100000"/>
              </a:lnSpc>
              <a:spcBef>
                <a:spcPts val="0"/>
              </a:spcBef>
              <a:buNone/>
              <a:defRPr b="0" i="0" sz="1000">
                <a:solidFill>
                  <a:schemeClr val="lt1"/>
                </a:solidFill>
                <a:latin typeface="Arial"/>
                <a:ea typeface="Arial"/>
                <a:cs typeface="Arial"/>
                <a:sym typeface="Arial"/>
              </a:defRPr>
            </a:lvl5pPr>
            <a:lvl6pPr indent="0" lvl="5" marL="12700">
              <a:lnSpc>
                <a:spcPct val="100000"/>
              </a:lnSpc>
              <a:spcBef>
                <a:spcPts val="0"/>
              </a:spcBef>
              <a:buNone/>
              <a:defRPr b="0" i="0" sz="1000">
                <a:solidFill>
                  <a:schemeClr val="lt1"/>
                </a:solidFill>
                <a:latin typeface="Arial"/>
                <a:ea typeface="Arial"/>
                <a:cs typeface="Arial"/>
                <a:sym typeface="Arial"/>
              </a:defRPr>
            </a:lvl6pPr>
            <a:lvl7pPr indent="0" lvl="6" marL="12700">
              <a:lnSpc>
                <a:spcPct val="100000"/>
              </a:lnSpc>
              <a:spcBef>
                <a:spcPts val="0"/>
              </a:spcBef>
              <a:buNone/>
              <a:defRPr b="0" i="0" sz="1000">
                <a:solidFill>
                  <a:schemeClr val="lt1"/>
                </a:solidFill>
                <a:latin typeface="Arial"/>
                <a:ea typeface="Arial"/>
                <a:cs typeface="Arial"/>
                <a:sym typeface="Arial"/>
              </a:defRPr>
            </a:lvl7pPr>
            <a:lvl8pPr indent="0" lvl="7" marL="12700">
              <a:lnSpc>
                <a:spcPct val="100000"/>
              </a:lnSpc>
              <a:spcBef>
                <a:spcPts val="0"/>
              </a:spcBef>
              <a:buNone/>
              <a:defRPr b="0" i="0" sz="1000">
                <a:solidFill>
                  <a:schemeClr val="lt1"/>
                </a:solidFill>
                <a:latin typeface="Arial"/>
                <a:ea typeface="Arial"/>
                <a:cs typeface="Arial"/>
                <a:sym typeface="Arial"/>
              </a:defRPr>
            </a:lvl8pPr>
            <a:lvl9pPr indent="0" lvl="8" marL="12700">
              <a:lnSpc>
                <a:spcPct val="100000"/>
              </a:lnSpc>
              <a:spcBef>
                <a:spcPts val="0"/>
              </a:spcBef>
              <a:buNone/>
              <a:defRPr b="0" i="0" sz="1000">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9" name="Shape 19"/>
        <p:cNvGrpSpPr/>
        <p:nvPr/>
      </p:nvGrpSpPr>
      <p:grpSpPr>
        <a:xfrm>
          <a:off x="0" y="0"/>
          <a:ext cx="0" cy="0"/>
          <a:chOff x="0" y="0"/>
          <a:chExt cx="0" cy="0"/>
        </a:xfrm>
      </p:grpSpPr>
      <p:sp>
        <p:nvSpPr>
          <p:cNvPr id="20" name="Google Shape;20;p3"/>
          <p:cNvSpPr txBox="1"/>
          <p:nvPr>
            <p:ph type="title"/>
          </p:nvPr>
        </p:nvSpPr>
        <p:spPr>
          <a:xfrm>
            <a:off x="384725" y="505248"/>
            <a:ext cx="6323330"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1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2" type="sldNum"/>
          </p:nvPr>
        </p:nvSpPr>
        <p:spPr>
          <a:xfrm>
            <a:off x="8710921" y="4778067"/>
            <a:ext cx="275590" cy="167639"/>
          </a:xfrm>
          <a:prstGeom prst="rect">
            <a:avLst/>
          </a:prstGeom>
          <a:noFill/>
          <a:ln>
            <a:noFill/>
          </a:ln>
        </p:spPr>
        <p:txBody>
          <a:bodyPr anchorCtr="0" anchor="t" bIns="0" lIns="0" spcFirstLastPara="1" rIns="0" wrap="square" tIns="0">
            <a:spAutoFit/>
          </a:bodyPr>
          <a:lstStyle>
            <a:lvl1pPr indent="0" lvl="0" marL="12700">
              <a:lnSpc>
                <a:spcPct val="100000"/>
              </a:lnSpc>
              <a:spcBef>
                <a:spcPts val="0"/>
              </a:spcBef>
              <a:buNone/>
              <a:defRPr b="0" i="0" sz="1000">
                <a:solidFill>
                  <a:schemeClr val="lt1"/>
                </a:solidFill>
                <a:latin typeface="Arial"/>
                <a:ea typeface="Arial"/>
                <a:cs typeface="Arial"/>
                <a:sym typeface="Arial"/>
              </a:defRPr>
            </a:lvl1pPr>
            <a:lvl2pPr indent="0" lvl="1" marL="12700">
              <a:lnSpc>
                <a:spcPct val="100000"/>
              </a:lnSpc>
              <a:spcBef>
                <a:spcPts val="0"/>
              </a:spcBef>
              <a:buNone/>
              <a:defRPr b="0" i="0" sz="1000">
                <a:solidFill>
                  <a:schemeClr val="lt1"/>
                </a:solidFill>
                <a:latin typeface="Arial"/>
                <a:ea typeface="Arial"/>
                <a:cs typeface="Arial"/>
                <a:sym typeface="Arial"/>
              </a:defRPr>
            </a:lvl2pPr>
            <a:lvl3pPr indent="0" lvl="2" marL="12700">
              <a:lnSpc>
                <a:spcPct val="100000"/>
              </a:lnSpc>
              <a:spcBef>
                <a:spcPts val="0"/>
              </a:spcBef>
              <a:buNone/>
              <a:defRPr b="0" i="0" sz="1000">
                <a:solidFill>
                  <a:schemeClr val="lt1"/>
                </a:solidFill>
                <a:latin typeface="Arial"/>
                <a:ea typeface="Arial"/>
                <a:cs typeface="Arial"/>
                <a:sym typeface="Arial"/>
              </a:defRPr>
            </a:lvl3pPr>
            <a:lvl4pPr indent="0" lvl="3" marL="12700">
              <a:lnSpc>
                <a:spcPct val="100000"/>
              </a:lnSpc>
              <a:spcBef>
                <a:spcPts val="0"/>
              </a:spcBef>
              <a:buNone/>
              <a:defRPr b="0" i="0" sz="1000">
                <a:solidFill>
                  <a:schemeClr val="lt1"/>
                </a:solidFill>
                <a:latin typeface="Arial"/>
                <a:ea typeface="Arial"/>
                <a:cs typeface="Arial"/>
                <a:sym typeface="Arial"/>
              </a:defRPr>
            </a:lvl4pPr>
            <a:lvl5pPr indent="0" lvl="4" marL="12700">
              <a:lnSpc>
                <a:spcPct val="100000"/>
              </a:lnSpc>
              <a:spcBef>
                <a:spcPts val="0"/>
              </a:spcBef>
              <a:buNone/>
              <a:defRPr b="0" i="0" sz="1000">
                <a:solidFill>
                  <a:schemeClr val="lt1"/>
                </a:solidFill>
                <a:latin typeface="Arial"/>
                <a:ea typeface="Arial"/>
                <a:cs typeface="Arial"/>
                <a:sym typeface="Arial"/>
              </a:defRPr>
            </a:lvl5pPr>
            <a:lvl6pPr indent="0" lvl="5" marL="12700">
              <a:lnSpc>
                <a:spcPct val="100000"/>
              </a:lnSpc>
              <a:spcBef>
                <a:spcPts val="0"/>
              </a:spcBef>
              <a:buNone/>
              <a:defRPr b="0" i="0" sz="1000">
                <a:solidFill>
                  <a:schemeClr val="lt1"/>
                </a:solidFill>
                <a:latin typeface="Arial"/>
                <a:ea typeface="Arial"/>
                <a:cs typeface="Arial"/>
                <a:sym typeface="Arial"/>
              </a:defRPr>
            </a:lvl6pPr>
            <a:lvl7pPr indent="0" lvl="6" marL="12700">
              <a:lnSpc>
                <a:spcPct val="100000"/>
              </a:lnSpc>
              <a:spcBef>
                <a:spcPts val="0"/>
              </a:spcBef>
              <a:buNone/>
              <a:defRPr b="0" i="0" sz="1000">
                <a:solidFill>
                  <a:schemeClr val="lt1"/>
                </a:solidFill>
                <a:latin typeface="Arial"/>
                <a:ea typeface="Arial"/>
                <a:cs typeface="Arial"/>
                <a:sym typeface="Arial"/>
              </a:defRPr>
            </a:lvl7pPr>
            <a:lvl8pPr indent="0" lvl="7" marL="12700">
              <a:lnSpc>
                <a:spcPct val="100000"/>
              </a:lnSpc>
              <a:spcBef>
                <a:spcPts val="0"/>
              </a:spcBef>
              <a:buNone/>
              <a:defRPr b="0" i="0" sz="1000">
                <a:solidFill>
                  <a:schemeClr val="lt1"/>
                </a:solidFill>
                <a:latin typeface="Arial"/>
                <a:ea typeface="Arial"/>
                <a:cs typeface="Arial"/>
                <a:sym typeface="Arial"/>
              </a:defRPr>
            </a:lvl8pPr>
            <a:lvl9pPr indent="0" lvl="8" marL="12700">
              <a:lnSpc>
                <a:spcPct val="100000"/>
              </a:lnSpc>
              <a:spcBef>
                <a:spcPts val="0"/>
              </a:spcBef>
              <a:buNone/>
              <a:defRPr b="0" i="0" sz="1000">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4" name="Shape 24"/>
        <p:cNvGrpSpPr/>
        <p:nvPr/>
      </p:nvGrpSpPr>
      <p:grpSpPr>
        <a:xfrm>
          <a:off x="0" y="0"/>
          <a:ext cx="0" cy="0"/>
          <a:chOff x="0" y="0"/>
          <a:chExt cx="0" cy="0"/>
        </a:xfrm>
      </p:grpSpPr>
      <p:sp>
        <p:nvSpPr>
          <p:cNvPr id="25" name="Google Shape;25;p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1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2" type="sldNum"/>
          </p:nvPr>
        </p:nvSpPr>
        <p:spPr>
          <a:xfrm>
            <a:off x="8710921" y="4778067"/>
            <a:ext cx="275590" cy="167639"/>
          </a:xfrm>
          <a:prstGeom prst="rect">
            <a:avLst/>
          </a:prstGeom>
          <a:noFill/>
          <a:ln>
            <a:noFill/>
          </a:ln>
        </p:spPr>
        <p:txBody>
          <a:bodyPr anchorCtr="0" anchor="t" bIns="0" lIns="0" spcFirstLastPara="1" rIns="0" wrap="square" tIns="0">
            <a:spAutoFit/>
          </a:bodyPr>
          <a:lstStyle>
            <a:lvl1pPr indent="0" lvl="0" marL="12700">
              <a:lnSpc>
                <a:spcPct val="100000"/>
              </a:lnSpc>
              <a:spcBef>
                <a:spcPts val="0"/>
              </a:spcBef>
              <a:buNone/>
              <a:defRPr b="0" i="0" sz="1000">
                <a:solidFill>
                  <a:schemeClr val="lt1"/>
                </a:solidFill>
                <a:latin typeface="Arial"/>
                <a:ea typeface="Arial"/>
                <a:cs typeface="Arial"/>
                <a:sym typeface="Arial"/>
              </a:defRPr>
            </a:lvl1pPr>
            <a:lvl2pPr indent="0" lvl="1" marL="12700">
              <a:lnSpc>
                <a:spcPct val="100000"/>
              </a:lnSpc>
              <a:spcBef>
                <a:spcPts val="0"/>
              </a:spcBef>
              <a:buNone/>
              <a:defRPr b="0" i="0" sz="1000">
                <a:solidFill>
                  <a:schemeClr val="lt1"/>
                </a:solidFill>
                <a:latin typeface="Arial"/>
                <a:ea typeface="Arial"/>
                <a:cs typeface="Arial"/>
                <a:sym typeface="Arial"/>
              </a:defRPr>
            </a:lvl2pPr>
            <a:lvl3pPr indent="0" lvl="2" marL="12700">
              <a:lnSpc>
                <a:spcPct val="100000"/>
              </a:lnSpc>
              <a:spcBef>
                <a:spcPts val="0"/>
              </a:spcBef>
              <a:buNone/>
              <a:defRPr b="0" i="0" sz="1000">
                <a:solidFill>
                  <a:schemeClr val="lt1"/>
                </a:solidFill>
                <a:latin typeface="Arial"/>
                <a:ea typeface="Arial"/>
                <a:cs typeface="Arial"/>
                <a:sym typeface="Arial"/>
              </a:defRPr>
            </a:lvl3pPr>
            <a:lvl4pPr indent="0" lvl="3" marL="12700">
              <a:lnSpc>
                <a:spcPct val="100000"/>
              </a:lnSpc>
              <a:spcBef>
                <a:spcPts val="0"/>
              </a:spcBef>
              <a:buNone/>
              <a:defRPr b="0" i="0" sz="1000">
                <a:solidFill>
                  <a:schemeClr val="lt1"/>
                </a:solidFill>
                <a:latin typeface="Arial"/>
                <a:ea typeface="Arial"/>
                <a:cs typeface="Arial"/>
                <a:sym typeface="Arial"/>
              </a:defRPr>
            </a:lvl4pPr>
            <a:lvl5pPr indent="0" lvl="4" marL="12700">
              <a:lnSpc>
                <a:spcPct val="100000"/>
              </a:lnSpc>
              <a:spcBef>
                <a:spcPts val="0"/>
              </a:spcBef>
              <a:buNone/>
              <a:defRPr b="0" i="0" sz="1000">
                <a:solidFill>
                  <a:schemeClr val="lt1"/>
                </a:solidFill>
                <a:latin typeface="Arial"/>
                <a:ea typeface="Arial"/>
                <a:cs typeface="Arial"/>
                <a:sym typeface="Arial"/>
              </a:defRPr>
            </a:lvl5pPr>
            <a:lvl6pPr indent="0" lvl="5" marL="12700">
              <a:lnSpc>
                <a:spcPct val="100000"/>
              </a:lnSpc>
              <a:spcBef>
                <a:spcPts val="0"/>
              </a:spcBef>
              <a:buNone/>
              <a:defRPr b="0" i="0" sz="1000">
                <a:solidFill>
                  <a:schemeClr val="lt1"/>
                </a:solidFill>
                <a:latin typeface="Arial"/>
                <a:ea typeface="Arial"/>
                <a:cs typeface="Arial"/>
                <a:sym typeface="Arial"/>
              </a:defRPr>
            </a:lvl6pPr>
            <a:lvl7pPr indent="0" lvl="6" marL="12700">
              <a:lnSpc>
                <a:spcPct val="100000"/>
              </a:lnSpc>
              <a:spcBef>
                <a:spcPts val="0"/>
              </a:spcBef>
              <a:buNone/>
              <a:defRPr b="0" i="0" sz="1000">
                <a:solidFill>
                  <a:schemeClr val="lt1"/>
                </a:solidFill>
                <a:latin typeface="Arial"/>
                <a:ea typeface="Arial"/>
                <a:cs typeface="Arial"/>
                <a:sym typeface="Arial"/>
              </a:defRPr>
            </a:lvl7pPr>
            <a:lvl8pPr indent="0" lvl="7" marL="12700">
              <a:lnSpc>
                <a:spcPct val="100000"/>
              </a:lnSpc>
              <a:spcBef>
                <a:spcPts val="0"/>
              </a:spcBef>
              <a:buNone/>
              <a:defRPr b="0" i="0" sz="1000">
                <a:solidFill>
                  <a:schemeClr val="lt1"/>
                </a:solidFill>
                <a:latin typeface="Arial"/>
                <a:ea typeface="Arial"/>
                <a:cs typeface="Arial"/>
                <a:sym typeface="Arial"/>
              </a:defRPr>
            </a:lvl8pPr>
            <a:lvl9pPr indent="0" lvl="8" marL="12700">
              <a:lnSpc>
                <a:spcPct val="100000"/>
              </a:lnSpc>
              <a:spcBef>
                <a:spcPts val="0"/>
              </a:spcBef>
              <a:buNone/>
              <a:defRPr b="0" i="0" sz="1000">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5"/>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6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1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2" type="sldNum"/>
          </p:nvPr>
        </p:nvSpPr>
        <p:spPr>
          <a:xfrm>
            <a:off x="8710921" y="4778067"/>
            <a:ext cx="275590" cy="167639"/>
          </a:xfrm>
          <a:prstGeom prst="rect">
            <a:avLst/>
          </a:prstGeom>
          <a:noFill/>
          <a:ln>
            <a:noFill/>
          </a:ln>
        </p:spPr>
        <p:txBody>
          <a:bodyPr anchorCtr="0" anchor="t" bIns="0" lIns="0" spcFirstLastPara="1" rIns="0" wrap="square" tIns="0">
            <a:spAutoFit/>
          </a:bodyPr>
          <a:lstStyle>
            <a:lvl1pPr indent="0" lvl="0" marL="12700">
              <a:lnSpc>
                <a:spcPct val="100000"/>
              </a:lnSpc>
              <a:spcBef>
                <a:spcPts val="0"/>
              </a:spcBef>
              <a:buNone/>
              <a:defRPr b="0" i="0" sz="1000">
                <a:solidFill>
                  <a:schemeClr val="lt1"/>
                </a:solidFill>
                <a:latin typeface="Arial"/>
                <a:ea typeface="Arial"/>
                <a:cs typeface="Arial"/>
                <a:sym typeface="Arial"/>
              </a:defRPr>
            </a:lvl1pPr>
            <a:lvl2pPr indent="0" lvl="1" marL="12700">
              <a:lnSpc>
                <a:spcPct val="100000"/>
              </a:lnSpc>
              <a:spcBef>
                <a:spcPts val="0"/>
              </a:spcBef>
              <a:buNone/>
              <a:defRPr b="0" i="0" sz="1000">
                <a:solidFill>
                  <a:schemeClr val="lt1"/>
                </a:solidFill>
                <a:latin typeface="Arial"/>
                <a:ea typeface="Arial"/>
                <a:cs typeface="Arial"/>
                <a:sym typeface="Arial"/>
              </a:defRPr>
            </a:lvl2pPr>
            <a:lvl3pPr indent="0" lvl="2" marL="12700">
              <a:lnSpc>
                <a:spcPct val="100000"/>
              </a:lnSpc>
              <a:spcBef>
                <a:spcPts val="0"/>
              </a:spcBef>
              <a:buNone/>
              <a:defRPr b="0" i="0" sz="1000">
                <a:solidFill>
                  <a:schemeClr val="lt1"/>
                </a:solidFill>
                <a:latin typeface="Arial"/>
                <a:ea typeface="Arial"/>
                <a:cs typeface="Arial"/>
                <a:sym typeface="Arial"/>
              </a:defRPr>
            </a:lvl3pPr>
            <a:lvl4pPr indent="0" lvl="3" marL="12700">
              <a:lnSpc>
                <a:spcPct val="100000"/>
              </a:lnSpc>
              <a:spcBef>
                <a:spcPts val="0"/>
              </a:spcBef>
              <a:buNone/>
              <a:defRPr b="0" i="0" sz="1000">
                <a:solidFill>
                  <a:schemeClr val="lt1"/>
                </a:solidFill>
                <a:latin typeface="Arial"/>
                <a:ea typeface="Arial"/>
                <a:cs typeface="Arial"/>
                <a:sym typeface="Arial"/>
              </a:defRPr>
            </a:lvl4pPr>
            <a:lvl5pPr indent="0" lvl="4" marL="12700">
              <a:lnSpc>
                <a:spcPct val="100000"/>
              </a:lnSpc>
              <a:spcBef>
                <a:spcPts val="0"/>
              </a:spcBef>
              <a:buNone/>
              <a:defRPr b="0" i="0" sz="1000">
                <a:solidFill>
                  <a:schemeClr val="lt1"/>
                </a:solidFill>
                <a:latin typeface="Arial"/>
                <a:ea typeface="Arial"/>
                <a:cs typeface="Arial"/>
                <a:sym typeface="Arial"/>
              </a:defRPr>
            </a:lvl5pPr>
            <a:lvl6pPr indent="0" lvl="5" marL="12700">
              <a:lnSpc>
                <a:spcPct val="100000"/>
              </a:lnSpc>
              <a:spcBef>
                <a:spcPts val="0"/>
              </a:spcBef>
              <a:buNone/>
              <a:defRPr b="0" i="0" sz="1000">
                <a:solidFill>
                  <a:schemeClr val="lt1"/>
                </a:solidFill>
                <a:latin typeface="Arial"/>
                <a:ea typeface="Arial"/>
                <a:cs typeface="Arial"/>
                <a:sym typeface="Arial"/>
              </a:defRPr>
            </a:lvl6pPr>
            <a:lvl7pPr indent="0" lvl="6" marL="12700">
              <a:lnSpc>
                <a:spcPct val="100000"/>
              </a:lnSpc>
              <a:spcBef>
                <a:spcPts val="0"/>
              </a:spcBef>
              <a:buNone/>
              <a:defRPr b="0" i="0" sz="1000">
                <a:solidFill>
                  <a:schemeClr val="lt1"/>
                </a:solidFill>
                <a:latin typeface="Arial"/>
                <a:ea typeface="Arial"/>
                <a:cs typeface="Arial"/>
                <a:sym typeface="Arial"/>
              </a:defRPr>
            </a:lvl7pPr>
            <a:lvl8pPr indent="0" lvl="7" marL="12700">
              <a:lnSpc>
                <a:spcPct val="100000"/>
              </a:lnSpc>
              <a:spcBef>
                <a:spcPts val="0"/>
              </a:spcBef>
              <a:buNone/>
              <a:defRPr b="0" i="0" sz="1000">
                <a:solidFill>
                  <a:schemeClr val="lt1"/>
                </a:solidFill>
                <a:latin typeface="Arial"/>
                <a:ea typeface="Arial"/>
                <a:cs typeface="Arial"/>
                <a:sym typeface="Arial"/>
              </a:defRPr>
            </a:lvl8pPr>
            <a:lvl9pPr indent="0" lvl="8" marL="12700">
              <a:lnSpc>
                <a:spcPct val="100000"/>
              </a:lnSpc>
              <a:spcBef>
                <a:spcPts val="0"/>
              </a:spcBef>
              <a:buNone/>
              <a:defRPr b="0" i="0" sz="1000">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sp>
        <p:nvSpPr>
          <p:cNvPr id="35" name="Google Shape;35;p6"/>
          <p:cNvSpPr txBox="1"/>
          <p:nvPr>
            <p:ph type="title"/>
          </p:nvPr>
        </p:nvSpPr>
        <p:spPr>
          <a:xfrm>
            <a:off x="384725" y="505248"/>
            <a:ext cx="6323330"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6"/>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1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2" type="sldNum"/>
          </p:nvPr>
        </p:nvSpPr>
        <p:spPr>
          <a:xfrm>
            <a:off x="8710921" y="4778067"/>
            <a:ext cx="275590" cy="167639"/>
          </a:xfrm>
          <a:prstGeom prst="rect">
            <a:avLst/>
          </a:prstGeom>
          <a:noFill/>
          <a:ln>
            <a:noFill/>
          </a:ln>
        </p:spPr>
        <p:txBody>
          <a:bodyPr anchorCtr="0" anchor="t" bIns="0" lIns="0" spcFirstLastPara="1" rIns="0" wrap="square" tIns="0">
            <a:spAutoFit/>
          </a:bodyPr>
          <a:lstStyle>
            <a:lvl1pPr indent="0" lvl="0" marL="12700">
              <a:lnSpc>
                <a:spcPct val="100000"/>
              </a:lnSpc>
              <a:spcBef>
                <a:spcPts val="0"/>
              </a:spcBef>
              <a:buNone/>
              <a:defRPr b="0" i="0" sz="1000">
                <a:solidFill>
                  <a:schemeClr val="lt1"/>
                </a:solidFill>
                <a:latin typeface="Arial"/>
                <a:ea typeface="Arial"/>
                <a:cs typeface="Arial"/>
                <a:sym typeface="Arial"/>
              </a:defRPr>
            </a:lvl1pPr>
            <a:lvl2pPr indent="0" lvl="1" marL="12700">
              <a:lnSpc>
                <a:spcPct val="100000"/>
              </a:lnSpc>
              <a:spcBef>
                <a:spcPts val="0"/>
              </a:spcBef>
              <a:buNone/>
              <a:defRPr b="0" i="0" sz="1000">
                <a:solidFill>
                  <a:schemeClr val="lt1"/>
                </a:solidFill>
                <a:latin typeface="Arial"/>
                <a:ea typeface="Arial"/>
                <a:cs typeface="Arial"/>
                <a:sym typeface="Arial"/>
              </a:defRPr>
            </a:lvl2pPr>
            <a:lvl3pPr indent="0" lvl="2" marL="12700">
              <a:lnSpc>
                <a:spcPct val="100000"/>
              </a:lnSpc>
              <a:spcBef>
                <a:spcPts val="0"/>
              </a:spcBef>
              <a:buNone/>
              <a:defRPr b="0" i="0" sz="1000">
                <a:solidFill>
                  <a:schemeClr val="lt1"/>
                </a:solidFill>
                <a:latin typeface="Arial"/>
                <a:ea typeface="Arial"/>
                <a:cs typeface="Arial"/>
                <a:sym typeface="Arial"/>
              </a:defRPr>
            </a:lvl3pPr>
            <a:lvl4pPr indent="0" lvl="3" marL="12700">
              <a:lnSpc>
                <a:spcPct val="100000"/>
              </a:lnSpc>
              <a:spcBef>
                <a:spcPts val="0"/>
              </a:spcBef>
              <a:buNone/>
              <a:defRPr b="0" i="0" sz="1000">
                <a:solidFill>
                  <a:schemeClr val="lt1"/>
                </a:solidFill>
                <a:latin typeface="Arial"/>
                <a:ea typeface="Arial"/>
                <a:cs typeface="Arial"/>
                <a:sym typeface="Arial"/>
              </a:defRPr>
            </a:lvl4pPr>
            <a:lvl5pPr indent="0" lvl="4" marL="12700">
              <a:lnSpc>
                <a:spcPct val="100000"/>
              </a:lnSpc>
              <a:spcBef>
                <a:spcPts val="0"/>
              </a:spcBef>
              <a:buNone/>
              <a:defRPr b="0" i="0" sz="1000">
                <a:solidFill>
                  <a:schemeClr val="lt1"/>
                </a:solidFill>
                <a:latin typeface="Arial"/>
                <a:ea typeface="Arial"/>
                <a:cs typeface="Arial"/>
                <a:sym typeface="Arial"/>
              </a:defRPr>
            </a:lvl5pPr>
            <a:lvl6pPr indent="0" lvl="5" marL="12700">
              <a:lnSpc>
                <a:spcPct val="100000"/>
              </a:lnSpc>
              <a:spcBef>
                <a:spcPts val="0"/>
              </a:spcBef>
              <a:buNone/>
              <a:defRPr b="0" i="0" sz="1000">
                <a:solidFill>
                  <a:schemeClr val="lt1"/>
                </a:solidFill>
                <a:latin typeface="Arial"/>
                <a:ea typeface="Arial"/>
                <a:cs typeface="Arial"/>
                <a:sym typeface="Arial"/>
              </a:defRPr>
            </a:lvl6pPr>
            <a:lvl7pPr indent="0" lvl="6" marL="12700">
              <a:lnSpc>
                <a:spcPct val="100000"/>
              </a:lnSpc>
              <a:spcBef>
                <a:spcPts val="0"/>
              </a:spcBef>
              <a:buNone/>
              <a:defRPr b="0" i="0" sz="1000">
                <a:solidFill>
                  <a:schemeClr val="lt1"/>
                </a:solidFill>
                <a:latin typeface="Arial"/>
                <a:ea typeface="Arial"/>
                <a:cs typeface="Arial"/>
                <a:sym typeface="Arial"/>
              </a:defRPr>
            </a:lvl7pPr>
            <a:lvl8pPr indent="0" lvl="7" marL="12700">
              <a:lnSpc>
                <a:spcPct val="100000"/>
              </a:lnSpc>
              <a:spcBef>
                <a:spcPts val="0"/>
              </a:spcBef>
              <a:buNone/>
              <a:defRPr b="0" i="0" sz="1000">
                <a:solidFill>
                  <a:schemeClr val="lt1"/>
                </a:solidFill>
                <a:latin typeface="Arial"/>
                <a:ea typeface="Arial"/>
                <a:cs typeface="Arial"/>
                <a:sym typeface="Arial"/>
              </a:defRPr>
            </a:lvl8pPr>
            <a:lvl9pPr indent="0" lvl="8" marL="12700">
              <a:lnSpc>
                <a:spcPct val="100000"/>
              </a:lnSpc>
              <a:spcBef>
                <a:spcPts val="0"/>
              </a:spcBef>
              <a:buNone/>
              <a:defRPr b="0" i="0" sz="1000">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4667250"/>
            <a:ext cx="9144000" cy="476884"/>
          </a:xfrm>
          <a:custGeom>
            <a:rect b="b" l="l" r="r" t="t"/>
            <a:pathLst>
              <a:path extrusionOk="0" h="476885" w="9144000">
                <a:moveTo>
                  <a:pt x="9143999" y="476399"/>
                </a:moveTo>
                <a:lnTo>
                  <a:pt x="0" y="476399"/>
                </a:lnTo>
                <a:lnTo>
                  <a:pt x="0" y="0"/>
                </a:lnTo>
                <a:lnTo>
                  <a:pt x="9143999" y="0"/>
                </a:lnTo>
                <a:lnTo>
                  <a:pt x="9143999" y="476399"/>
                </a:lnTo>
                <a:close/>
              </a:path>
            </a:pathLst>
          </a:custGeom>
          <a:solidFill>
            <a:srgbClr val="0B539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
          <p:cNvSpPr/>
          <p:nvPr/>
        </p:nvSpPr>
        <p:spPr>
          <a:xfrm>
            <a:off x="0" y="4667250"/>
            <a:ext cx="9144000" cy="476884"/>
          </a:xfrm>
          <a:custGeom>
            <a:rect b="b" l="l" r="r" t="t"/>
            <a:pathLst>
              <a:path extrusionOk="0" h="476885" w="9144000">
                <a:moveTo>
                  <a:pt x="0" y="0"/>
                </a:moveTo>
                <a:lnTo>
                  <a:pt x="9143999" y="0"/>
                </a:lnTo>
                <a:lnTo>
                  <a:pt x="9143999" y="476399"/>
                </a:lnTo>
                <a:lnTo>
                  <a:pt x="0" y="476399"/>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384725" y="505248"/>
            <a:ext cx="6323330" cy="4095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5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280850" y="1046045"/>
            <a:ext cx="8389620" cy="331152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100">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2" type="sldNum"/>
          </p:nvPr>
        </p:nvSpPr>
        <p:spPr>
          <a:xfrm>
            <a:off x="8710921" y="4778067"/>
            <a:ext cx="275590" cy="167639"/>
          </a:xfrm>
          <a:prstGeom prst="rect">
            <a:avLst/>
          </a:prstGeom>
          <a:noFill/>
          <a:ln>
            <a:noFill/>
          </a:ln>
        </p:spPr>
        <p:txBody>
          <a:bodyPr anchorCtr="0" anchor="t" bIns="0" lIns="0" spcFirstLastPara="1" rIns="0" wrap="square" tIns="0">
            <a:spAutoFit/>
          </a:bodyPr>
          <a:lstStyle>
            <a:lvl1pPr indent="0" lvl="0" marL="12700">
              <a:lnSpc>
                <a:spcPct val="100000"/>
              </a:lnSpc>
              <a:spcBef>
                <a:spcPts val="0"/>
              </a:spcBef>
              <a:buNone/>
              <a:defRPr b="0" i="0" sz="1000">
                <a:solidFill>
                  <a:schemeClr val="lt1"/>
                </a:solidFill>
                <a:latin typeface="Arial"/>
                <a:ea typeface="Arial"/>
                <a:cs typeface="Arial"/>
                <a:sym typeface="Arial"/>
              </a:defRPr>
            </a:lvl1pPr>
            <a:lvl2pPr indent="0" lvl="1" marL="12700">
              <a:lnSpc>
                <a:spcPct val="100000"/>
              </a:lnSpc>
              <a:spcBef>
                <a:spcPts val="0"/>
              </a:spcBef>
              <a:buNone/>
              <a:defRPr b="0" i="0" sz="1000">
                <a:solidFill>
                  <a:schemeClr val="lt1"/>
                </a:solidFill>
                <a:latin typeface="Arial"/>
                <a:ea typeface="Arial"/>
                <a:cs typeface="Arial"/>
                <a:sym typeface="Arial"/>
              </a:defRPr>
            </a:lvl2pPr>
            <a:lvl3pPr indent="0" lvl="2" marL="12700">
              <a:lnSpc>
                <a:spcPct val="100000"/>
              </a:lnSpc>
              <a:spcBef>
                <a:spcPts val="0"/>
              </a:spcBef>
              <a:buNone/>
              <a:defRPr b="0" i="0" sz="1000">
                <a:solidFill>
                  <a:schemeClr val="lt1"/>
                </a:solidFill>
                <a:latin typeface="Arial"/>
                <a:ea typeface="Arial"/>
                <a:cs typeface="Arial"/>
                <a:sym typeface="Arial"/>
              </a:defRPr>
            </a:lvl3pPr>
            <a:lvl4pPr indent="0" lvl="3" marL="12700">
              <a:lnSpc>
                <a:spcPct val="100000"/>
              </a:lnSpc>
              <a:spcBef>
                <a:spcPts val="0"/>
              </a:spcBef>
              <a:buNone/>
              <a:defRPr b="0" i="0" sz="1000">
                <a:solidFill>
                  <a:schemeClr val="lt1"/>
                </a:solidFill>
                <a:latin typeface="Arial"/>
                <a:ea typeface="Arial"/>
                <a:cs typeface="Arial"/>
                <a:sym typeface="Arial"/>
              </a:defRPr>
            </a:lvl4pPr>
            <a:lvl5pPr indent="0" lvl="4" marL="12700">
              <a:lnSpc>
                <a:spcPct val="100000"/>
              </a:lnSpc>
              <a:spcBef>
                <a:spcPts val="0"/>
              </a:spcBef>
              <a:buNone/>
              <a:defRPr b="0" i="0" sz="1000">
                <a:solidFill>
                  <a:schemeClr val="lt1"/>
                </a:solidFill>
                <a:latin typeface="Arial"/>
                <a:ea typeface="Arial"/>
                <a:cs typeface="Arial"/>
                <a:sym typeface="Arial"/>
              </a:defRPr>
            </a:lvl5pPr>
            <a:lvl6pPr indent="0" lvl="5" marL="12700">
              <a:lnSpc>
                <a:spcPct val="100000"/>
              </a:lnSpc>
              <a:spcBef>
                <a:spcPts val="0"/>
              </a:spcBef>
              <a:buNone/>
              <a:defRPr b="0" i="0" sz="1000">
                <a:solidFill>
                  <a:schemeClr val="lt1"/>
                </a:solidFill>
                <a:latin typeface="Arial"/>
                <a:ea typeface="Arial"/>
                <a:cs typeface="Arial"/>
                <a:sym typeface="Arial"/>
              </a:defRPr>
            </a:lvl6pPr>
            <a:lvl7pPr indent="0" lvl="6" marL="12700">
              <a:lnSpc>
                <a:spcPct val="100000"/>
              </a:lnSpc>
              <a:spcBef>
                <a:spcPts val="0"/>
              </a:spcBef>
              <a:buNone/>
              <a:defRPr b="0" i="0" sz="1000">
                <a:solidFill>
                  <a:schemeClr val="lt1"/>
                </a:solidFill>
                <a:latin typeface="Arial"/>
                <a:ea typeface="Arial"/>
                <a:cs typeface="Arial"/>
                <a:sym typeface="Arial"/>
              </a:defRPr>
            </a:lvl7pPr>
            <a:lvl8pPr indent="0" lvl="7" marL="12700">
              <a:lnSpc>
                <a:spcPct val="100000"/>
              </a:lnSpc>
              <a:spcBef>
                <a:spcPts val="0"/>
              </a:spcBef>
              <a:buNone/>
              <a:defRPr b="0" i="0" sz="1000">
                <a:solidFill>
                  <a:schemeClr val="lt1"/>
                </a:solidFill>
                <a:latin typeface="Arial"/>
                <a:ea typeface="Arial"/>
                <a:cs typeface="Arial"/>
                <a:sym typeface="Arial"/>
              </a:defRPr>
            </a:lvl8pPr>
            <a:lvl9pPr indent="0" lvl="8" marL="12700">
              <a:lnSpc>
                <a:spcPct val="100000"/>
              </a:lnSpc>
              <a:spcBef>
                <a:spcPts val="0"/>
              </a:spcBef>
              <a:buNone/>
              <a:defRPr b="0" i="0" sz="1000">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papers.ssrn.com/sol3/papers.cfm?abstract_id=3829984" TargetMode="External"/><Relationship Id="rId4" Type="http://schemas.openxmlformats.org/officeDocument/2006/relationships/hyperlink" Target="mailto:ms6517@columbia.edu" TargetMode="External"/><Relationship Id="rId5" Type="http://schemas.openxmlformats.org/officeDocument/2006/relationships/hyperlink" Target="https://www.linkedin.com/in/matias-sels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nvSpPr>
        <p:spPr>
          <a:xfrm>
            <a:off x="63500" y="4793817"/>
            <a:ext cx="871855" cy="193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solidFill>
                  <a:srgbClr val="FFFFFF"/>
                </a:solidFill>
                <a:latin typeface="Arial"/>
                <a:ea typeface="Arial"/>
                <a:cs typeface="Arial"/>
                <a:sym typeface="Arial"/>
              </a:rPr>
              <a:t>Matias Selser</a:t>
            </a:r>
            <a:endParaRPr sz="1100">
              <a:latin typeface="Arial"/>
              <a:ea typeface="Arial"/>
              <a:cs typeface="Arial"/>
              <a:sym typeface="Arial"/>
            </a:endParaRPr>
          </a:p>
        </p:txBody>
      </p:sp>
      <p:sp>
        <p:nvSpPr>
          <p:cNvPr id="46" name="Google Shape;46;p7"/>
          <p:cNvSpPr txBox="1"/>
          <p:nvPr>
            <p:ph type="title"/>
          </p:nvPr>
        </p:nvSpPr>
        <p:spPr>
          <a:xfrm>
            <a:off x="2136840" y="1087373"/>
            <a:ext cx="4870450" cy="1610360"/>
          </a:xfrm>
          <a:prstGeom prst="rect">
            <a:avLst/>
          </a:prstGeom>
          <a:noFill/>
          <a:ln>
            <a:noFill/>
          </a:ln>
        </p:spPr>
        <p:txBody>
          <a:bodyPr anchorCtr="0" anchor="t" bIns="0" lIns="0" spcFirstLastPara="1" rIns="0" wrap="square" tIns="12700">
            <a:spAutoFit/>
          </a:bodyPr>
          <a:lstStyle/>
          <a:p>
            <a:pPr indent="568325" lvl="0" marL="12700" marR="5080" rtl="0" algn="l">
              <a:lnSpc>
                <a:spcPct val="100000"/>
              </a:lnSpc>
              <a:spcBef>
                <a:spcPts val="0"/>
              </a:spcBef>
              <a:spcAft>
                <a:spcPts val="0"/>
              </a:spcAft>
              <a:buNone/>
            </a:pPr>
            <a:r>
              <a:rPr lang="en-US" sz="5200"/>
              <a:t>Blockchain y Criptomonedas I</a:t>
            </a:r>
            <a:endParaRPr sz="5200"/>
          </a:p>
        </p:txBody>
      </p:sp>
      <p:sp>
        <p:nvSpPr>
          <p:cNvPr id="47" name="Google Shape;47;p7"/>
          <p:cNvSpPr txBox="1"/>
          <p:nvPr/>
        </p:nvSpPr>
        <p:spPr>
          <a:xfrm>
            <a:off x="3165830" y="2892926"/>
            <a:ext cx="2811145" cy="1305560"/>
          </a:xfrm>
          <a:prstGeom prst="rect">
            <a:avLst/>
          </a:prstGeom>
          <a:noFill/>
          <a:ln>
            <a:noFill/>
          </a:ln>
        </p:spPr>
        <p:txBody>
          <a:bodyPr anchorCtr="0" anchor="t" bIns="0" lIns="0" spcFirstLastPara="1" rIns="0" wrap="square" tIns="12700">
            <a:spAutoFit/>
          </a:bodyPr>
          <a:lstStyle/>
          <a:p>
            <a:pPr indent="0" lvl="0" marL="52705" rtl="0" algn="l">
              <a:lnSpc>
                <a:spcPct val="100000"/>
              </a:lnSpc>
              <a:spcBef>
                <a:spcPts val="0"/>
              </a:spcBef>
              <a:spcAft>
                <a:spcPts val="0"/>
              </a:spcAft>
              <a:buNone/>
            </a:pPr>
            <a:r>
              <a:rPr lang="en-US" sz="2800">
                <a:latin typeface="Arial"/>
                <a:ea typeface="Arial"/>
                <a:cs typeface="Arial"/>
                <a:sym typeface="Arial"/>
              </a:rPr>
              <a:t>UCEMA - QUANt</a:t>
            </a:r>
            <a:endParaRPr sz="2800">
              <a:latin typeface="Arial"/>
              <a:ea typeface="Arial"/>
              <a:cs typeface="Arial"/>
              <a:sym typeface="Arial"/>
            </a:endParaRPr>
          </a:p>
          <a:p>
            <a:pPr indent="0" lvl="0" marL="0" rtl="0" algn="l">
              <a:lnSpc>
                <a:spcPct val="100000"/>
              </a:lnSpc>
              <a:spcBef>
                <a:spcPts val="140"/>
              </a:spcBef>
              <a:spcAft>
                <a:spcPts val="0"/>
              </a:spcAft>
              <a:buNone/>
            </a:pPr>
            <a:r>
              <a:t/>
            </a:r>
            <a:endParaRPr sz="2800">
              <a:latin typeface="Arial"/>
              <a:ea typeface="Arial"/>
              <a:cs typeface="Arial"/>
              <a:sym typeface="Arial"/>
            </a:endParaRPr>
          </a:p>
          <a:p>
            <a:pPr indent="0" lvl="0" marL="12700" rtl="0" algn="l">
              <a:lnSpc>
                <a:spcPct val="100000"/>
              </a:lnSpc>
              <a:spcBef>
                <a:spcPts val="0"/>
              </a:spcBef>
              <a:spcAft>
                <a:spcPts val="0"/>
              </a:spcAft>
              <a:buNone/>
            </a:pPr>
            <a:r>
              <a:rPr lang="en-US" sz="2800">
                <a:latin typeface="Arial"/>
                <a:ea typeface="Arial"/>
                <a:cs typeface="Arial"/>
                <a:sym typeface="Arial"/>
              </a:rPr>
              <a:t>Clase II: 29/10/25</a:t>
            </a:r>
            <a:endParaRPr sz="28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Sobre Mi</a:t>
            </a:r>
            <a:endParaRPr/>
          </a:p>
        </p:txBody>
      </p:sp>
      <p:sp>
        <p:nvSpPr>
          <p:cNvPr id="53" name="Google Shape;53;p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4" name="Google Shape;54;p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5" name="Google Shape;55;p8"/>
          <p:cNvSpPr txBox="1"/>
          <p:nvPr/>
        </p:nvSpPr>
        <p:spPr>
          <a:xfrm>
            <a:off x="482674" y="1008688"/>
            <a:ext cx="90424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Educación:</a:t>
            </a:r>
            <a:endParaRPr sz="1400">
              <a:latin typeface="Arial"/>
              <a:ea typeface="Arial"/>
              <a:cs typeface="Arial"/>
              <a:sym typeface="Arial"/>
            </a:endParaRPr>
          </a:p>
        </p:txBody>
      </p:sp>
      <p:sp>
        <p:nvSpPr>
          <p:cNvPr id="56" name="Google Shape;56;p8"/>
          <p:cNvSpPr txBox="1"/>
          <p:nvPr/>
        </p:nvSpPr>
        <p:spPr>
          <a:xfrm>
            <a:off x="603943" y="1222047"/>
            <a:ext cx="5596890" cy="665480"/>
          </a:xfrm>
          <a:prstGeom prst="rect">
            <a:avLst/>
          </a:prstGeom>
          <a:noFill/>
          <a:ln>
            <a:noFill/>
          </a:ln>
        </p:spPr>
        <p:txBody>
          <a:bodyPr anchorCtr="0" anchor="t" bIns="0" lIns="0" spcFirstLastPara="1" rIns="0" wrap="square" tIns="12700">
            <a:spAutoFit/>
          </a:bodyPr>
          <a:lstStyle/>
          <a:p>
            <a:pPr indent="-335280" lvl="0" marL="347980" rtl="0" algn="l">
              <a:lnSpc>
                <a:spcPct val="100000"/>
              </a:lnSpc>
              <a:spcBef>
                <a:spcPts val="0"/>
              </a:spcBef>
              <a:spcAft>
                <a:spcPts val="0"/>
              </a:spcAft>
              <a:buSzPts val="1400"/>
              <a:buFont typeface="Arial"/>
              <a:buChar char="●"/>
            </a:pPr>
            <a:r>
              <a:rPr lang="en-US" sz="1400">
                <a:latin typeface="Arial"/>
                <a:ea typeface="Arial"/>
                <a:cs typeface="Arial"/>
                <a:sym typeface="Arial"/>
              </a:rPr>
              <a:t>08/2022 - 05/2024 : Maestría en Matemática - </a:t>
            </a:r>
            <a:r>
              <a:rPr i="1" lang="en-US" sz="1400">
                <a:latin typeface="Arial"/>
                <a:ea typeface="Arial"/>
                <a:cs typeface="Arial"/>
                <a:sym typeface="Arial"/>
              </a:rPr>
              <a:t>Columbia University</a:t>
            </a:r>
            <a:endParaRPr sz="1400">
              <a:latin typeface="Arial"/>
              <a:ea typeface="Arial"/>
              <a:cs typeface="Arial"/>
              <a:sym typeface="Arial"/>
            </a:endParaRPr>
          </a:p>
          <a:p>
            <a:pPr indent="-335280" lvl="0" marL="347980" rtl="0" algn="l">
              <a:lnSpc>
                <a:spcPct val="100000"/>
              </a:lnSpc>
              <a:spcBef>
                <a:spcPts val="0"/>
              </a:spcBef>
              <a:spcAft>
                <a:spcPts val="0"/>
              </a:spcAft>
              <a:buSzPts val="1400"/>
              <a:buFont typeface="Arial"/>
              <a:buChar char="●"/>
            </a:pPr>
            <a:r>
              <a:rPr lang="en-US" sz="1400">
                <a:latin typeface="Arial"/>
                <a:ea typeface="Arial"/>
                <a:cs typeface="Arial"/>
                <a:sym typeface="Arial"/>
              </a:rPr>
              <a:t>03/2020 - 05/2022 : Maestría en Finanzas</a:t>
            </a:r>
            <a:endParaRPr sz="1400">
              <a:latin typeface="Arial"/>
              <a:ea typeface="Arial"/>
              <a:cs typeface="Arial"/>
              <a:sym typeface="Arial"/>
            </a:endParaRPr>
          </a:p>
          <a:p>
            <a:pPr indent="-335280" lvl="0" marL="347980" rtl="0" algn="l">
              <a:lnSpc>
                <a:spcPct val="100000"/>
              </a:lnSpc>
              <a:spcBef>
                <a:spcPts val="0"/>
              </a:spcBef>
              <a:spcAft>
                <a:spcPts val="0"/>
              </a:spcAft>
              <a:buSzPts val="1400"/>
              <a:buFont typeface="Arial"/>
              <a:buChar char="●"/>
            </a:pPr>
            <a:r>
              <a:rPr lang="en-US" sz="1400">
                <a:latin typeface="Arial"/>
                <a:ea typeface="Arial"/>
                <a:cs typeface="Arial"/>
                <a:sym typeface="Arial"/>
              </a:rPr>
              <a:t>03/2013 - 07/2020 : Ingeniería Electrónica</a:t>
            </a:r>
            <a:endParaRPr sz="1400">
              <a:latin typeface="Arial"/>
              <a:ea typeface="Arial"/>
              <a:cs typeface="Arial"/>
              <a:sym typeface="Arial"/>
            </a:endParaRPr>
          </a:p>
        </p:txBody>
      </p:sp>
      <p:sp>
        <p:nvSpPr>
          <p:cNvPr id="57" name="Google Shape;57;p8"/>
          <p:cNvSpPr txBox="1"/>
          <p:nvPr/>
        </p:nvSpPr>
        <p:spPr>
          <a:xfrm>
            <a:off x="4485721" y="1435408"/>
            <a:ext cx="3105785" cy="452120"/>
          </a:xfrm>
          <a:prstGeom prst="rect">
            <a:avLst/>
          </a:prstGeom>
          <a:noFill/>
          <a:ln>
            <a:noFill/>
          </a:ln>
        </p:spPr>
        <p:txBody>
          <a:bodyPr anchorCtr="0" anchor="t" bIns="0" lIns="0" spcFirstLastPara="1" rIns="0" wrap="square" tIns="12700">
            <a:spAutoFit/>
          </a:bodyPr>
          <a:lstStyle/>
          <a:p>
            <a:pPr indent="-107950" lvl="0" marL="120650" rtl="0" algn="l">
              <a:lnSpc>
                <a:spcPct val="100000"/>
              </a:lnSpc>
              <a:spcBef>
                <a:spcPts val="0"/>
              </a:spcBef>
              <a:spcAft>
                <a:spcPts val="0"/>
              </a:spcAft>
              <a:buSzPts val="1400"/>
              <a:buFont typeface="Arial"/>
              <a:buChar char="-"/>
            </a:pPr>
            <a:r>
              <a:rPr i="1" lang="en-US" sz="1400">
                <a:latin typeface="Arial"/>
                <a:ea typeface="Arial"/>
                <a:cs typeface="Arial"/>
                <a:sym typeface="Arial"/>
              </a:rPr>
              <a:t>Universidad Torcuato di Tella</a:t>
            </a:r>
            <a:endParaRPr sz="1400">
              <a:latin typeface="Arial"/>
              <a:ea typeface="Arial"/>
              <a:cs typeface="Arial"/>
              <a:sym typeface="Arial"/>
            </a:endParaRPr>
          </a:p>
          <a:p>
            <a:pPr indent="-107950" lvl="0" marL="130175" rtl="0" algn="l">
              <a:lnSpc>
                <a:spcPct val="100000"/>
              </a:lnSpc>
              <a:spcBef>
                <a:spcPts val="0"/>
              </a:spcBef>
              <a:spcAft>
                <a:spcPts val="0"/>
              </a:spcAft>
              <a:buSzPts val="1400"/>
              <a:buFont typeface="Arial"/>
              <a:buChar char="-"/>
            </a:pPr>
            <a:r>
              <a:rPr i="1" lang="en-US" sz="1400">
                <a:latin typeface="Arial"/>
                <a:ea typeface="Arial"/>
                <a:cs typeface="Arial"/>
                <a:sym typeface="Arial"/>
              </a:rPr>
              <a:t>Instituto Tecnológico de Buenos Aires</a:t>
            </a:r>
            <a:endParaRPr sz="1400">
              <a:latin typeface="Arial"/>
              <a:ea typeface="Arial"/>
              <a:cs typeface="Arial"/>
              <a:sym typeface="Arial"/>
            </a:endParaRPr>
          </a:p>
        </p:txBody>
      </p:sp>
      <p:sp>
        <p:nvSpPr>
          <p:cNvPr id="58" name="Google Shape;58;p8"/>
          <p:cNvSpPr txBox="1"/>
          <p:nvPr/>
        </p:nvSpPr>
        <p:spPr>
          <a:xfrm>
            <a:off x="482674" y="1989128"/>
            <a:ext cx="178308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Experiencia relevante:</a:t>
            </a:r>
            <a:endParaRPr sz="1400">
              <a:latin typeface="Arial"/>
              <a:ea typeface="Arial"/>
              <a:cs typeface="Arial"/>
              <a:sym typeface="Arial"/>
            </a:endParaRPr>
          </a:p>
        </p:txBody>
      </p:sp>
      <p:sp>
        <p:nvSpPr>
          <p:cNvPr id="59" name="Google Shape;59;p8"/>
          <p:cNvSpPr txBox="1"/>
          <p:nvPr/>
        </p:nvSpPr>
        <p:spPr>
          <a:xfrm>
            <a:off x="2421299" y="2202488"/>
            <a:ext cx="134937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 Tech Lead</a:t>
            </a:r>
            <a:endParaRPr sz="1400">
              <a:latin typeface="Arial"/>
              <a:ea typeface="Arial"/>
              <a:cs typeface="Arial"/>
              <a:sym typeface="Arial"/>
            </a:endParaRPr>
          </a:p>
          <a:p>
            <a:pPr indent="0" lvl="0" marL="12700" rtl="0" algn="l">
              <a:lnSpc>
                <a:spcPct val="100000"/>
              </a:lnSpc>
              <a:spcBef>
                <a:spcPts val="0"/>
              </a:spcBef>
              <a:spcAft>
                <a:spcPts val="0"/>
              </a:spcAft>
              <a:buNone/>
            </a:pPr>
            <a:r>
              <a:rPr lang="en-US" sz="1400">
                <a:latin typeface="Arial"/>
                <a:ea typeface="Arial"/>
                <a:cs typeface="Arial"/>
                <a:sym typeface="Arial"/>
              </a:rPr>
              <a:t>: Execution Lead</a:t>
            </a:r>
            <a:endParaRPr sz="1400">
              <a:latin typeface="Arial"/>
              <a:ea typeface="Arial"/>
              <a:cs typeface="Arial"/>
              <a:sym typeface="Arial"/>
            </a:endParaRPr>
          </a:p>
        </p:txBody>
      </p:sp>
      <p:sp>
        <p:nvSpPr>
          <p:cNvPr id="60" name="Google Shape;60;p8"/>
          <p:cNvSpPr txBox="1"/>
          <p:nvPr/>
        </p:nvSpPr>
        <p:spPr>
          <a:xfrm>
            <a:off x="603943" y="2202488"/>
            <a:ext cx="3760470" cy="1092200"/>
          </a:xfrm>
          <a:prstGeom prst="rect">
            <a:avLst/>
          </a:prstGeom>
          <a:noFill/>
          <a:ln>
            <a:noFill/>
          </a:ln>
        </p:spPr>
        <p:txBody>
          <a:bodyPr anchorCtr="0" anchor="t" bIns="0" lIns="0" spcFirstLastPara="1" rIns="0" wrap="square" tIns="12700">
            <a:spAutoFit/>
          </a:bodyPr>
          <a:lstStyle/>
          <a:p>
            <a:pPr indent="-335280" lvl="0" marL="347980" rtl="0" algn="l">
              <a:lnSpc>
                <a:spcPct val="100000"/>
              </a:lnSpc>
              <a:spcBef>
                <a:spcPts val="0"/>
              </a:spcBef>
              <a:spcAft>
                <a:spcPts val="0"/>
              </a:spcAft>
              <a:buSzPts val="1400"/>
              <a:buFont typeface="Arial"/>
              <a:buChar char="●"/>
            </a:pPr>
            <a:r>
              <a:rPr lang="en-US" sz="1400">
                <a:latin typeface="Arial"/>
                <a:ea typeface="Arial"/>
                <a:cs typeface="Arial"/>
                <a:sym typeface="Arial"/>
              </a:rPr>
              <a:t>06/2024 - Actual</a:t>
            </a:r>
            <a:endParaRPr sz="1400">
              <a:latin typeface="Arial"/>
              <a:ea typeface="Arial"/>
              <a:cs typeface="Arial"/>
              <a:sym typeface="Arial"/>
            </a:endParaRPr>
          </a:p>
          <a:p>
            <a:pPr indent="-335280" lvl="0" marL="347980" rtl="0" algn="l">
              <a:lnSpc>
                <a:spcPct val="100000"/>
              </a:lnSpc>
              <a:spcBef>
                <a:spcPts val="0"/>
              </a:spcBef>
              <a:spcAft>
                <a:spcPts val="0"/>
              </a:spcAft>
              <a:buSzPts val="1400"/>
              <a:buFont typeface="Arial"/>
              <a:buChar char="●"/>
            </a:pPr>
            <a:r>
              <a:rPr lang="en-US" sz="1400">
                <a:latin typeface="Arial"/>
                <a:ea typeface="Arial"/>
                <a:cs typeface="Arial"/>
                <a:sym typeface="Arial"/>
              </a:rPr>
              <a:t>08/2023 - Actual</a:t>
            </a:r>
            <a:endParaRPr sz="1400">
              <a:latin typeface="Arial"/>
              <a:ea typeface="Arial"/>
              <a:cs typeface="Arial"/>
              <a:sym typeface="Arial"/>
            </a:endParaRPr>
          </a:p>
          <a:p>
            <a:pPr indent="-335280" lvl="0" marL="347980" rtl="0" algn="l">
              <a:lnSpc>
                <a:spcPct val="100000"/>
              </a:lnSpc>
              <a:spcBef>
                <a:spcPts val="0"/>
              </a:spcBef>
              <a:spcAft>
                <a:spcPts val="0"/>
              </a:spcAft>
              <a:buSzPts val="1400"/>
              <a:buFont typeface="Arial"/>
              <a:buChar char="●"/>
            </a:pPr>
            <a:r>
              <a:rPr lang="en-US" sz="1400">
                <a:latin typeface="Arial"/>
                <a:ea typeface="Arial"/>
                <a:cs typeface="Arial"/>
                <a:sym typeface="Arial"/>
              </a:rPr>
              <a:t>08/2022 - 08/2023 : Quantitative Developer</a:t>
            </a:r>
            <a:endParaRPr sz="1400">
              <a:latin typeface="Arial"/>
              <a:ea typeface="Arial"/>
              <a:cs typeface="Arial"/>
              <a:sym typeface="Arial"/>
            </a:endParaRPr>
          </a:p>
          <a:p>
            <a:pPr indent="-335280" lvl="0" marL="347980" rtl="0" algn="l">
              <a:lnSpc>
                <a:spcPct val="100000"/>
              </a:lnSpc>
              <a:spcBef>
                <a:spcPts val="0"/>
              </a:spcBef>
              <a:spcAft>
                <a:spcPts val="0"/>
              </a:spcAft>
              <a:buSzPts val="1400"/>
              <a:buFont typeface="Arial"/>
              <a:buChar char="●"/>
            </a:pPr>
            <a:r>
              <a:rPr lang="en-US" sz="1400">
                <a:latin typeface="Arial"/>
                <a:ea typeface="Arial"/>
                <a:cs typeface="Arial"/>
                <a:sym typeface="Arial"/>
              </a:rPr>
              <a:t>02/2022 - 06/2022 : Quantitative Developer</a:t>
            </a:r>
            <a:endParaRPr sz="1400">
              <a:latin typeface="Arial"/>
              <a:ea typeface="Arial"/>
              <a:cs typeface="Arial"/>
              <a:sym typeface="Arial"/>
            </a:endParaRPr>
          </a:p>
          <a:p>
            <a:pPr indent="-335280" lvl="0" marL="347980" rtl="0" algn="l">
              <a:lnSpc>
                <a:spcPct val="100000"/>
              </a:lnSpc>
              <a:spcBef>
                <a:spcPts val="0"/>
              </a:spcBef>
              <a:spcAft>
                <a:spcPts val="0"/>
              </a:spcAft>
              <a:buSzPts val="1400"/>
              <a:buFont typeface="Arial"/>
              <a:buChar char="●"/>
            </a:pPr>
            <a:r>
              <a:rPr lang="en-US" sz="1400">
                <a:latin typeface="Arial"/>
                <a:ea typeface="Arial"/>
                <a:cs typeface="Arial"/>
                <a:sym typeface="Arial"/>
              </a:rPr>
              <a:t>08/2020 - 01/2022 : Quantitative Developer</a:t>
            </a:r>
            <a:endParaRPr sz="1400">
              <a:latin typeface="Arial"/>
              <a:ea typeface="Arial"/>
              <a:cs typeface="Arial"/>
              <a:sym typeface="Arial"/>
            </a:endParaRPr>
          </a:p>
        </p:txBody>
      </p:sp>
      <p:sp>
        <p:nvSpPr>
          <p:cNvPr id="61" name="Google Shape;61;p8"/>
          <p:cNvSpPr txBox="1"/>
          <p:nvPr/>
        </p:nvSpPr>
        <p:spPr>
          <a:xfrm>
            <a:off x="4483820" y="2202488"/>
            <a:ext cx="1954530" cy="1092200"/>
          </a:xfrm>
          <a:prstGeom prst="rect">
            <a:avLst/>
          </a:prstGeom>
          <a:noFill/>
          <a:ln>
            <a:noFill/>
          </a:ln>
        </p:spPr>
        <p:txBody>
          <a:bodyPr anchorCtr="0" anchor="t" bIns="0" lIns="0" spcFirstLastPara="1" rIns="0" wrap="square" tIns="12700">
            <a:spAutoFit/>
          </a:bodyPr>
          <a:lstStyle/>
          <a:p>
            <a:pPr indent="-108585" lvl="0" marL="121920" rtl="0" algn="l">
              <a:lnSpc>
                <a:spcPct val="100000"/>
              </a:lnSpc>
              <a:spcBef>
                <a:spcPts val="0"/>
              </a:spcBef>
              <a:spcAft>
                <a:spcPts val="0"/>
              </a:spcAft>
              <a:buSzPts val="1400"/>
              <a:buFont typeface="Arial"/>
              <a:buChar char="-"/>
            </a:pPr>
            <a:r>
              <a:rPr i="1" lang="en-US" sz="1400">
                <a:latin typeface="Arial"/>
                <a:ea typeface="Arial"/>
                <a:cs typeface="Arial"/>
                <a:sym typeface="Arial"/>
              </a:rPr>
              <a:t>Terrace.fi</a:t>
            </a:r>
            <a:endParaRPr sz="1400">
              <a:latin typeface="Arial"/>
              <a:ea typeface="Arial"/>
              <a:cs typeface="Arial"/>
              <a:sym typeface="Arial"/>
            </a:endParaRPr>
          </a:p>
          <a:p>
            <a:pPr indent="-109854" lvl="0" marL="122554" rtl="0" algn="l">
              <a:lnSpc>
                <a:spcPct val="100000"/>
              </a:lnSpc>
              <a:spcBef>
                <a:spcPts val="0"/>
              </a:spcBef>
              <a:spcAft>
                <a:spcPts val="0"/>
              </a:spcAft>
              <a:buSzPts val="1400"/>
              <a:buFont typeface="Arial"/>
              <a:buChar char="-"/>
            </a:pPr>
            <a:r>
              <a:rPr i="1" lang="en-US" sz="1400">
                <a:latin typeface="Arial"/>
                <a:ea typeface="Arial"/>
                <a:cs typeface="Arial"/>
                <a:sym typeface="Arial"/>
              </a:rPr>
              <a:t>Terrace.fi</a:t>
            </a:r>
            <a:endParaRPr sz="1400">
              <a:latin typeface="Arial"/>
              <a:ea typeface="Arial"/>
              <a:cs typeface="Arial"/>
              <a:sym typeface="Arial"/>
            </a:endParaRPr>
          </a:p>
          <a:p>
            <a:pPr indent="-107950" lvl="0" marL="122554" rtl="0" algn="l">
              <a:lnSpc>
                <a:spcPct val="100000"/>
              </a:lnSpc>
              <a:spcBef>
                <a:spcPts val="0"/>
              </a:spcBef>
              <a:spcAft>
                <a:spcPts val="0"/>
              </a:spcAft>
              <a:buSzPts val="1400"/>
              <a:buFont typeface="Arial"/>
              <a:buChar char="-"/>
            </a:pPr>
            <a:r>
              <a:rPr i="1" lang="en-US" sz="1400">
                <a:latin typeface="Arial"/>
                <a:ea typeface="Arial"/>
                <a:cs typeface="Arial"/>
                <a:sym typeface="Arial"/>
              </a:rPr>
              <a:t>MRM Analytics</a:t>
            </a:r>
            <a:endParaRPr sz="1400">
              <a:latin typeface="Arial"/>
              <a:ea typeface="Arial"/>
              <a:cs typeface="Arial"/>
              <a:sym typeface="Arial"/>
            </a:endParaRPr>
          </a:p>
          <a:p>
            <a:pPr indent="-107950" lvl="0" marL="122554" rtl="0" algn="l">
              <a:lnSpc>
                <a:spcPct val="100000"/>
              </a:lnSpc>
              <a:spcBef>
                <a:spcPts val="0"/>
              </a:spcBef>
              <a:spcAft>
                <a:spcPts val="0"/>
              </a:spcAft>
              <a:buSzPts val="1400"/>
              <a:buFont typeface="Arial"/>
              <a:buChar char="-"/>
            </a:pPr>
            <a:r>
              <a:rPr i="1" lang="en-US" sz="1400">
                <a:latin typeface="Arial"/>
                <a:ea typeface="Arial"/>
                <a:cs typeface="Arial"/>
                <a:sym typeface="Arial"/>
              </a:rPr>
              <a:t>Privi Protocol</a:t>
            </a:r>
            <a:endParaRPr sz="1400">
              <a:latin typeface="Arial"/>
              <a:ea typeface="Arial"/>
              <a:cs typeface="Arial"/>
              <a:sym typeface="Arial"/>
            </a:endParaRPr>
          </a:p>
          <a:p>
            <a:pPr indent="-107950" lvl="0" marL="122554" rtl="0" algn="l">
              <a:lnSpc>
                <a:spcPct val="100000"/>
              </a:lnSpc>
              <a:spcBef>
                <a:spcPts val="0"/>
              </a:spcBef>
              <a:spcAft>
                <a:spcPts val="0"/>
              </a:spcAft>
              <a:buSzPts val="1400"/>
              <a:buFont typeface="Arial"/>
              <a:buChar char="-"/>
            </a:pPr>
            <a:r>
              <a:rPr i="1" lang="en-US" sz="1400">
                <a:latin typeface="Arial"/>
                <a:ea typeface="Arial"/>
                <a:cs typeface="Arial"/>
                <a:sym typeface="Arial"/>
              </a:rPr>
              <a:t>Alma Global Strategies</a:t>
            </a:r>
            <a:endParaRPr sz="1400">
              <a:latin typeface="Arial"/>
              <a:ea typeface="Arial"/>
              <a:cs typeface="Arial"/>
              <a:sym typeface="Arial"/>
            </a:endParaRPr>
          </a:p>
        </p:txBody>
      </p:sp>
      <p:sp>
        <p:nvSpPr>
          <p:cNvPr id="62" name="Google Shape;62;p8"/>
          <p:cNvSpPr txBox="1"/>
          <p:nvPr/>
        </p:nvSpPr>
        <p:spPr>
          <a:xfrm>
            <a:off x="482674" y="3396287"/>
            <a:ext cx="5105400" cy="1219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latin typeface="Arial"/>
                <a:ea typeface="Arial"/>
                <a:cs typeface="Arial"/>
                <a:sym typeface="Arial"/>
              </a:rPr>
              <a:t>Publicación:</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2021: ¨</a:t>
            </a:r>
            <a:r>
              <a:rPr i="1" lang="en-US" sz="1400" u="sng">
                <a:solidFill>
                  <a:schemeClr val="hlink"/>
                </a:solidFill>
                <a:latin typeface="Arial"/>
                <a:ea typeface="Arial"/>
                <a:cs typeface="Arial"/>
                <a:sym typeface="Arial"/>
                <a:hlinkClick r:id="rId3"/>
              </a:rPr>
              <a:t>Optimal Market Making by Reinforcement Learning</a:t>
            </a:r>
            <a:r>
              <a:rPr i="1" lang="en-US" sz="1400">
                <a:latin typeface="Arial"/>
                <a:ea typeface="Arial"/>
                <a:cs typeface="Arial"/>
                <a:sym typeface="Arial"/>
              </a:rPr>
              <a:t>¨</a:t>
            </a:r>
            <a:endParaRPr sz="1400">
              <a:latin typeface="Arial"/>
              <a:ea typeface="Arial"/>
              <a:cs typeface="Arial"/>
              <a:sym typeface="Arial"/>
            </a:endParaRPr>
          </a:p>
          <a:p>
            <a:pPr indent="0" lvl="0" marL="12700" rtl="0" algn="l">
              <a:lnSpc>
                <a:spcPct val="100000"/>
              </a:lnSpc>
              <a:spcBef>
                <a:spcPts val="1000"/>
              </a:spcBef>
              <a:spcAft>
                <a:spcPts val="0"/>
              </a:spcAft>
              <a:buNone/>
            </a:pPr>
            <a:r>
              <a:rPr lang="en-US" sz="1400">
                <a:latin typeface="Arial"/>
                <a:ea typeface="Arial"/>
                <a:cs typeface="Arial"/>
                <a:sym typeface="Arial"/>
              </a:rPr>
              <a:t>Contacto:</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Email: </a:t>
            </a:r>
            <a:r>
              <a:rPr lang="en-US" sz="1400" u="sng">
                <a:solidFill>
                  <a:schemeClr val="hlink"/>
                </a:solidFill>
                <a:latin typeface="Arial"/>
                <a:ea typeface="Arial"/>
                <a:cs typeface="Arial"/>
                <a:sym typeface="Arial"/>
                <a:hlinkClick r:id="rId4"/>
              </a:rPr>
              <a:t>ms6517@columbia.edu</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LinkedIn: </a:t>
            </a:r>
            <a:r>
              <a:rPr lang="en-US" sz="1400" u="sng">
                <a:solidFill>
                  <a:schemeClr val="hlink"/>
                </a:solidFill>
                <a:latin typeface="Arial"/>
                <a:ea typeface="Arial"/>
                <a:cs typeface="Arial"/>
                <a:sym typeface="Arial"/>
                <a:hlinkClick r:id="rId5"/>
              </a:rPr>
              <a:t>https://www.linkedin.com/in/matias-selser</a:t>
            </a:r>
            <a:endParaRPr sz="1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Agenda</a:t>
            </a:r>
            <a:endParaRPr/>
          </a:p>
        </p:txBody>
      </p:sp>
      <p:sp>
        <p:nvSpPr>
          <p:cNvPr id="68" name="Google Shape;68;p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9" name="Google Shape;69;p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0" name="Google Shape;70;p9"/>
          <p:cNvSpPr txBox="1"/>
          <p:nvPr/>
        </p:nvSpPr>
        <p:spPr>
          <a:xfrm>
            <a:off x="384725" y="961974"/>
            <a:ext cx="7300595" cy="3502025"/>
          </a:xfrm>
          <a:prstGeom prst="rect">
            <a:avLst/>
          </a:prstGeom>
          <a:noFill/>
          <a:ln>
            <a:noFill/>
          </a:ln>
        </p:spPr>
        <p:txBody>
          <a:bodyPr anchorCtr="0" anchor="t" bIns="0" lIns="0" spcFirstLastPara="1" rIns="0" wrap="square" tIns="151125">
            <a:spAutoFit/>
          </a:bodyPr>
          <a:lstStyle/>
          <a:p>
            <a:pPr indent="0" lvl="0" marL="241300" rtl="0" algn="l">
              <a:lnSpc>
                <a:spcPct val="100000"/>
              </a:lnSpc>
              <a:spcBef>
                <a:spcPts val="0"/>
              </a:spcBef>
              <a:spcAft>
                <a:spcPts val="0"/>
              </a:spcAft>
              <a:buNone/>
            </a:pPr>
            <a:r>
              <a:rPr lang="en-US" sz="1800">
                <a:latin typeface="Arial"/>
                <a:ea typeface="Arial"/>
                <a:cs typeface="Arial"/>
                <a:sym typeface="Arial"/>
              </a:rPr>
              <a:t>Course Overview</a:t>
            </a:r>
            <a:endParaRPr sz="1800">
              <a:latin typeface="Arial"/>
              <a:ea typeface="Arial"/>
              <a:cs typeface="Arial"/>
              <a:sym typeface="Arial"/>
            </a:endParaRPr>
          </a:p>
          <a:p>
            <a:pPr indent="-366395" lvl="0" marL="469265" rtl="0" algn="l">
              <a:lnSpc>
                <a:spcPct val="116944"/>
              </a:lnSpc>
              <a:spcBef>
                <a:spcPts val="1090"/>
              </a:spcBef>
              <a:spcAft>
                <a:spcPts val="0"/>
              </a:spcAft>
              <a:buSzPts val="1800"/>
              <a:buFont typeface="Arial"/>
              <a:buChar char="●"/>
            </a:pPr>
            <a:r>
              <a:rPr lang="en-US" sz="1800">
                <a:latin typeface="Arial"/>
                <a:ea typeface="Arial"/>
                <a:cs typeface="Arial"/>
                <a:sym typeface="Arial"/>
              </a:rPr>
              <a:t>Module 1: Blockchain Fundamentals &amp; Trading</a:t>
            </a:r>
            <a:endParaRPr sz="1800">
              <a:latin typeface="Arial"/>
              <a:ea typeface="Arial"/>
              <a:cs typeface="Arial"/>
              <a:sym typeface="Arial"/>
            </a:endParaRPr>
          </a:p>
          <a:p>
            <a:pPr indent="-366394" lvl="1" marL="926464" rtl="0" algn="l">
              <a:lnSpc>
                <a:spcPct val="113888"/>
              </a:lnSpc>
              <a:spcBef>
                <a:spcPts val="0"/>
              </a:spcBef>
              <a:spcAft>
                <a:spcPts val="0"/>
              </a:spcAft>
              <a:buSzPts val="1800"/>
              <a:buFont typeface="Arial"/>
              <a:buChar char="○"/>
            </a:pPr>
            <a:r>
              <a:rPr lang="en-US" sz="1800">
                <a:latin typeface="Arial"/>
                <a:ea typeface="Arial"/>
                <a:cs typeface="Arial"/>
                <a:sym typeface="Arial"/>
              </a:rPr>
              <a:t>Today's Focus: The critical role of architecture in performance.</a:t>
            </a:r>
            <a:endParaRPr sz="1800">
              <a:latin typeface="Arial"/>
              <a:ea typeface="Arial"/>
              <a:cs typeface="Arial"/>
              <a:sym typeface="Arial"/>
            </a:endParaRPr>
          </a:p>
          <a:p>
            <a:pPr indent="-366395" lvl="0" marL="469265" rtl="0" algn="l">
              <a:lnSpc>
                <a:spcPct val="113888"/>
              </a:lnSpc>
              <a:spcBef>
                <a:spcPts val="0"/>
              </a:spcBef>
              <a:spcAft>
                <a:spcPts val="0"/>
              </a:spcAft>
              <a:buSzPts val="1800"/>
              <a:buFont typeface="Arial"/>
              <a:buChar char="●"/>
            </a:pPr>
            <a:r>
              <a:rPr lang="en-US" sz="1800">
                <a:latin typeface="Arial"/>
                <a:ea typeface="Arial"/>
                <a:cs typeface="Arial"/>
                <a:sym typeface="Arial"/>
              </a:rPr>
              <a:t>Learning Objectives</a:t>
            </a:r>
            <a:endParaRPr sz="1800">
              <a:latin typeface="Arial"/>
              <a:ea typeface="Arial"/>
              <a:cs typeface="Arial"/>
              <a:sym typeface="Arial"/>
            </a:endParaRPr>
          </a:p>
          <a:p>
            <a:pPr indent="-366394" lvl="1" marL="926464" rtl="0" algn="l">
              <a:lnSpc>
                <a:spcPct val="113888"/>
              </a:lnSpc>
              <a:spcBef>
                <a:spcPts val="0"/>
              </a:spcBef>
              <a:spcAft>
                <a:spcPts val="0"/>
              </a:spcAft>
              <a:buSzPts val="1800"/>
              <a:buFont typeface="Arial"/>
              <a:buChar char="○"/>
            </a:pPr>
            <a:r>
              <a:rPr lang="en-US" sz="1800">
                <a:latin typeface="Arial"/>
                <a:ea typeface="Arial"/>
                <a:cs typeface="Arial"/>
                <a:sym typeface="Arial"/>
              </a:rPr>
              <a:t>Gain an understanding of three major blockchain architectures.</a:t>
            </a:r>
            <a:endParaRPr sz="1800">
              <a:latin typeface="Arial"/>
              <a:ea typeface="Arial"/>
              <a:cs typeface="Arial"/>
              <a:sym typeface="Arial"/>
            </a:endParaRPr>
          </a:p>
          <a:p>
            <a:pPr indent="-366394" lvl="1" marL="926464" rtl="0" algn="l">
              <a:lnSpc>
                <a:spcPct val="113888"/>
              </a:lnSpc>
              <a:spcBef>
                <a:spcPts val="0"/>
              </a:spcBef>
              <a:spcAft>
                <a:spcPts val="0"/>
              </a:spcAft>
              <a:buSzPts val="1800"/>
              <a:buFont typeface="Arial"/>
              <a:buChar char="○"/>
            </a:pPr>
            <a:r>
              <a:rPr lang="en-US" sz="1800">
                <a:latin typeface="Arial"/>
                <a:ea typeface="Arial"/>
                <a:cs typeface="Arial"/>
                <a:sym typeface="Arial"/>
              </a:rPr>
              <a:t>Compare performance metrics across different chains.</a:t>
            </a:r>
            <a:endParaRPr sz="1800">
              <a:latin typeface="Arial"/>
              <a:ea typeface="Arial"/>
              <a:cs typeface="Arial"/>
              <a:sym typeface="Arial"/>
            </a:endParaRPr>
          </a:p>
          <a:p>
            <a:pPr indent="-366394" lvl="1" marL="926464" rtl="0" algn="l">
              <a:lnSpc>
                <a:spcPct val="116944"/>
              </a:lnSpc>
              <a:spcBef>
                <a:spcPts val="0"/>
              </a:spcBef>
              <a:spcAft>
                <a:spcPts val="0"/>
              </a:spcAft>
              <a:buSzPts val="1800"/>
              <a:buFont typeface="Arial"/>
              <a:buChar char="○"/>
            </a:pPr>
            <a:r>
              <a:rPr lang="en-US" sz="1800">
                <a:latin typeface="Arial"/>
                <a:ea typeface="Arial"/>
                <a:cs typeface="Arial"/>
                <a:sym typeface="Arial"/>
              </a:rPr>
              <a:t>Analyze the impact of architecture on trading strategies.</a:t>
            </a:r>
            <a:endParaRPr sz="1800">
              <a:latin typeface="Arial"/>
              <a:ea typeface="Arial"/>
              <a:cs typeface="Arial"/>
              <a:sym typeface="Arial"/>
            </a:endParaRPr>
          </a:p>
          <a:p>
            <a:pPr indent="0" lvl="0" marL="12700" rtl="0" algn="l">
              <a:lnSpc>
                <a:spcPct val="100000"/>
              </a:lnSpc>
              <a:spcBef>
                <a:spcPts val="1095"/>
              </a:spcBef>
              <a:spcAft>
                <a:spcPts val="0"/>
              </a:spcAft>
              <a:buNone/>
            </a:pPr>
            <a:r>
              <a:rPr lang="en-US" sz="1800">
                <a:latin typeface="Arial"/>
                <a:ea typeface="Arial"/>
                <a:cs typeface="Arial"/>
                <a:sym typeface="Arial"/>
              </a:rPr>
              <a:t>Class Structure (3 hours)</a:t>
            </a:r>
            <a:endParaRPr sz="1800">
              <a:latin typeface="Arial"/>
              <a:ea typeface="Arial"/>
              <a:cs typeface="Arial"/>
              <a:sym typeface="Arial"/>
            </a:endParaRPr>
          </a:p>
          <a:p>
            <a:pPr indent="-366395" lvl="0" marL="469265" rtl="0" algn="l">
              <a:lnSpc>
                <a:spcPct val="116944"/>
              </a:lnSpc>
              <a:spcBef>
                <a:spcPts val="1090"/>
              </a:spcBef>
              <a:spcAft>
                <a:spcPts val="0"/>
              </a:spcAft>
              <a:buSzPts val="1800"/>
              <a:buFont typeface="Arial"/>
              <a:buChar char="●"/>
            </a:pPr>
            <a:r>
              <a:rPr lang="en-US" sz="1800">
                <a:latin typeface="Arial"/>
                <a:ea typeface="Arial"/>
                <a:cs typeface="Arial"/>
                <a:sym typeface="Arial"/>
              </a:rPr>
              <a:t>Part 1 (90 min): Theory + Live Notebooks A &amp; B</a:t>
            </a:r>
            <a:endParaRPr sz="1800">
              <a:latin typeface="Arial"/>
              <a:ea typeface="Arial"/>
              <a:cs typeface="Arial"/>
              <a:sym typeface="Arial"/>
            </a:endParaRPr>
          </a:p>
          <a:p>
            <a:pPr indent="-366395" lvl="0" marL="469265" rtl="0" algn="l">
              <a:lnSpc>
                <a:spcPct val="113888"/>
              </a:lnSpc>
              <a:spcBef>
                <a:spcPts val="0"/>
              </a:spcBef>
              <a:spcAft>
                <a:spcPts val="0"/>
              </a:spcAft>
              <a:buSzPts val="1800"/>
              <a:buFont typeface="Arial"/>
              <a:buChar char="●"/>
            </a:pPr>
            <a:r>
              <a:rPr lang="en-US" sz="1800">
                <a:latin typeface="Arial"/>
                <a:ea typeface="Arial"/>
                <a:cs typeface="Arial"/>
                <a:sym typeface="Arial"/>
              </a:rPr>
              <a:t>Break (15 min)</a:t>
            </a:r>
            <a:endParaRPr sz="1800">
              <a:latin typeface="Arial"/>
              <a:ea typeface="Arial"/>
              <a:cs typeface="Arial"/>
              <a:sym typeface="Arial"/>
            </a:endParaRPr>
          </a:p>
          <a:p>
            <a:pPr indent="-366395" lvl="0" marL="469265" rtl="0" algn="l">
              <a:lnSpc>
                <a:spcPct val="116944"/>
              </a:lnSpc>
              <a:spcBef>
                <a:spcPts val="0"/>
              </a:spcBef>
              <a:spcAft>
                <a:spcPts val="0"/>
              </a:spcAft>
              <a:buSzPts val="1800"/>
              <a:buFont typeface="Arial"/>
              <a:buChar char="●"/>
            </a:pPr>
            <a:r>
              <a:rPr lang="en-US" sz="1800">
                <a:latin typeface="Arial"/>
                <a:ea typeface="Arial"/>
                <a:cs typeface="Arial"/>
                <a:sym typeface="Arial"/>
              </a:rPr>
              <a:t>Part 2 (75 min): Applications + Live Notebooks C &amp; D</a:t>
            </a:r>
            <a:endParaRPr sz="18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Scenario: The Problem</a:t>
            </a:r>
            <a:endParaRPr/>
          </a:p>
        </p:txBody>
      </p:sp>
      <p:sp>
        <p:nvSpPr>
          <p:cNvPr id="76" name="Google Shape;76;p1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7" name="Google Shape;77;p1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8" name="Google Shape;78;p10"/>
          <p:cNvSpPr txBox="1"/>
          <p:nvPr/>
        </p:nvSpPr>
        <p:spPr>
          <a:xfrm>
            <a:off x="290375" y="1536581"/>
            <a:ext cx="6226810" cy="201930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800">
                <a:latin typeface="Arial"/>
                <a:ea typeface="Arial"/>
                <a:cs typeface="Arial"/>
                <a:sym typeface="Arial"/>
              </a:rPr>
              <a:t>Real-World Scenario: Bitcoin Arbitrage</a:t>
            </a:r>
            <a:endParaRPr sz="1800">
              <a:latin typeface="Arial"/>
              <a:ea typeface="Arial"/>
              <a:cs typeface="Arial"/>
              <a:sym typeface="Arial"/>
            </a:endParaRPr>
          </a:p>
          <a:p>
            <a:pPr indent="0" lvl="0" marL="241300" rtl="0" algn="l">
              <a:lnSpc>
                <a:spcPct val="100000"/>
              </a:lnSpc>
              <a:spcBef>
                <a:spcPts val="1520"/>
              </a:spcBef>
              <a:spcAft>
                <a:spcPts val="0"/>
              </a:spcAft>
              <a:buNone/>
            </a:pPr>
            <a:r>
              <a:rPr lang="en-US" sz="1800">
                <a:latin typeface="Arial"/>
                <a:ea typeface="Arial"/>
                <a:cs typeface="Arial"/>
                <a:sym typeface="Arial"/>
              </a:rPr>
              <a:t>Imagine an arbitrage opportunity:</a:t>
            </a:r>
            <a:endParaRPr sz="1800">
              <a:latin typeface="Arial"/>
              <a:ea typeface="Arial"/>
              <a:cs typeface="Arial"/>
              <a:sym typeface="Arial"/>
            </a:endParaRPr>
          </a:p>
          <a:p>
            <a:pPr indent="-366395" lvl="0" marL="469265" rtl="0" algn="l">
              <a:lnSpc>
                <a:spcPct val="100000"/>
              </a:lnSpc>
              <a:spcBef>
                <a:spcPts val="1525"/>
              </a:spcBef>
              <a:spcAft>
                <a:spcPts val="0"/>
              </a:spcAft>
              <a:buSzPts val="1800"/>
              <a:buFont typeface="Arial"/>
              <a:buChar char="●"/>
            </a:pPr>
            <a:r>
              <a:rPr lang="en-US" sz="1800">
                <a:latin typeface="Arial"/>
                <a:ea typeface="Arial"/>
                <a:cs typeface="Arial"/>
                <a:sym typeface="Arial"/>
              </a:rPr>
              <a:t>Binance: BTC at $45,000</a:t>
            </a:r>
            <a:endParaRPr sz="1800">
              <a:latin typeface="Arial"/>
              <a:ea typeface="Arial"/>
              <a:cs typeface="Arial"/>
              <a:sym typeface="Arial"/>
            </a:endParaRPr>
          </a:p>
          <a:p>
            <a:pPr indent="-366395" lvl="0" marL="469265" rtl="0" algn="l">
              <a:lnSpc>
                <a:spcPct val="100000"/>
              </a:lnSpc>
              <a:spcBef>
                <a:spcPts val="325"/>
              </a:spcBef>
              <a:spcAft>
                <a:spcPts val="0"/>
              </a:spcAft>
              <a:buSzPts val="1800"/>
              <a:buFont typeface="Arial"/>
              <a:buChar char="●"/>
            </a:pPr>
            <a:r>
              <a:rPr lang="en-US" sz="1800">
                <a:latin typeface="Arial"/>
                <a:ea typeface="Arial"/>
                <a:cs typeface="Arial"/>
                <a:sym typeface="Arial"/>
              </a:rPr>
              <a:t>Kraken: BTC at $45,300 (a potential $300 profit!)</a:t>
            </a:r>
            <a:endParaRPr sz="1800">
              <a:latin typeface="Arial"/>
              <a:ea typeface="Arial"/>
              <a:cs typeface="Arial"/>
              <a:sym typeface="Arial"/>
            </a:endParaRPr>
          </a:p>
          <a:p>
            <a:pPr indent="0" lvl="0" marL="12700" rtl="0" algn="l">
              <a:lnSpc>
                <a:spcPct val="100000"/>
              </a:lnSpc>
              <a:spcBef>
                <a:spcPts val="1525"/>
              </a:spcBef>
              <a:spcAft>
                <a:spcPts val="0"/>
              </a:spcAft>
              <a:buNone/>
            </a:pPr>
            <a:r>
              <a:rPr lang="en-US" sz="1800">
                <a:latin typeface="Arial"/>
                <a:ea typeface="Arial"/>
                <a:cs typeface="Arial"/>
                <a:sym typeface="Arial"/>
              </a:rPr>
              <a:t>You might consider buying on Binance and selling on Kraken.</a:t>
            </a:r>
            <a:endParaRPr sz="18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Scenario: The Problem</a:t>
            </a:r>
            <a:endParaRPr/>
          </a:p>
        </p:txBody>
      </p:sp>
      <p:sp>
        <p:nvSpPr>
          <p:cNvPr id="84" name="Google Shape;84;p1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5" name="Google Shape;85;p1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6" name="Google Shape;86;p11"/>
          <p:cNvSpPr txBox="1"/>
          <p:nvPr/>
        </p:nvSpPr>
        <p:spPr>
          <a:xfrm>
            <a:off x="371374" y="1613530"/>
            <a:ext cx="5243830" cy="186690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The Challenge:</a:t>
            </a:r>
            <a:endParaRPr sz="1800">
              <a:latin typeface="Arial"/>
              <a:ea typeface="Arial"/>
              <a:cs typeface="Arial"/>
              <a:sym typeface="Arial"/>
            </a:endParaRPr>
          </a:p>
          <a:p>
            <a:pPr indent="0" lvl="0" marL="150495" rtl="0" algn="l">
              <a:lnSpc>
                <a:spcPct val="100000"/>
              </a:lnSpc>
              <a:spcBef>
                <a:spcPts val="1525"/>
              </a:spcBef>
              <a:spcAft>
                <a:spcPts val="0"/>
              </a:spcAft>
              <a:buNone/>
            </a:pPr>
            <a:r>
              <a:rPr lang="en-US" sz="1800">
                <a:latin typeface="Arial"/>
                <a:ea typeface="Arial"/>
                <a:cs typeface="Arial"/>
                <a:sym typeface="Arial"/>
              </a:rPr>
              <a:t>Bitcoin's architecture presents a hurdle:</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Security Requirement: 6 block confirmations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Block Time: Approximately 10 minutes per block</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Total Confirmation Time: Roughly 60 minutes</a:t>
            </a:r>
            <a:endParaRPr sz="18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Scenario: The Problem</a:t>
            </a:r>
            <a:endParaRPr/>
          </a:p>
        </p:txBody>
      </p:sp>
      <p:sp>
        <p:nvSpPr>
          <p:cNvPr id="92" name="Google Shape;92;p1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3" name="Google Shape;93;p1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4" name="Google Shape;94;p12"/>
          <p:cNvSpPr txBox="1"/>
          <p:nvPr/>
        </p:nvSpPr>
        <p:spPr>
          <a:xfrm>
            <a:off x="371374" y="1017533"/>
            <a:ext cx="8461375" cy="3006725"/>
          </a:xfrm>
          <a:prstGeom prst="rect">
            <a:avLst/>
          </a:prstGeom>
          <a:noFill/>
          <a:ln>
            <a:noFill/>
          </a:ln>
        </p:spPr>
        <p:txBody>
          <a:bodyPr anchorCtr="0" anchor="t" bIns="0" lIns="0" spcFirstLastPara="1" rIns="0" wrap="square" tIns="12700">
            <a:spAutoFit/>
          </a:bodyPr>
          <a:lstStyle/>
          <a:p>
            <a:pPr indent="0" lvl="0" marL="101600" marR="5080" rtl="0" algn="l">
              <a:lnSpc>
                <a:spcPct val="114999"/>
              </a:lnSpc>
              <a:spcBef>
                <a:spcPts val="0"/>
              </a:spcBef>
              <a:spcAft>
                <a:spcPts val="0"/>
              </a:spcAft>
              <a:buNone/>
            </a:pPr>
            <a:r>
              <a:rPr lang="en-US" sz="1800">
                <a:latin typeface="Arial"/>
                <a:ea typeface="Arial"/>
                <a:cs typeface="Arial"/>
                <a:sym typeface="Arial"/>
              </a:rPr>
              <a:t>When Bitcoin transfers to Kraken, the price difference has likely disappeared, leading to a missed opportunity.</a:t>
            </a:r>
            <a:endParaRPr sz="1800">
              <a:latin typeface="Arial"/>
              <a:ea typeface="Arial"/>
              <a:cs typeface="Arial"/>
              <a:sym typeface="Arial"/>
            </a:endParaRPr>
          </a:p>
          <a:p>
            <a:pPr indent="0" lvl="0" marL="0" rtl="0" algn="l">
              <a:lnSpc>
                <a:spcPct val="100000"/>
              </a:lnSpc>
              <a:spcBef>
                <a:spcPts val="0"/>
              </a:spcBef>
              <a:spcAft>
                <a:spcPts val="0"/>
              </a:spcAft>
              <a:buNone/>
            </a:pPr>
            <a:r>
              <a:t/>
            </a:r>
            <a:endParaRPr sz="1800">
              <a:latin typeface="Arial"/>
              <a:ea typeface="Arial"/>
              <a:cs typeface="Arial"/>
              <a:sym typeface="Arial"/>
            </a:endParaRPr>
          </a:p>
          <a:p>
            <a:pPr indent="0" lvl="0" marL="0" rtl="0" algn="l">
              <a:lnSpc>
                <a:spcPct val="100000"/>
              </a:lnSpc>
              <a:spcBef>
                <a:spcPts val="1065"/>
              </a:spcBef>
              <a:spcAft>
                <a:spcPts val="0"/>
              </a:spcAft>
              <a:buNone/>
            </a:pPr>
            <a:r>
              <a:t/>
            </a:r>
            <a:endParaRPr sz="1800">
              <a:latin typeface="Arial"/>
              <a:ea typeface="Arial"/>
              <a:cs typeface="Arial"/>
              <a:sym typeface="Arial"/>
            </a:endParaRPr>
          </a:p>
          <a:p>
            <a:pPr indent="0" lvl="0" marL="92075" rtl="0" algn="l">
              <a:lnSpc>
                <a:spcPct val="100000"/>
              </a:lnSpc>
              <a:spcBef>
                <a:spcPts val="0"/>
              </a:spcBef>
              <a:spcAft>
                <a:spcPts val="0"/>
              </a:spcAft>
              <a:buNone/>
            </a:pPr>
            <a:r>
              <a:rPr lang="en-US" sz="1800">
                <a:latin typeface="Arial"/>
                <a:ea typeface="Arial"/>
                <a:cs typeface="Arial"/>
                <a:sym typeface="Arial"/>
              </a:rPr>
              <a:t>Key Questions:</a:t>
            </a:r>
            <a:endParaRPr sz="1800">
              <a:latin typeface="Arial"/>
              <a:ea typeface="Arial"/>
              <a:cs typeface="Arial"/>
              <a:sym typeface="Arial"/>
            </a:endParaRPr>
          </a:p>
          <a:p>
            <a:pPr indent="-366395" lvl="0" marL="379095" rtl="0" algn="l">
              <a:lnSpc>
                <a:spcPct val="100000"/>
              </a:lnSpc>
              <a:spcBef>
                <a:spcPts val="1525"/>
              </a:spcBef>
              <a:spcAft>
                <a:spcPts val="0"/>
              </a:spcAft>
              <a:buSzPts val="1800"/>
              <a:buFont typeface="Arial"/>
              <a:buChar char="●"/>
            </a:pPr>
            <a:r>
              <a:rPr lang="en-US" sz="1800">
                <a:latin typeface="Arial"/>
                <a:ea typeface="Arial"/>
                <a:cs typeface="Arial"/>
                <a:sym typeface="Arial"/>
              </a:rPr>
              <a:t>Why is Bitcoin processing so slow?</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Do all blockchains share this characteristic?</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How does blockchain architecture affect trading profitability?</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Are there any workarounds?</a:t>
            </a:r>
            <a:endParaRPr sz="18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The Architecture Question</a:t>
            </a:r>
            <a:endParaRPr/>
          </a:p>
        </p:txBody>
      </p:sp>
      <p:sp>
        <p:nvSpPr>
          <p:cNvPr id="100" name="Google Shape;100;p1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1" name="Google Shape;101;p1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2" name="Google Shape;102;p13"/>
          <p:cNvSpPr txBox="1"/>
          <p:nvPr/>
        </p:nvSpPr>
        <p:spPr>
          <a:xfrm>
            <a:off x="380899" y="1849931"/>
            <a:ext cx="7756525" cy="1398905"/>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Key Insight: Blockchains vary significantly in their architectural approaches.</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Bitcoin: Employs the Unspent Transaction Output (UTXO) model.</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Ethereum: Utilizes an Account/Ethereum Virtual Machine (EVM) model.</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Solana: Features Parallel Processing powered by Sealevel.</a:t>
            </a:r>
            <a:endParaRPr sz="18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The Architecture Question</a:t>
            </a:r>
            <a:endParaRPr/>
          </a:p>
        </p:txBody>
      </p:sp>
      <p:sp>
        <p:nvSpPr>
          <p:cNvPr id="108" name="Google Shape;108;p1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9" name="Google Shape;109;p1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10" name="Google Shape;110;p14"/>
          <p:cNvSpPr txBox="1"/>
          <p:nvPr/>
        </p:nvSpPr>
        <p:spPr>
          <a:xfrm>
            <a:off x="371374" y="1613530"/>
            <a:ext cx="7867650" cy="171450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Architecture is a key determinant of performance, influencing:</a:t>
            </a:r>
            <a:endParaRPr sz="1800">
              <a:latin typeface="Arial"/>
              <a:ea typeface="Arial"/>
              <a:cs typeface="Arial"/>
              <a:sym typeface="Arial"/>
            </a:endParaRPr>
          </a:p>
          <a:p>
            <a:pPr indent="-366395" lvl="0" marL="379095" rtl="0" algn="l">
              <a:lnSpc>
                <a:spcPct val="100000"/>
              </a:lnSpc>
              <a:spcBef>
                <a:spcPts val="1525"/>
              </a:spcBef>
              <a:spcAft>
                <a:spcPts val="0"/>
              </a:spcAft>
              <a:buSzPts val="1800"/>
              <a:buFont typeface="Arial"/>
              <a:buChar char="●"/>
            </a:pPr>
            <a:r>
              <a:rPr lang="en-US" sz="1800">
                <a:latin typeface="Arial"/>
                <a:ea typeface="Arial"/>
                <a:cs typeface="Arial"/>
                <a:sym typeface="Arial"/>
              </a:rPr>
              <a:t>Block time: The frequency at which new blocks are generated.</a:t>
            </a:r>
            <a:endParaRPr sz="1800">
              <a:latin typeface="Arial"/>
              <a:ea typeface="Arial"/>
              <a:cs typeface="Arial"/>
              <a:sym typeface="Arial"/>
            </a:endParaRPr>
          </a:p>
          <a:p>
            <a:pPr indent="-366395" lvl="0" marL="379095" rtl="0" algn="l">
              <a:lnSpc>
                <a:spcPct val="100000"/>
              </a:lnSpc>
              <a:spcBef>
                <a:spcPts val="320"/>
              </a:spcBef>
              <a:spcAft>
                <a:spcPts val="0"/>
              </a:spcAft>
              <a:buSzPts val="1800"/>
              <a:buFont typeface="Arial"/>
              <a:buChar char="●"/>
            </a:pPr>
            <a:r>
              <a:rPr lang="en-US" sz="1800">
                <a:latin typeface="Arial"/>
                <a:ea typeface="Arial"/>
                <a:cs typeface="Arial"/>
                <a:sym typeface="Arial"/>
              </a:rPr>
              <a:t>Transaction finality: The point at which a transaction becomes irreversible.</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Throughput: Transactions per second (TPS).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Cost: Associated transaction fees.</a:t>
            </a:r>
            <a:endParaRPr sz="18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The Architecture Question</a:t>
            </a:r>
            <a:endParaRPr/>
          </a:p>
        </p:txBody>
      </p:sp>
      <p:sp>
        <p:nvSpPr>
          <p:cNvPr id="116" name="Google Shape;116;p1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17" name="Google Shape;117;p1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18" name="Google Shape;118;p15"/>
          <p:cNvSpPr txBox="1"/>
          <p:nvPr/>
        </p:nvSpPr>
        <p:spPr>
          <a:xfrm>
            <a:off x="371374" y="943455"/>
            <a:ext cx="8152130" cy="344424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Optimizing Trading Profitability</a:t>
            </a:r>
            <a:endParaRPr sz="1800">
              <a:latin typeface="Arial"/>
              <a:ea typeface="Arial"/>
              <a:cs typeface="Arial"/>
              <a:sym typeface="Arial"/>
            </a:endParaRPr>
          </a:p>
          <a:p>
            <a:pPr indent="0" lvl="0" marL="150495" rtl="0" algn="l">
              <a:lnSpc>
                <a:spcPct val="100000"/>
              </a:lnSpc>
              <a:spcBef>
                <a:spcPts val="1520"/>
              </a:spcBef>
              <a:spcAft>
                <a:spcPts val="0"/>
              </a:spcAft>
              <a:buNone/>
            </a:pPr>
            <a:r>
              <a:rPr lang="en-US" sz="1800">
                <a:latin typeface="Arial"/>
                <a:ea typeface="Arial"/>
                <a:cs typeface="Arial"/>
                <a:sym typeface="Arial"/>
              </a:rPr>
              <a:t>Several key performance indicators significantly impact trading profitability:</a:t>
            </a:r>
            <a:endParaRPr sz="1800">
              <a:latin typeface="Arial"/>
              <a:ea typeface="Arial"/>
              <a:cs typeface="Arial"/>
              <a:sym typeface="Arial"/>
            </a:endParaRPr>
          </a:p>
          <a:p>
            <a:pPr indent="-367030" lvl="0" marL="379095" marR="363855" rtl="0" algn="l">
              <a:lnSpc>
                <a:spcPct val="114999"/>
              </a:lnSpc>
              <a:spcBef>
                <a:spcPts val="1205"/>
              </a:spcBef>
              <a:spcAft>
                <a:spcPts val="0"/>
              </a:spcAft>
              <a:buSzPts val="1800"/>
              <a:buFont typeface="Arial"/>
              <a:buChar char="●"/>
            </a:pPr>
            <a:r>
              <a:rPr lang="en-US" sz="1800">
                <a:latin typeface="Arial"/>
                <a:ea typeface="Arial"/>
                <a:cs typeface="Arial"/>
                <a:sym typeface="Arial"/>
              </a:rPr>
              <a:t>Fast Finality: Enables quick execution of trades, crucial for capitalizing on arbitrage opportunities.</a:t>
            </a:r>
            <a:endParaRPr sz="1800">
              <a:latin typeface="Arial"/>
              <a:ea typeface="Arial"/>
              <a:cs typeface="Arial"/>
              <a:sym typeface="Arial"/>
            </a:endParaRPr>
          </a:p>
          <a:p>
            <a:pPr indent="-367030" lvl="0" marL="379095" marR="639445" rtl="0" algn="l">
              <a:lnSpc>
                <a:spcPct val="114999"/>
              </a:lnSpc>
              <a:spcBef>
                <a:spcPts val="0"/>
              </a:spcBef>
              <a:spcAft>
                <a:spcPts val="0"/>
              </a:spcAft>
              <a:buSzPts val="1800"/>
              <a:buFont typeface="Arial"/>
              <a:buChar char="●"/>
            </a:pPr>
            <a:r>
              <a:rPr lang="en-US" sz="1800">
                <a:latin typeface="Arial"/>
                <a:ea typeface="Arial"/>
                <a:cs typeface="Arial"/>
                <a:sym typeface="Arial"/>
              </a:rPr>
              <a:t>High Transactions Per Second (TPS): Supports high-frequency trading strategies, allowing for rapid execution of numerous trades.</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Low Fees: Increases the profitability of various trading strategies by reducing transaction costs.</a:t>
            </a:r>
            <a:endParaRPr sz="1800">
              <a:latin typeface="Arial"/>
              <a:ea typeface="Arial"/>
              <a:cs typeface="Arial"/>
              <a:sym typeface="Arial"/>
            </a:endParaRPr>
          </a:p>
          <a:p>
            <a:pPr indent="-367030" lvl="0" marL="379095" marR="34925" rtl="0" algn="l">
              <a:lnSpc>
                <a:spcPct val="114999"/>
              </a:lnSpc>
              <a:spcBef>
                <a:spcPts val="0"/>
              </a:spcBef>
              <a:spcAft>
                <a:spcPts val="0"/>
              </a:spcAft>
              <a:buSzPts val="1800"/>
              <a:buFont typeface="Arial"/>
              <a:buChar char="●"/>
            </a:pPr>
            <a:r>
              <a:rPr lang="en-US" sz="1800">
                <a:latin typeface="Arial"/>
                <a:ea typeface="Arial"/>
                <a:cs typeface="Arial"/>
                <a:sym typeface="Arial"/>
              </a:rPr>
              <a:t>Smart Contracts: Facilitate the development of Decentralized Finance (DeFi) applications and promote composability within the blockchain ecosystem.</a:t>
            </a:r>
            <a:endParaRPr sz="18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Three Architectures Preview</a:t>
            </a:r>
            <a:endParaRPr/>
          </a:p>
        </p:txBody>
      </p:sp>
      <p:sp>
        <p:nvSpPr>
          <p:cNvPr id="124" name="Google Shape;124;p1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25" name="Google Shape;125;p1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26" name="Google Shape;126;p16"/>
          <p:cNvSpPr txBox="1"/>
          <p:nvPr/>
        </p:nvSpPr>
        <p:spPr>
          <a:xfrm>
            <a:off x="371374" y="1690481"/>
            <a:ext cx="5101590" cy="171450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Bitcoin (UTXO Model)</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Security-first design: slow but reliable</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Block time: ~10 minutes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Finality: 60 minutes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Best for: Long-term holdings, OTC settlements</a:t>
            </a:r>
            <a:endParaRPr sz="18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Three Architectures Preview</a:t>
            </a:r>
            <a:endParaRPr/>
          </a:p>
        </p:txBody>
      </p:sp>
      <p:sp>
        <p:nvSpPr>
          <p:cNvPr id="132" name="Google Shape;132;p1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33" name="Google Shape;133;p1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34" name="Google Shape;134;p17"/>
          <p:cNvSpPr txBox="1"/>
          <p:nvPr/>
        </p:nvSpPr>
        <p:spPr>
          <a:xfrm>
            <a:off x="380899" y="1531180"/>
            <a:ext cx="4722495" cy="202946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Ethereum:</a:t>
            </a:r>
            <a:endParaRPr sz="1800">
              <a:latin typeface="Arial"/>
              <a:ea typeface="Arial"/>
              <a:cs typeface="Arial"/>
              <a:sym typeface="Arial"/>
            </a:endParaRPr>
          </a:p>
          <a:p>
            <a:pPr indent="-366395" lvl="0" marL="379095" rtl="0" algn="l">
              <a:lnSpc>
                <a:spcPct val="100000"/>
              </a:lnSpc>
              <a:spcBef>
                <a:spcPts val="1525"/>
              </a:spcBef>
              <a:spcAft>
                <a:spcPts val="0"/>
              </a:spcAft>
              <a:buSzPts val="1800"/>
              <a:buFont typeface="Arial"/>
              <a:buChar char="●"/>
            </a:pPr>
            <a:r>
              <a:rPr lang="en-US" sz="1800">
                <a:latin typeface="Arial"/>
                <a:ea typeface="Arial"/>
                <a:cs typeface="Arial"/>
                <a:sym typeface="Arial"/>
              </a:rPr>
              <a:t>Account/EVM Model</a:t>
            </a:r>
            <a:endParaRPr sz="1800">
              <a:latin typeface="Arial"/>
              <a:ea typeface="Arial"/>
              <a:cs typeface="Arial"/>
              <a:sym typeface="Arial"/>
            </a:endParaRPr>
          </a:p>
          <a:p>
            <a:pPr indent="-366395" lvl="0" marL="379095" rtl="0" algn="l">
              <a:lnSpc>
                <a:spcPct val="100000"/>
              </a:lnSpc>
              <a:spcBef>
                <a:spcPts val="320"/>
              </a:spcBef>
              <a:spcAft>
                <a:spcPts val="0"/>
              </a:spcAft>
              <a:buSzPts val="1800"/>
              <a:buFont typeface="Arial"/>
              <a:buChar char="●"/>
            </a:pPr>
            <a:r>
              <a:rPr lang="en-US" sz="1800">
                <a:latin typeface="Arial"/>
                <a:ea typeface="Arial"/>
                <a:cs typeface="Arial"/>
                <a:sym typeface="Arial"/>
              </a:rPr>
              <a:t>Smart contracts and programmable money</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Block time: ~12 seconds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Finality: 6.4 minutes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Ideal for: DeFi trading, DEX strategies</a:t>
            </a:r>
            <a:endParaRPr sz="18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Three Architectures Preview</a:t>
            </a:r>
            <a:endParaRPr/>
          </a:p>
        </p:txBody>
      </p:sp>
      <p:sp>
        <p:nvSpPr>
          <p:cNvPr id="140" name="Google Shape;140;p1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41" name="Google Shape;141;p1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42" name="Google Shape;142;p18"/>
          <p:cNvSpPr txBox="1"/>
          <p:nvPr/>
        </p:nvSpPr>
        <p:spPr>
          <a:xfrm>
            <a:off x="371374" y="1690481"/>
            <a:ext cx="5240655" cy="171450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Solana (Parallel Processing)</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Speed-first, experimental, growing</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Block time: ~0.4 seconds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Finality: 13 seconds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Best for: High-frequency trading, market making</a:t>
            </a:r>
            <a:endParaRPr sz="18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Three Architectures Preview</a:t>
            </a:r>
            <a:endParaRPr/>
          </a:p>
        </p:txBody>
      </p:sp>
      <p:sp>
        <p:nvSpPr>
          <p:cNvPr id="148" name="Google Shape;148;p1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49" name="Google Shape;149;p1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50" name="Google Shape;150;p19"/>
          <p:cNvSpPr txBox="1"/>
          <p:nvPr/>
        </p:nvSpPr>
        <p:spPr>
          <a:xfrm>
            <a:off x="371374" y="2168531"/>
            <a:ext cx="5662295" cy="767715"/>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Visual Comparison</a:t>
            </a:r>
            <a:endParaRPr sz="1800">
              <a:latin typeface="Arial"/>
              <a:ea typeface="Arial"/>
              <a:cs typeface="Arial"/>
              <a:sym typeface="Arial"/>
            </a:endParaRPr>
          </a:p>
          <a:p>
            <a:pPr indent="-366395" lvl="0" marL="379095" rtl="0" algn="l">
              <a:lnSpc>
                <a:spcPct val="100000"/>
              </a:lnSpc>
              <a:spcBef>
                <a:spcPts val="1525"/>
              </a:spcBef>
              <a:spcAft>
                <a:spcPts val="0"/>
              </a:spcAft>
              <a:buSzPts val="1800"/>
              <a:buFont typeface="Arial"/>
              <a:buChar char="●"/>
            </a:pPr>
            <a:r>
              <a:rPr lang="en-US" sz="1800">
                <a:latin typeface="Arial"/>
                <a:ea typeface="Arial"/>
                <a:cs typeface="Arial"/>
                <a:sym typeface="Arial"/>
              </a:rPr>
              <a:t>Chart will be generated from live data in Notebook A</a:t>
            </a:r>
            <a:endParaRPr sz="18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Finality</a:t>
            </a:r>
            <a:endParaRPr/>
          </a:p>
        </p:txBody>
      </p:sp>
      <p:sp>
        <p:nvSpPr>
          <p:cNvPr id="156" name="Google Shape;156;p2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57" name="Google Shape;157;p2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58" name="Google Shape;158;p20"/>
          <p:cNvSpPr txBox="1"/>
          <p:nvPr/>
        </p:nvSpPr>
        <p:spPr>
          <a:xfrm>
            <a:off x="417399" y="1606096"/>
            <a:ext cx="8294370" cy="1860550"/>
          </a:xfrm>
          <a:prstGeom prst="rect">
            <a:avLst/>
          </a:prstGeom>
          <a:noFill/>
          <a:ln>
            <a:noFill/>
          </a:ln>
        </p:spPr>
        <p:txBody>
          <a:bodyPr anchorCtr="0" anchor="t" bIns="0" lIns="0" spcFirstLastPara="1" rIns="0" wrap="square" tIns="12700">
            <a:spAutoFit/>
          </a:bodyPr>
          <a:lstStyle/>
          <a:p>
            <a:pPr indent="0" lvl="0" marL="55880" marR="5715" rtl="0" algn="l">
              <a:lnSpc>
                <a:spcPct val="114999"/>
              </a:lnSpc>
              <a:spcBef>
                <a:spcPts val="0"/>
              </a:spcBef>
              <a:spcAft>
                <a:spcPts val="0"/>
              </a:spcAft>
              <a:buNone/>
            </a:pPr>
            <a:r>
              <a:rPr lang="en-US" sz="1200">
                <a:latin typeface="Arial"/>
                <a:ea typeface="Arial"/>
                <a:cs typeface="Arial"/>
                <a:sym typeface="Arial"/>
              </a:rPr>
              <a:t>Property of some blockchain consensus mechanisms where a transaction becomes </a:t>
            </a:r>
            <a:r>
              <a:rPr b="1" lang="en-US" sz="1200">
                <a:latin typeface="Arial"/>
                <a:ea typeface="Arial"/>
                <a:cs typeface="Arial"/>
                <a:sym typeface="Arial"/>
              </a:rPr>
              <a:t>more likely </a:t>
            </a:r>
            <a:r>
              <a:rPr lang="en-US" sz="1200">
                <a:latin typeface="Arial"/>
                <a:ea typeface="Arial"/>
                <a:cs typeface="Arial"/>
                <a:sym typeface="Arial"/>
              </a:rPr>
              <a:t>to be irreversible as more blocks are added on top of it, but it never reaches </a:t>
            </a:r>
            <a:r>
              <a:rPr b="1" lang="en-US" sz="1200">
                <a:latin typeface="Arial"/>
                <a:ea typeface="Arial"/>
                <a:cs typeface="Arial"/>
                <a:sym typeface="Arial"/>
              </a:rPr>
              <a:t>absolute, cryptographic certainty.</a:t>
            </a:r>
            <a:endParaRPr sz="1200">
              <a:latin typeface="Arial"/>
              <a:ea typeface="Arial"/>
              <a:cs typeface="Arial"/>
              <a:sym typeface="Arial"/>
            </a:endParaRPr>
          </a:p>
          <a:p>
            <a:pPr indent="0" lvl="0" marL="0" rtl="0" algn="l">
              <a:lnSpc>
                <a:spcPct val="100000"/>
              </a:lnSpc>
              <a:spcBef>
                <a:spcPts val="35"/>
              </a:spcBef>
              <a:spcAft>
                <a:spcPts val="0"/>
              </a:spcAft>
              <a:buNone/>
            </a:pPr>
            <a:r>
              <a:t/>
            </a:r>
            <a:endParaRPr sz="1200">
              <a:latin typeface="Arial"/>
              <a:ea typeface="Arial"/>
              <a:cs typeface="Arial"/>
              <a:sym typeface="Arial"/>
            </a:endParaRPr>
          </a:p>
          <a:p>
            <a:pPr indent="-320040" lvl="0" marL="332740" rtl="0" algn="l">
              <a:lnSpc>
                <a:spcPct val="100000"/>
              </a:lnSpc>
              <a:spcBef>
                <a:spcPts val="0"/>
              </a:spcBef>
              <a:spcAft>
                <a:spcPts val="0"/>
              </a:spcAft>
              <a:buSzPts val="1200"/>
              <a:buFont typeface="Arial"/>
              <a:buChar char="●"/>
            </a:pPr>
            <a:r>
              <a:rPr lang="en-US" sz="1200">
                <a:latin typeface="Arial"/>
                <a:ea typeface="Arial"/>
                <a:cs typeface="Arial"/>
                <a:sym typeface="Arial"/>
              </a:rPr>
              <a:t>Offers increasing finality with each new block (confirmations).</a:t>
            </a:r>
            <a:endParaRPr sz="1200">
              <a:latin typeface="Arial"/>
              <a:ea typeface="Arial"/>
              <a:cs typeface="Arial"/>
              <a:sym typeface="Arial"/>
            </a:endParaRPr>
          </a:p>
          <a:p>
            <a:pPr indent="-320040" lvl="0" marL="332740" rtl="0" algn="l">
              <a:lnSpc>
                <a:spcPct val="100000"/>
              </a:lnSpc>
              <a:spcBef>
                <a:spcPts val="215"/>
              </a:spcBef>
              <a:spcAft>
                <a:spcPts val="0"/>
              </a:spcAft>
              <a:buSzPts val="1200"/>
              <a:buFont typeface="Arial"/>
              <a:buChar char="●"/>
            </a:pPr>
            <a:r>
              <a:rPr lang="en-US" sz="1200">
                <a:latin typeface="Arial"/>
                <a:ea typeface="Arial"/>
                <a:cs typeface="Arial"/>
                <a:sym typeface="Arial"/>
              </a:rPr>
              <a:t>A small chance of chain reorganization exists, potentially removing transactions.</a:t>
            </a:r>
            <a:endParaRPr sz="1200">
              <a:latin typeface="Arial"/>
              <a:ea typeface="Arial"/>
              <a:cs typeface="Arial"/>
              <a:sym typeface="Arial"/>
            </a:endParaRPr>
          </a:p>
          <a:p>
            <a:pPr indent="-320040" lvl="0" marL="332740" rtl="0" algn="l">
              <a:lnSpc>
                <a:spcPct val="100000"/>
              </a:lnSpc>
              <a:spcBef>
                <a:spcPts val="215"/>
              </a:spcBef>
              <a:spcAft>
                <a:spcPts val="0"/>
              </a:spcAft>
              <a:buSzPts val="1200"/>
              <a:buFont typeface="Arial"/>
              <a:buChar char="●"/>
            </a:pPr>
            <a:r>
              <a:rPr lang="en-US" sz="1200">
                <a:latin typeface="Arial"/>
                <a:ea typeface="Arial"/>
                <a:cs typeface="Arial"/>
                <a:sym typeface="Arial"/>
              </a:rPr>
              <a:t>Longer chains lead to an exponentially lower probability of reversal.</a:t>
            </a:r>
            <a:endParaRPr sz="1200">
              <a:latin typeface="Arial"/>
              <a:ea typeface="Arial"/>
              <a:cs typeface="Arial"/>
              <a:sym typeface="Arial"/>
            </a:endParaRPr>
          </a:p>
          <a:p>
            <a:pPr indent="-320040" lvl="0" marL="332740" rtl="0" algn="l">
              <a:lnSpc>
                <a:spcPct val="100000"/>
              </a:lnSpc>
              <a:spcBef>
                <a:spcPts val="219"/>
              </a:spcBef>
              <a:spcAft>
                <a:spcPts val="0"/>
              </a:spcAft>
              <a:buSzPts val="1200"/>
              <a:buFont typeface="Arial"/>
              <a:buChar char="●"/>
            </a:pPr>
            <a:r>
              <a:rPr lang="en-US" sz="1200">
                <a:latin typeface="Arial"/>
                <a:ea typeface="Arial"/>
                <a:cs typeface="Arial"/>
                <a:sym typeface="Arial"/>
              </a:rPr>
              <a:t>Relies on probabilistic chain selection, such as the longest-chain rule.</a:t>
            </a:r>
            <a:endParaRPr sz="1200">
              <a:latin typeface="Arial"/>
              <a:ea typeface="Arial"/>
              <a:cs typeface="Arial"/>
              <a:sym typeface="Arial"/>
            </a:endParaRPr>
          </a:p>
          <a:p>
            <a:pPr indent="-320675" lvl="0" marL="332740" marR="5080" rtl="0" algn="l">
              <a:lnSpc>
                <a:spcPct val="114999"/>
              </a:lnSpc>
              <a:spcBef>
                <a:spcPts val="0"/>
              </a:spcBef>
              <a:spcAft>
                <a:spcPts val="0"/>
              </a:spcAft>
              <a:buSzPts val="1200"/>
              <a:buFont typeface="Arial"/>
              <a:buChar char="●"/>
            </a:pPr>
            <a:r>
              <a:rPr lang="en-US" sz="1200">
                <a:latin typeface="Arial"/>
                <a:ea typeface="Arial"/>
                <a:cs typeface="Arial"/>
                <a:sym typeface="Arial"/>
              </a:rPr>
              <a:t>Transactions become practically irreversible after a sufficient number of confirmations (e.g., 6 in Bitcoin), though never 100% guaranteed.</a:t>
            </a:r>
            <a:endParaRPr sz="12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Class Roadmap</a:t>
            </a:r>
            <a:endParaRPr/>
          </a:p>
        </p:txBody>
      </p:sp>
      <p:sp>
        <p:nvSpPr>
          <p:cNvPr id="164" name="Google Shape;164;p2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65" name="Google Shape;165;p2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66" name="Google Shape;166;p21"/>
          <p:cNvSpPr txBox="1"/>
          <p:nvPr/>
        </p:nvSpPr>
        <p:spPr>
          <a:xfrm>
            <a:off x="290375" y="944462"/>
            <a:ext cx="4991735" cy="319532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400">
                <a:latin typeface="Arial"/>
                <a:ea typeface="Arial"/>
                <a:cs typeface="Arial"/>
                <a:sym typeface="Arial"/>
              </a:rPr>
              <a:t>Part 1: Foundations (90 minutes)</a:t>
            </a:r>
            <a:endParaRPr sz="1400">
              <a:latin typeface="Arial"/>
              <a:ea typeface="Arial"/>
              <a:cs typeface="Arial"/>
              <a:sym typeface="Arial"/>
            </a:endParaRPr>
          </a:p>
          <a:p>
            <a:pPr indent="-335915" lvl="0" marL="469265" rtl="0" algn="l">
              <a:lnSpc>
                <a:spcPct val="100000"/>
              </a:lnSpc>
              <a:spcBef>
                <a:spcPts val="1200"/>
              </a:spcBef>
              <a:spcAft>
                <a:spcPts val="0"/>
              </a:spcAft>
              <a:buSzPts val="1400"/>
              <a:buFont typeface="Arial"/>
              <a:buChar char="●"/>
            </a:pPr>
            <a:r>
              <a:rPr lang="en-US" sz="1400">
                <a:latin typeface="Arial"/>
                <a:ea typeface="Arial"/>
                <a:cs typeface="Arial"/>
                <a:sym typeface="Arial"/>
              </a:rPr>
              <a:t>Introduction &amp; Motivation (15 min)</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Bitcoin: UTXO Architecture (20 min)</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Ethereum: EVM Architecture (20 min)</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Solana: Parallel Architecture (20 min)</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LIVE DEMO: Notebook A (15 min)</a:t>
            </a:r>
            <a:endParaRPr sz="1400">
              <a:latin typeface="Arial"/>
              <a:ea typeface="Arial"/>
              <a:cs typeface="Arial"/>
              <a:sym typeface="Arial"/>
            </a:endParaRPr>
          </a:p>
          <a:p>
            <a:pPr indent="0" lvl="0" marL="12700" rtl="0" algn="l">
              <a:lnSpc>
                <a:spcPct val="100000"/>
              </a:lnSpc>
              <a:spcBef>
                <a:spcPts val="1200"/>
              </a:spcBef>
              <a:spcAft>
                <a:spcPts val="0"/>
              </a:spcAft>
              <a:buNone/>
            </a:pPr>
            <a:r>
              <a:rPr lang="en-US" sz="1400">
                <a:latin typeface="Arial"/>
                <a:ea typeface="Arial"/>
                <a:cs typeface="Arial"/>
                <a:sym typeface="Arial"/>
              </a:rPr>
              <a:t>BREAK (15 minutes)</a:t>
            </a:r>
            <a:endParaRPr sz="1400">
              <a:latin typeface="Arial"/>
              <a:ea typeface="Arial"/>
              <a:cs typeface="Arial"/>
              <a:sym typeface="Arial"/>
            </a:endParaRPr>
          </a:p>
          <a:p>
            <a:pPr indent="0" lvl="0" marL="241300" rtl="0" algn="l">
              <a:lnSpc>
                <a:spcPct val="100000"/>
              </a:lnSpc>
              <a:spcBef>
                <a:spcPts val="1200"/>
              </a:spcBef>
              <a:spcAft>
                <a:spcPts val="0"/>
              </a:spcAft>
              <a:buNone/>
            </a:pPr>
            <a:r>
              <a:rPr lang="en-US" sz="1400">
                <a:latin typeface="Arial"/>
                <a:ea typeface="Arial"/>
                <a:cs typeface="Arial"/>
                <a:sym typeface="Arial"/>
              </a:rPr>
              <a:t>Part 2: Trading Applications (75 minutes)</a:t>
            </a:r>
            <a:endParaRPr sz="1400">
              <a:latin typeface="Arial"/>
              <a:ea typeface="Arial"/>
              <a:cs typeface="Arial"/>
              <a:sym typeface="Arial"/>
            </a:endParaRPr>
          </a:p>
          <a:p>
            <a:pPr indent="-335915" lvl="0" marL="469265" rtl="0" algn="l">
              <a:lnSpc>
                <a:spcPct val="100000"/>
              </a:lnSpc>
              <a:spcBef>
                <a:spcPts val="1200"/>
              </a:spcBef>
              <a:spcAft>
                <a:spcPts val="0"/>
              </a:spcAft>
              <a:buSzPts val="1400"/>
              <a:buFont typeface="Arial"/>
              <a:buChar char="●"/>
            </a:pPr>
            <a:r>
              <a:rPr lang="en-US" sz="1400">
                <a:latin typeface="Arial"/>
                <a:ea typeface="Arial"/>
                <a:cs typeface="Arial"/>
                <a:sym typeface="Arial"/>
              </a:rPr>
              <a:t>Cross-Chain Tokens (20 min + Notebook B)</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CEX vs. DEX Dynamics (25 min + Notebook C)</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Architecture Performance Scoring (20 min + Notebook D)</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Q&amp;A and Wrap-Up (10 min)</a:t>
            </a:r>
            <a:endParaRPr sz="14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1628465" y="2266442"/>
            <a:ext cx="58807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latin typeface="Cambria"/>
                <a:ea typeface="Cambria"/>
                <a:cs typeface="Cambria"/>
                <a:sym typeface="Cambria"/>
              </a:rPr>
              <a:t>₿ </a:t>
            </a:r>
            <a:r>
              <a:rPr lang="en-US" sz="3600"/>
              <a:t>Bitcoin: UTXO Architecture</a:t>
            </a:r>
            <a:endParaRPr sz="3600">
              <a:latin typeface="Cambria"/>
              <a:ea typeface="Cambria"/>
              <a:cs typeface="Cambria"/>
              <a:sym typeface="Cambria"/>
            </a:endParaRPr>
          </a:p>
        </p:txBody>
      </p:sp>
      <p:sp>
        <p:nvSpPr>
          <p:cNvPr id="172" name="Google Shape;172;p2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73" name="Google Shape;173;p2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UTXO Model Explained</a:t>
            </a:r>
            <a:endParaRPr/>
          </a:p>
        </p:txBody>
      </p:sp>
      <p:sp>
        <p:nvSpPr>
          <p:cNvPr id="179" name="Google Shape;179;p2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80" name="Google Shape;180;p2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81" name="Google Shape;181;p23"/>
          <p:cNvSpPr txBox="1"/>
          <p:nvPr/>
        </p:nvSpPr>
        <p:spPr>
          <a:xfrm>
            <a:off x="371374" y="1531180"/>
            <a:ext cx="7907655" cy="202946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Analogy: Cash in Your Wallet</a:t>
            </a:r>
            <a:endParaRPr sz="1800">
              <a:latin typeface="Arial"/>
              <a:ea typeface="Arial"/>
              <a:cs typeface="Arial"/>
              <a:sym typeface="Arial"/>
            </a:endParaRPr>
          </a:p>
          <a:p>
            <a:pPr indent="-366395" lvl="0" marL="379095" rtl="0" algn="l">
              <a:lnSpc>
                <a:spcPct val="100000"/>
              </a:lnSpc>
              <a:spcBef>
                <a:spcPts val="1525"/>
              </a:spcBef>
              <a:spcAft>
                <a:spcPts val="0"/>
              </a:spcAft>
              <a:buSzPts val="1800"/>
              <a:buFont typeface="Arial"/>
              <a:buChar char="●"/>
            </a:pPr>
            <a:r>
              <a:rPr lang="en-US" sz="1800">
                <a:latin typeface="Arial"/>
                <a:ea typeface="Arial"/>
                <a:cs typeface="Arial"/>
                <a:sym typeface="Arial"/>
              </a:rPr>
              <a:t>Physical Bills: You hold physical denominations like $5, $10, or $20.</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Transactions: To pay $15, you might hand over a $20 bill and receive $5 in change.</a:t>
            </a:r>
            <a:endParaRPr sz="1800">
              <a:latin typeface="Arial"/>
              <a:ea typeface="Arial"/>
              <a:cs typeface="Arial"/>
              <a:sym typeface="Arial"/>
            </a:endParaRPr>
          </a:p>
          <a:p>
            <a:pPr indent="-367030" lvl="0" marL="379095" marR="367665" rtl="0" algn="l">
              <a:lnSpc>
                <a:spcPct val="114999"/>
              </a:lnSpc>
              <a:spcBef>
                <a:spcPts val="0"/>
              </a:spcBef>
              <a:spcAft>
                <a:spcPts val="0"/>
              </a:spcAft>
              <a:buSzPts val="1800"/>
              <a:buFont typeface="Arial"/>
              <a:buChar char="●"/>
            </a:pPr>
            <a:r>
              <a:rPr lang="en-US" sz="1800">
                <a:latin typeface="Arial"/>
                <a:ea typeface="Arial"/>
                <a:cs typeface="Arial"/>
                <a:sym typeface="Arial"/>
              </a:rPr>
              <a:t>Status of Funds: The initial $20 bill is now "spent," while the new $5 bill becomes "unspent."</a:t>
            </a:r>
            <a:endParaRPr sz="18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UTXO Model Explained</a:t>
            </a:r>
            <a:endParaRPr/>
          </a:p>
        </p:txBody>
      </p:sp>
      <p:sp>
        <p:nvSpPr>
          <p:cNvPr id="187" name="Google Shape;187;p2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88" name="Google Shape;188;p2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89" name="Google Shape;189;p24"/>
          <p:cNvSpPr txBox="1"/>
          <p:nvPr/>
        </p:nvSpPr>
        <p:spPr>
          <a:xfrm>
            <a:off x="380899" y="1566983"/>
            <a:ext cx="8335009" cy="1918335"/>
          </a:xfrm>
          <a:prstGeom prst="rect">
            <a:avLst/>
          </a:prstGeom>
          <a:noFill/>
          <a:ln>
            <a:noFill/>
          </a:ln>
        </p:spPr>
        <p:txBody>
          <a:bodyPr anchorCtr="0" anchor="t" bIns="0" lIns="0" spcFirstLastPara="1" rIns="0" wrap="square" tIns="53325">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Unspent Transaction Output (UTXO)</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Each "coin" represents an unspent output from a previous transaction.</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Transactions involve consuming existing UTXOs as inputs and generating new UTXOs as outputs.</a:t>
            </a:r>
            <a:endParaRPr sz="1800">
              <a:latin typeface="Arial"/>
              <a:ea typeface="Arial"/>
              <a:cs typeface="Arial"/>
              <a:sym typeface="Arial"/>
            </a:endParaRPr>
          </a:p>
          <a:p>
            <a:pPr indent="-367030" lvl="0" marL="379095" marR="495934" rtl="0" algn="l">
              <a:lnSpc>
                <a:spcPct val="114999"/>
              </a:lnSpc>
              <a:spcBef>
                <a:spcPts val="0"/>
              </a:spcBef>
              <a:spcAft>
                <a:spcPts val="0"/>
              </a:spcAft>
              <a:buSzPts val="1800"/>
              <a:buFont typeface="Arial"/>
              <a:buChar char="●"/>
            </a:pPr>
            <a:r>
              <a:rPr lang="en-US" sz="1800">
                <a:latin typeface="Arial"/>
                <a:ea typeface="Arial"/>
                <a:cs typeface="Arial"/>
                <a:sym typeface="Arial"/>
              </a:rPr>
              <a:t>Instead of account balances, the system maintains a collection of unspent outputs.</a:t>
            </a:r>
            <a:endParaRPr sz="18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UTXO Model Explained</a:t>
            </a:r>
            <a:endParaRPr/>
          </a:p>
        </p:txBody>
      </p:sp>
      <p:sp>
        <p:nvSpPr>
          <p:cNvPr id="195" name="Google Shape;195;p2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96" name="Google Shape;196;p2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97" name="Google Shape;197;p25"/>
          <p:cNvSpPr txBox="1"/>
          <p:nvPr/>
        </p:nvSpPr>
        <p:spPr>
          <a:xfrm>
            <a:off x="380899" y="1690481"/>
            <a:ext cx="7972425" cy="171450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How Transactions Work</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Alice wants to send 1.5 BTC to Bob. She has a 2 BTC UTXO.</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The transaction consumes the entire 2 BTC input.</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Two outputs are created: 1.5 BTC for Bob and 0.5 BTC returned to Alice as change.</a:t>
            </a:r>
            <a:endParaRPr sz="18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UTXO Model Explained</a:t>
            </a:r>
            <a:endParaRPr/>
          </a:p>
        </p:txBody>
      </p:sp>
      <p:sp>
        <p:nvSpPr>
          <p:cNvPr id="203" name="Google Shape;203;p2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04" name="Google Shape;204;p2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05" name="Google Shape;205;p26"/>
          <p:cNvSpPr txBox="1"/>
          <p:nvPr/>
        </p:nvSpPr>
        <p:spPr>
          <a:xfrm>
            <a:off x="380899" y="1849931"/>
            <a:ext cx="7724140" cy="1398905"/>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Key Properties</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Stateless: No global account state</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Parallel Validation: UTXOs (Unspent Transaction Outputs) do not conflict</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Simple but Limited: Lacks native smart contract functionality</a:t>
            </a:r>
            <a:endParaRPr sz="18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Bitcoin Performance Metrics</a:t>
            </a:r>
            <a:endParaRPr/>
          </a:p>
        </p:txBody>
      </p:sp>
      <p:sp>
        <p:nvSpPr>
          <p:cNvPr id="211" name="Google Shape;211;p2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12" name="Google Shape;212;p2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13" name="Google Shape;213;p27"/>
          <p:cNvSpPr txBox="1"/>
          <p:nvPr/>
        </p:nvSpPr>
        <p:spPr>
          <a:xfrm>
            <a:off x="290375" y="981731"/>
            <a:ext cx="8082280" cy="311785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800">
                <a:latin typeface="Arial"/>
                <a:ea typeface="Arial"/>
                <a:cs typeface="Arial"/>
                <a:sym typeface="Arial"/>
              </a:rPr>
              <a:t>Bitcoin Block Dynamics &amp; Transaction Security</a:t>
            </a:r>
            <a:endParaRPr sz="1800">
              <a:latin typeface="Arial"/>
              <a:ea typeface="Arial"/>
              <a:cs typeface="Arial"/>
              <a:sym typeface="Arial"/>
            </a:endParaRPr>
          </a:p>
          <a:p>
            <a:pPr indent="0" lvl="0" marL="241300" rtl="0" algn="l">
              <a:lnSpc>
                <a:spcPct val="100000"/>
              </a:lnSpc>
              <a:spcBef>
                <a:spcPts val="1520"/>
              </a:spcBef>
              <a:spcAft>
                <a:spcPts val="0"/>
              </a:spcAft>
              <a:buNone/>
            </a:pPr>
            <a:r>
              <a:rPr lang="en-US" sz="1800">
                <a:latin typeface="Arial"/>
                <a:ea typeface="Arial"/>
                <a:cs typeface="Arial"/>
                <a:sym typeface="Arial"/>
              </a:rPr>
              <a:t>Block Time:</a:t>
            </a:r>
            <a:endParaRPr sz="1800">
              <a:latin typeface="Arial"/>
              <a:ea typeface="Arial"/>
              <a:cs typeface="Arial"/>
              <a:sym typeface="Arial"/>
            </a:endParaRPr>
          </a:p>
          <a:p>
            <a:pPr indent="-366395" lvl="0" marL="469265" rtl="0" algn="l">
              <a:lnSpc>
                <a:spcPct val="100000"/>
              </a:lnSpc>
              <a:spcBef>
                <a:spcPts val="1525"/>
              </a:spcBef>
              <a:spcAft>
                <a:spcPts val="0"/>
              </a:spcAft>
              <a:buSzPts val="1800"/>
              <a:buFont typeface="Arial"/>
              <a:buChar char="●"/>
            </a:pPr>
            <a:r>
              <a:rPr lang="en-US" sz="1800">
                <a:latin typeface="Arial"/>
                <a:ea typeface="Arial"/>
                <a:cs typeface="Arial"/>
                <a:sym typeface="Arial"/>
              </a:rPr>
              <a:t>Approximately 600 seconds (10 minutes) per block.</a:t>
            </a:r>
            <a:endParaRPr sz="1800">
              <a:latin typeface="Arial"/>
              <a:ea typeface="Arial"/>
              <a:cs typeface="Arial"/>
              <a:sym typeface="Arial"/>
            </a:endParaRPr>
          </a:p>
          <a:p>
            <a:pPr indent="-366395" lvl="0" marL="469265" rtl="0" algn="l">
              <a:lnSpc>
                <a:spcPct val="100000"/>
              </a:lnSpc>
              <a:spcBef>
                <a:spcPts val="325"/>
              </a:spcBef>
              <a:spcAft>
                <a:spcPts val="0"/>
              </a:spcAft>
              <a:buSzPts val="1800"/>
              <a:buFont typeface="Arial"/>
              <a:buChar char="●"/>
            </a:pPr>
            <a:r>
              <a:rPr lang="en-US" sz="1800">
                <a:latin typeface="Arial"/>
                <a:ea typeface="Arial"/>
                <a:cs typeface="Arial"/>
                <a:sym typeface="Arial"/>
              </a:rPr>
              <a:t>New blocks are mined roughly every 10 minutes.</a:t>
            </a:r>
            <a:endParaRPr sz="1800">
              <a:latin typeface="Arial"/>
              <a:ea typeface="Arial"/>
              <a:cs typeface="Arial"/>
              <a:sym typeface="Arial"/>
            </a:endParaRPr>
          </a:p>
          <a:p>
            <a:pPr indent="0" lvl="0" marL="12700" rtl="0" algn="l">
              <a:lnSpc>
                <a:spcPct val="100000"/>
              </a:lnSpc>
              <a:spcBef>
                <a:spcPts val="1525"/>
              </a:spcBef>
              <a:spcAft>
                <a:spcPts val="0"/>
              </a:spcAft>
              <a:buNone/>
            </a:pPr>
            <a:r>
              <a:rPr lang="en-US" sz="1800">
                <a:latin typeface="Arial"/>
                <a:ea typeface="Arial"/>
                <a:cs typeface="Arial"/>
                <a:sym typeface="Arial"/>
              </a:rPr>
              <a:t>Difficulty Adjustment:</a:t>
            </a:r>
            <a:endParaRPr sz="1800">
              <a:latin typeface="Arial"/>
              <a:ea typeface="Arial"/>
              <a:cs typeface="Arial"/>
              <a:sym typeface="Arial"/>
            </a:endParaRPr>
          </a:p>
          <a:p>
            <a:pPr indent="-366395" lvl="0" marL="469265" rtl="0" algn="l">
              <a:lnSpc>
                <a:spcPct val="100000"/>
              </a:lnSpc>
              <a:spcBef>
                <a:spcPts val="1525"/>
              </a:spcBef>
              <a:spcAft>
                <a:spcPts val="0"/>
              </a:spcAft>
              <a:buSzPts val="1800"/>
              <a:buFont typeface="Arial"/>
              <a:buChar char="●"/>
            </a:pPr>
            <a:r>
              <a:rPr lang="en-US" sz="1800">
                <a:latin typeface="Arial"/>
                <a:ea typeface="Arial"/>
                <a:cs typeface="Arial"/>
                <a:sym typeface="Arial"/>
              </a:rPr>
              <a:t>Occurs every 2016 blocks (approximately every 2 weeks).</a:t>
            </a:r>
            <a:endParaRPr sz="1800">
              <a:latin typeface="Arial"/>
              <a:ea typeface="Arial"/>
              <a:cs typeface="Arial"/>
              <a:sym typeface="Arial"/>
            </a:endParaRPr>
          </a:p>
          <a:p>
            <a:pPr indent="-367030" lvl="0" marL="469900" marR="5080" rtl="0" algn="l">
              <a:lnSpc>
                <a:spcPct val="114999"/>
              </a:lnSpc>
              <a:spcBef>
                <a:spcPts val="0"/>
              </a:spcBef>
              <a:spcAft>
                <a:spcPts val="0"/>
              </a:spcAft>
              <a:buSzPts val="1800"/>
              <a:buFont typeface="Arial"/>
              <a:buChar char="●"/>
            </a:pPr>
            <a:r>
              <a:rPr lang="en-US" sz="1800">
                <a:latin typeface="Arial"/>
                <a:ea typeface="Arial"/>
                <a:cs typeface="Arial"/>
                <a:sym typeface="Arial"/>
              </a:rPr>
              <a:t>Maintains a consistent block time regardless of fluctuations in the network's hash rate.</a:t>
            </a:r>
            <a:endParaRPr sz="18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Bitcoin Performance Metrics</a:t>
            </a:r>
            <a:endParaRPr/>
          </a:p>
        </p:txBody>
      </p:sp>
      <p:sp>
        <p:nvSpPr>
          <p:cNvPr id="219" name="Google Shape;219;p2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20" name="Google Shape;220;p2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21" name="Google Shape;221;p28"/>
          <p:cNvSpPr txBox="1"/>
          <p:nvPr/>
        </p:nvSpPr>
        <p:spPr>
          <a:xfrm>
            <a:off x="290375" y="1371880"/>
            <a:ext cx="8483600" cy="23450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Confirmations:</a:t>
            </a:r>
            <a:endParaRPr sz="1800">
              <a:latin typeface="Arial"/>
              <a:ea typeface="Arial"/>
              <a:cs typeface="Arial"/>
              <a:sym typeface="Arial"/>
            </a:endParaRPr>
          </a:p>
          <a:p>
            <a:pPr indent="-366395" lvl="0" marL="469265" rtl="0" algn="l">
              <a:lnSpc>
                <a:spcPct val="100000"/>
              </a:lnSpc>
              <a:spcBef>
                <a:spcPts val="1520"/>
              </a:spcBef>
              <a:spcAft>
                <a:spcPts val="0"/>
              </a:spcAft>
              <a:buSzPts val="1800"/>
              <a:buFont typeface="Arial"/>
              <a:buChar char="●"/>
            </a:pPr>
            <a:r>
              <a:rPr lang="en-US" sz="1800">
                <a:latin typeface="Arial"/>
                <a:ea typeface="Arial"/>
                <a:cs typeface="Arial"/>
                <a:sym typeface="Arial"/>
              </a:rPr>
              <a:t>6 blocks are generally recommended for high security.</a:t>
            </a:r>
            <a:endParaRPr sz="1800">
              <a:latin typeface="Arial"/>
              <a:ea typeface="Arial"/>
              <a:cs typeface="Arial"/>
              <a:sym typeface="Arial"/>
            </a:endParaRPr>
          </a:p>
          <a:p>
            <a:pPr indent="-367030" lvl="0" marL="469900" marR="1006475" rtl="0" algn="l">
              <a:lnSpc>
                <a:spcPct val="114999"/>
              </a:lnSpc>
              <a:spcBef>
                <a:spcPts val="5"/>
              </a:spcBef>
              <a:spcAft>
                <a:spcPts val="0"/>
              </a:spcAft>
              <a:buSzPts val="1800"/>
              <a:buFont typeface="Arial"/>
              <a:buChar char="●"/>
            </a:pPr>
            <a:r>
              <a:rPr lang="en-US" sz="1800">
                <a:latin typeface="Arial"/>
                <a:ea typeface="Arial"/>
                <a:cs typeface="Arial"/>
                <a:sym typeface="Arial"/>
              </a:rPr>
              <a:t>Each new block progressively increases the probabilistic security of a transaction.</a:t>
            </a:r>
            <a:endParaRPr sz="1800">
              <a:latin typeface="Arial"/>
              <a:ea typeface="Arial"/>
              <a:cs typeface="Arial"/>
              <a:sym typeface="Arial"/>
            </a:endParaRPr>
          </a:p>
          <a:p>
            <a:pPr indent="-367030" lvl="0" marL="469900" marR="321310" rtl="0" algn="l">
              <a:lnSpc>
                <a:spcPct val="114999"/>
              </a:lnSpc>
              <a:spcBef>
                <a:spcPts val="0"/>
              </a:spcBef>
              <a:spcAft>
                <a:spcPts val="0"/>
              </a:spcAft>
              <a:buSzPts val="1800"/>
              <a:buFont typeface="Arial"/>
              <a:buChar char="●"/>
            </a:pPr>
            <a:r>
              <a:rPr lang="en-US" sz="1800">
                <a:latin typeface="Arial"/>
                <a:ea typeface="Arial"/>
                <a:cs typeface="Arial"/>
                <a:sym typeface="Arial"/>
              </a:rPr>
              <a:t>6 confirmations provide an approximate 99.9% certainty that a transaction is irreversible.</a:t>
            </a:r>
            <a:endParaRPr sz="1800">
              <a:latin typeface="Arial"/>
              <a:ea typeface="Arial"/>
              <a:cs typeface="Arial"/>
              <a:sym typeface="Arial"/>
            </a:endParaRPr>
          </a:p>
          <a:p>
            <a:pPr indent="-366395" lvl="0" marL="469265" rtl="0" algn="l">
              <a:lnSpc>
                <a:spcPct val="100000"/>
              </a:lnSpc>
              <a:spcBef>
                <a:spcPts val="320"/>
              </a:spcBef>
              <a:spcAft>
                <a:spcPts val="0"/>
              </a:spcAft>
              <a:buSzPts val="1800"/>
              <a:buFont typeface="Arial"/>
              <a:buChar char="●"/>
            </a:pPr>
            <a:r>
              <a:rPr lang="en-US" sz="1800">
                <a:latin typeface="Arial"/>
                <a:ea typeface="Arial"/>
                <a:cs typeface="Arial"/>
                <a:sym typeface="Arial"/>
              </a:rPr>
              <a:t>Exchanges commonly require 3-6 confirmations before validating a transaction.</a:t>
            </a:r>
            <a:endParaRPr sz="18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Bitcoin Performance Metrics</a:t>
            </a:r>
            <a:endParaRPr/>
          </a:p>
        </p:txBody>
      </p:sp>
      <p:sp>
        <p:nvSpPr>
          <p:cNvPr id="227" name="Google Shape;227;p2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28" name="Google Shape;228;p2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29" name="Google Shape;229;p29"/>
          <p:cNvSpPr txBox="1"/>
          <p:nvPr/>
        </p:nvSpPr>
        <p:spPr>
          <a:xfrm>
            <a:off x="380899" y="1248383"/>
            <a:ext cx="8341359" cy="2549525"/>
          </a:xfrm>
          <a:prstGeom prst="rect">
            <a:avLst/>
          </a:prstGeom>
          <a:noFill/>
          <a:ln>
            <a:noFill/>
          </a:ln>
        </p:spPr>
        <p:txBody>
          <a:bodyPr anchorCtr="0" anchor="t" bIns="0" lIns="0" spcFirstLastPara="1" rIns="0" wrap="square" tIns="12700">
            <a:spAutoFit/>
          </a:bodyPr>
          <a:lstStyle/>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Finality: Probabilistic (never 100% final), achieved in approximately 60 minutes (6 blocks at 10 minutes per block). Deep reorgs are theoretically possible but extremely rare.</a:t>
            </a:r>
            <a:endParaRPr sz="1800">
              <a:latin typeface="Arial"/>
              <a:ea typeface="Arial"/>
              <a:cs typeface="Arial"/>
              <a:sym typeface="Arial"/>
            </a:endParaRPr>
          </a:p>
          <a:p>
            <a:pPr indent="-366395" lvl="0" marL="379095" rtl="0" algn="l">
              <a:lnSpc>
                <a:spcPct val="100000"/>
              </a:lnSpc>
              <a:spcBef>
                <a:spcPts val="320"/>
              </a:spcBef>
              <a:spcAft>
                <a:spcPts val="0"/>
              </a:spcAft>
              <a:buSzPts val="1800"/>
              <a:buFont typeface="Arial"/>
              <a:buChar char="●"/>
            </a:pPr>
            <a:r>
              <a:rPr lang="en-US" sz="1800">
                <a:latin typeface="Arial"/>
                <a:ea typeface="Arial"/>
                <a:cs typeface="Arial"/>
                <a:sym typeface="Arial"/>
              </a:rPr>
              <a:t>Transactions:</a:t>
            </a:r>
            <a:endParaRPr sz="1800">
              <a:latin typeface="Arial"/>
              <a:ea typeface="Arial"/>
              <a:cs typeface="Arial"/>
              <a:sym typeface="Arial"/>
            </a:endParaRPr>
          </a:p>
          <a:p>
            <a:pPr indent="-366395" lvl="1" marL="836294" rtl="0" algn="l">
              <a:lnSpc>
                <a:spcPct val="100000"/>
              </a:lnSpc>
              <a:spcBef>
                <a:spcPts val="325"/>
              </a:spcBef>
              <a:spcAft>
                <a:spcPts val="0"/>
              </a:spcAft>
              <a:buSzPts val="1800"/>
              <a:buFont typeface="Arial"/>
              <a:buChar char="○"/>
            </a:pPr>
            <a:r>
              <a:rPr lang="en-US" sz="1800">
                <a:latin typeface="Arial"/>
                <a:ea typeface="Arial"/>
                <a:cs typeface="Arial"/>
                <a:sym typeface="Arial"/>
              </a:rPr>
              <a:t>TPS: Approximately 7 transactions per second.</a:t>
            </a:r>
            <a:endParaRPr sz="1800">
              <a:latin typeface="Arial"/>
              <a:ea typeface="Arial"/>
              <a:cs typeface="Arial"/>
              <a:sym typeface="Arial"/>
            </a:endParaRPr>
          </a:p>
          <a:p>
            <a:pPr indent="-366395" lvl="1" marL="836294" rtl="0" algn="l">
              <a:lnSpc>
                <a:spcPct val="100000"/>
              </a:lnSpc>
              <a:spcBef>
                <a:spcPts val="325"/>
              </a:spcBef>
              <a:spcAft>
                <a:spcPts val="0"/>
              </a:spcAft>
              <a:buSzPts val="1800"/>
              <a:buFont typeface="Arial"/>
              <a:buChar char="○"/>
            </a:pPr>
            <a:r>
              <a:rPr lang="en-US" sz="1800">
                <a:latin typeface="Arial"/>
                <a:ea typeface="Arial"/>
                <a:cs typeface="Arial"/>
                <a:sym typeface="Arial"/>
              </a:rPr>
              <a:t>Block Size: 1 MB (effectively 2-4 MB with SegWit).</a:t>
            </a:r>
            <a:endParaRPr sz="1800">
              <a:latin typeface="Arial"/>
              <a:ea typeface="Arial"/>
              <a:cs typeface="Arial"/>
              <a:sym typeface="Arial"/>
            </a:endParaRPr>
          </a:p>
          <a:p>
            <a:pPr indent="-366395" lvl="1" marL="836294" rtl="0" algn="l">
              <a:lnSpc>
                <a:spcPct val="100000"/>
              </a:lnSpc>
              <a:spcBef>
                <a:spcPts val="325"/>
              </a:spcBef>
              <a:spcAft>
                <a:spcPts val="0"/>
              </a:spcAft>
              <a:buSzPts val="1800"/>
              <a:buFont typeface="Arial"/>
              <a:buChar char="○"/>
            </a:pPr>
            <a:r>
              <a:rPr lang="en-US" sz="1800">
                <a:latin typeface="Arial"/>
                <a:ea typeface="Arial"/>
                <a:cs typeface="Arial"/>
                <a:sym typeface="Arial"/>
              </a:rPr>
              <a:t>Transaction Size: Approximately 250 bytes on average.</a:t>
            </a:r>
            <a:endParaRPr sz="1800">
              <a:latin typeface="Arial"/>
              <a:ea typeface="Arial"/>
              <a:cs typeface="Arial"/>
              <a:sym typeface="Arial"/>
            </a:endParaRPr>
          </a:p>
          <a:p>
            <a:pPr indent="-366395" lvl="1" marL="836294" rtl="0" algn="l">
              <a:lnSpc>
                <a:spcPct val="100000"/>
              </a:lnSpc>
              <a:spcBef>
                <a:spcPts val="325"/>
              </a:spcBef>
              <a:spcAft>
                <a:spcPts val="0"/>
              </a:spcAft>
              <a:buSzPts val="1800"/>
              <a:buFont typeface="Arial"/>
              <a:buChar char="○"/>
            </a:pPr>
            <a:r>
              <a:rPr lang="en-US" sz="1800">
                <a:latin typeface="Arial"/>
                <a:ea typeface="Arial"/>
                <a:cs typeface="Arial"/>
                <a:sym typeface="Arial"/>
              </a:rPr>
              <a:t>Calculation: 1 MB / 250 bytes / 600 seconds ≈ 7 TPS.</a:t>
            </a:r>
            <a:endParaRPr sz="18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Bitcoin Performance Metrics</a:t>
            </a:r>
            <a:endParaRPr/>
          </a:p>
        </p:txBody>
      </p:sp>
      <p:sp>
        <p:nvSpPr>
          <p:cNvPr id="235" name="Google Shape;235;p3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36" name="Google Shape;236;p3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37" name="Google Shape;237;p30"/>
          <p:cNvSpPr txBox="1"/>
          <p:nvPr/>
        </p:nvSpPr>
        <p:spPr>
          <a:xfrm>
            <a:off x="380899" y="1371880"/>
            <a:ext cx="8172450" cy="2345055"/>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Why the Delay?</a:t>
            </a:r>
            <a:endParaRPr sz="1800">
              <a:latin typeface="Arial"/>
              <a:ea typeface="Arial"/>
              <a:cs typeface="Arial"/>
              <a:sym typeface="Arial"/>
            </a:endParaRPr>
          </a:p>
          <a:p>
            <a:pPr indent="-367030" lvl="0" marL="379095" marR="557530" rtl="0" algn="l">
              <a:lnSpc>
                <a:spcPct val="114999"/>
              </a:lnSpc>
              <a:spcBef>
                <a:spcPts val="1200"/>
              </a:spcBef>
              <a:spcAft>
                <a:spcPts val="0"/>
              </a:spcAft>
              <a:buSzPts val="1800"/>
              <a:buFont typeface="Arial"/>
              <a:buChar char="●"/>
            </a:pPr>
            <a:r>
              <a:rPr lang="en-US" sz="1800">
                <a:latin typeface="Arial"/>
                <a:ea typeface="Arial"/>
                <a:cs typeface="Arial"/>
                <a:sym typeface="Arial"/>
              </a:rPr>
              <a:t>Proof-of-Work (PoW) Consensus: This energy-intensive mining process contributes to slower transaction times.</a:t>
            </a:r>
            <a:endParaRPr sz="1800">
              <a:latin typeface="Arial"/>
              <a:ea typeface="Arial"/>
              <a:cs typeface="Arial"/>
              <a:sym typeface="Arial"/>
            </a:endParaRPr>
          </a:p>
          <a:p>
            <a:pPr indent="-367030" lvl="0" marL="379095" marR="431800" rtl="0" algn="l">
              <a:lnSpc>
                <a:spcPct val="114999"/>
              </a:lnSpc>
              <a:spcBef>
                <a:spcPts val="0"/>
              </a:spcBef>
              <a:spcAft>
                <a:spcPts val="0"/>
              </a:spcAft>
              <a:buSzPts val="1800"/>
              <a:buFont typeface="Arial"/>
              <a:buChar char="●"/>
            </a:pPr>
            <a:r>
              <a:rPr lang="en-US" sz="1800">
                <a:latin typeface="Arial"/>
                <a:ea typeface="Arial"/>
                <a:cs typeface="Arial"/>
                <a:sym typeface="Arial"/>
              </a:rPr>
              <a:t>Security Over Speed: Conservative network parameters are prioritized to enhance security, even if it impacts transaction speed.</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Decentralization Challenges: The decentralized nature of blockchain requires time for transactions to propagate globally.</a:t>
            </a:r>
            <a:endParaRPr sz="18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Bitcoin</a:t>
            </a:r>
            <a:endParaRPr/>
          </a:p>
        </p:txBody>
      </p:sp>
      <p:sp>
        <p:nvSpPr>
          <p:cNvPr id="243" name="Google Shape;243;p3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44" name="Google Shape;244;p3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45" name="Google Shape;245;p31"/>
          <p:cNvSpPr txBox="1"/>
          <p:nvPr>
            <p:ph idx="1" type="body"/>
          </p:nvPr>
        </p:nvSpPr>
        <p:spPr>
          <a:xfrm>
            <a:off x="280850" y="1046045"/>
            <a:ext cx="8389620" cy="3311525"/>
          </a:xfrm>
          <a:prstGeom prst="rect">
            <a:avLst/>
          </a:prstGeom>
          <a:noFill/>
          <a:ln>
            <a:noFill/>
          </a:ln>
        </p:spPr>
        <p:txBody>
          <a:bodyPr anchorCtr="0" anchor="t" bIns="0" lIns="0" spcFirstLastPara="1" rIns="0" wrap="square" tIns="12700">
            <a:spAutoFit/>
          </a:bodyPr>
          <a:lstStyle/>
          <a:p>
            <a:pPr indent="0" lvl="0" marL="240665" rtl="0" algn="l">
              <a:lnSpc>
                <a:spcPct val="100000"/>
              </a:lnSpc>
              <a:spcBef>
                <a:spcPts val="0"/>
              </a:spcBef>
              <a:spcAft>
                <a:spcPts val="0"/>
              </a:spcAft>
              <a:buNone/>
            </a:pPr>
            <a:r>
              <a:rPr lang="en-US" sz="1800"/>
              <a:t>Strengths</a:t>
            </a:r>
            <a:endParaRPr sz="1800"/>
          </a:p>
          <a:p>
            <a:pPr indent="-367030" lvl="0" marL="469265" marR="193675" rtl="0" algn="l">
              <a:lnSpc>
                <a:spcPct val="114999"/>
              </a:lnSpc>
              <a:spcBef>
                <a:spcPts val="1200"/>
              </a:spcBef>
              <a:spcAft>
                <a:spcPts val="0"/>
              </a:spcAft>
              <a:buClr>
                <a:schemeClr val="dk1"/>
              </a:buClr>
              <a:buSzPts val="1800"/>
              <a:buFont typeface="Arial"/>
              <a:buChar char="●"/>
            </a:pPr>
            <a:r>
              <a:rPr lang="en-US" sz="1800"/>
              <a:t>Security: Bitcoin boasts the longest track record (since 2009), demonstrating maximum security.</a:t>
            </a:r>
            <a:endParaRPr sz="1800"/>
          </a:p>
          <a:p>
            <a:pPr indent="-367030" lvl="0" marL="469265" marR="5080" rtl="0" algn="l">
              <a:lnSpc>
                <a:spcPct val="114999"/>
              </a:lnSpc>
              <a:spcBef>
                <a:spcPts val="0"/>
              </a:spcBef>
              <a:spcAft>
                <a:spcPts val="0"/>
              </a:spcAft>
              <a:buClr>
                <a:schemeClr val="dk1"/>
              </a:buClr>
              <a:buSzPts val="1800"/>
              <a:buFont typeface="Arial"/>
              <a:buChar char="●"/>
            </a:pPr>
            <a:r>
              <a:rPr lang="en-US" sz="1800"/>
              <a:t>Liquidity: With the highest market capitalization and global acceptance, Bitcoin offers deep liquidity.</a:t>
            </a:r>
            <a:endParaRPr sz="1800"/>
          </a:p>
          <a:p>
            <a:pPr indent="-367030" lvl="0" marL="469265" marR="315595" rtl="0" algn="l">
              <a:lnSpc>
                <a:spcPct val="114999"/>
              </a:lnSpc>
              <a:spcBef>
                <a:spcPts val="0"/>
              </a:spcBef>
              <a:spcAft>
                <a:spcPts val="0"/>
              </a:spcAft>
              <a:buClr>
                <a:schemeClr val="dk1"/>
              </a:buClr>
              <a:buSzPts val="1800"/>
              <a:buFont typeface="Arial"/>
              <a:buChar char="●"/>
            </a:pPr>
            <a:r>
              <a:rPr lang="en-US" sz="1800"/>
              <a:t>Store of Value: Often referred to as "digital gold," Bitcoin serves as a robust store of value.</a:t>
            </a:r>
            <a:endParaRPr sz="1800"/>
          </a:p>
          <a:p>
            <a:pPr indent="-367030" lvl="0" marL="469265" marR="579755" rtl="0" algn="l">
              <a:lnSpc>
                <a:spcPct val="114999"/>
              </a:lnSpc>
              <a:spcBef>
                <a:spcPts val="0"/>
              </a:spcBef>
              <a:spcAft>
                <a:spcPts val="0"/>
              </a:spcAft>
              <a:buClr>
                <a:schemeClr val="dk1"/>
              </a:buClr>
              <a:buSzPts val="1800"/>
              <a:buFont typeface="Arial"/>
              <a:buChar char="●"/>
            </a:pPr>
            <a:r>
              <a:rPr lang="en-US" sz="1800"/>
              <a:t>CEX Dominance: Centralized exchanges handle 98% of Bitcoin's trading volume.</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Bitcoin</a:t>
            </a:r>
            <a:endParaRPr/>
          </a:p>
        </p:txBody>
      </p:sp>
      <p:sp>
        <p:nvSpPr>
          <p:cNvPr id="251" name="Google Shape;251;p3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52" name="Google Shape;252;p3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53" name="Google Shape;253;p32"/>
          <p:cNvSpPr txBox="1"/>
          <p:nvPr/>
        </p:nvSpPr>
        <p:spPr>
          <a:xfrm>
            <a:off x="371374" y="1531180"/>
            <a:ext cx="8322945" cy="202946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Weaknesses:</a:t>
            </a:r>
            <a:endParaRPr sz="1800">
              <a:latin typeface="Arial"/>
              <a:ea typeface="Arial"/>
              <a:cs typeface="Arial"/>
              <a:sym typeface="Arial"/>
            </a:endParaRPr>
          </a:p>
          <a:p>
            <a:pPr indent="-366395" lvl="0" marL="379095" rtl="0" algn="l">
              <a:lnSpc>
                <a:spcPct val="100000"/>
              </a:lnSpc>
              <a:spcBef>
                <a:spcPts val="1525"/>
              </a:spcBef>
              <a:spcAft>
                <a:spcPts val="0"/>
              </a:spcAft>
              <a:buSzPts val="1800"/>
              <a:buFont typeface="Arial"/>
              <a:buChar char="●"/>
            </a:pPr>
            <a:r>
              <a:rPr lang="en-US" sz="1800">
                <a:latin typeface="Arial"/>
                <a:ea typeface="Arial"/>
                <a:cs typeface="Arial"/>
                <a:sym typeface="Arial"/>
              </a:rPr>
              <a:t>Slow settlement: 60-minute finality hinders arbitrage opportunities.</a:t>
            </a:r>
            <a:endParaRPr sz="1800">
              <a:latin typeface="Arial"/>
              <a:ea typeface="Arial"/>
              <a:cs typeface="Arial"/>
              <a:sym typeface="Arial"/>
            </a:endParaRPr>
          </a:p>
          <a:p>
            <a:pPr indent="-366395" lvl="0" marL="379095" rtl="0" algn="l">
              <a:lnSpc>
                <a:spcPct val="100000"/>
              </a:lnSpc>
              <a:spcBef>
                <a:spcPts val="320"/>
              </a:spcBef>
              <a:spcAft>
                <a:spcPts val="0"/>
              </a:spcAft>
              <a:buSzPts val="1800"/>
              <a:buFont typeface="Arial"/>
              <a:buChar char="●"/>
            </a:pPr>
            <a:r>
              <a:rPr lang="en-US" sz="1800">
                <a:latin typeface="Arial"/>
                <a:ea typeface="Arial"/>
                <a:cs typeface="Arial"/>
                <a:sym typeface="Arial"/>
              </a:rPr>
              <a:t>No native smart contract support: Prevents the development of DeFi protocols.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High transaction fees: Can surge to $20-50 during network congestion.</a:t>
            </a:r>
            <a:endParaRPr sz="1800">
              <a:latin typeface="Arial"/>
              <a:ea typeface="Arial"/>
              <a:cs typeface="Arial"/>
              <a:sym typeface="Arial"/>
            </a:endParaRPr>
          </a:p>
          <a:p>
            <a:pPr indent="-367030" lvl="0" marL="379095" marR="887730" rtl="0" algn="l">
              <a:lnSpc>
                <a:spcPct val="114999"/>
              </a:lnSpc>
              <a:spcBef>
                <a:spcPts val="0"/>
              </a:spcBef>
              <a:spcAft>
                <a:spcPts val="0"/>
              </a:spcAft>
              <a:buSzPts val="1800"/>
              <a:buFont typeface="Arial"/>
              <a:buChar char="●"/>
            </a:pPr>
            <a:r>
              <a:rPr lang="en-US" sz="1800">
                <a:latin typeface="Arial"/>
                <a:ea typeface="Arial"/>
                <a:cs typeface="Arial"/>
                <a:sym typeface="Arial"/>
              </a:rPr>
              <a:t>Limited throughput: 7 transactions per second (TPS) is inadequate for high-frequency operations.</a:t>
            </a:r>
            <a:endParaRPr sz="180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Bitcoin</a:t>
            </a:r>
            <a:endParaRPr/>
          </a:p>
        </p:txBody>
      </p:sp>
      <p:sp>
        <p:nvSpPr>
          <p:cNvPr id="259" name="Google Shape;259;p3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60" name="Google Shape;260;p3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61" name="Google Shape;261;p33"/>
          <p:cNvSpPr txBox="1"/>
          <p:nvPr/>
        </p:nvSpPr>
        <p:spPr>
          <a:xfrm>
            <a:off x="380899" y="1849931"/>
            <a:ext cx="5752465" cy="1398905"/>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Best Use Cases</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Long-term holdings and store of value</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Large OTC settlements (security &gt; speed)</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Cross-border payments (though confirmation is slow)</a:t>
            </a:r>
            <a:endParaRPr sz="18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Bitcoin</a:t>
            </a:r>
            <a:endParaRPr/>
          </a:p>
        </p:txBody>
      </p:sp>
      <p:sp>
        <p:nvSpPr>
          <p:cNvPr id="267" name="Google Shape;267;p3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68" name="Google Shape;268;p3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69" name="Google Shape;269;p34"/>
          <p:cNvSpPr txBox="1"/>
          <p:nvPr/>
        </p:nvSpPr>
        <p:spPr>
          <a:xfrm>
            <a:off x="380899" y="1690481"/>
            <a:ext cx="7566025" cy="171450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Limitations: Not Suitable For</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High-Frequency Trading: Transactions are too slow for rapid execution.</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Arbitrage: Delays in transaction finality hinder effective arbitrage.</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DeFi Protocols: Lacks support for smart contracts.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Microtransactions: Transaction fees are excessively high.</a:t>
            </a:r>
            <a:endParaRPr sz="1800">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Real Data: Bitcoin Blocks</a:t>
            </a:r>
            <a:endParaRPr/>
          </a:p>
        </p:txBody>
      </p:sp>
      <p:sp>
        <p:nvSpPr>
          <p:cNvPr id="275" name="Google Shape;275;p3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76" name="Google Shape;276;p3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77" name="Google Shape;277;p35"/>
          <p:cNvSpPr txBox="1"/>
          <p:nvPr/>
        </p:nvSpPr>
        <p:spPr>
          <a:xfrm>
            <a:off x="371374" y="1690481"/>
            <a:ext cx="7870190" cy="171450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Here's a look at live blockchain data (sourced from blockchain.info):</a:t>
            </a:r>
            <a:endParaRPr sz="1800">
              <a:latin typeface="Arial"/>
              <a:ea typeface="Arial"/>
              <a:cs typeface="Arial"/>
              <a:sym typeface="Arial"/>
            </a:endParaRPr>
          </a:p>
          <a:p>
            <a:pPr indent="-366395" lvl="0" marL="379095" rtl="0" algn="l">
              <a:lnSpc>
                <a:spcPct val="100000"/>
              </a:lnSpc>
              <a:spcBef>
                <a:spcPts val="1520"/>
              </a:spcBef>
              <a:spcAft>
                <a:spcPts val="0"/>
              </a:spcAft>
              <a:buSzPts val="1800"/>
              <a:buFont typeface="Arial"/>
              <a:buChar char="●"/>
            </a:pPr>
            <a:r>
              <a:rPr lang="en-US" sz="1800">
                <a:latin typeface="Arial"/>
                <a:ea typeface="Arial"/>
                <a:cs typeface="Arial"/>
                <a:sym typeface="Arial"/>
              </a:rPr>
              <a:t>Block Height: Updates approximately every 10 minutes.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Transactions per Block: Typically ranges from 2,000 to 3,500 transactions.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Block Size: Around 1-2 MB (with SegWit enabled).</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Mining Fees: Fluctuates based on network congestion.</a:t>
            </a:r>
            <a:endParaRPr sz="1800">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Real Data: Bitcoin Blocks</a:t>
            </a:r>
            <a:endParaRPr/>
          </a:p>
        </p:txBody>
      </p:sp>
      <p:sp>
        <p:nvSpPr>
          <p:cNvPr id="283" name="Google Shape;283;p3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84" name="Google Shape;284;p3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85" name="Google Shape;285;p36"/>
          <p:cNvSpPr txBox="1"/>
          <p:nvPr/>
        </p:nvSpPr>
        <p:spPr>
          <a:xfrm>
            <a:off x="371374" y="1053281"/>
            <a:ext cx="8398510" cy="2976245"/>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Why Block Times Vary</a:t>
            </a:r>
            <a:endParaRPr sz="1800">
              <a:latin typeface="Arial"/>
              <a:ea typeface="Arial"/>
              <a:cs typeface="Arial"/>
              <a:sym typeface="Arial"/>
            </a:endParaRPr>
          </a:p>
          <a:p>
            <a:pPr indent="-367030" lvl="0" marL="379095" marR="436244" rtl="0" algn="l">
              <a:lnSpc>
                <a:spcPct val="114999"/>
              </a:lnSpc>
              <a:spcBef>
                <a:spcPts val="1200"/>
              </a:spcBef>
              <a:spcAft>
                <a:spcPts val="0"/>
              </a:spcAft>
              <a:buSzPts val="1800"/>
              <a:buFont typeface="Arial"/>
              <a:buChar char="●"/>
            </a:pPr>
            <a:r>
              <a:rPr lang="en-US" sz="1800">
                <a:latin typeface="Arial"/>
                <a:ea typeface="Arial"/>
                <a:cs typeface="Arial"/>
                <a:sym typeface="Arial"/>
              </a:rPr>
              <a:t>Probabilistic Nature of Mining (Proof-of-Work): Block discovery is a random process.</a:t>
            </a:r>
            <a:endParaRPr sz="1800">
              <a:latin typeface="Arial"/>
              <a:ea typeface="Arial"/>
              <a:cs typeface="Arial"/>
              <a:sym typeface="Arial"/>
            </a:endParaRPr>
          </a:p>
          <a:p>
            <a:pPr indent="-367030" lvl="0" marL="379095" marR="163830" rtl="0" algn="l">
              <a:lnSpc>
                <a:spcPct val="114999"/>
              </a:lnSpc>
              <a:spcBef>
                <a:spcPts val="0"/>
              </a:spcBef>
              <a:spcAft>
                <a:spcPts val="0"/>
              </a:spcAft>
              <a:buSzPts val="1800"/>
              <a:buFont typeface="Arial"/>
              <a:buChar char="●"/>
            </a:pPr>
            <a:r>
              <a:rPr lang="en-US" sz="1800">
                <a:latin typeface="Arial"/>
                <a:ea typeface="Arial"/>
                <a:cs typeface="Arial"/>
                <a:sym typeface="Arial"/>
              </a:rPr>
              <a:t>Fluctuating Discovery Times: While some blocks may be found in as little as 1 minute, others could take up to 30 minutes.</a:t>
            </a:r>
            <a:endParaRPr sz="1800">
              <a:latin typeface="Arial"/>
              <a:ea typeface="Arial"/>
              <a:cs typeface="Arial"/>
              <a:sym typeface="Arial"/>
            </a:endParaRPr>
          </a:p>
          <a:p>
            <a:pPr indent="-367030" lvl="0" marL="379095" marR="422275" rtl="0" algn="l">
              <a:lnSpc>
                <a:spcPct val="114999"/>
              </a:lnSpc>
              <a:spcBef>
                <a:spcPts val="0"/>
              </a:spcBef>
              <a:spcAft>
                <a:spcPts val="0"/>
              </a:spcAft>
              <a:buSzPts val="1800"/>
              <a:buFont typeface="Arial"/>
              <a:buChar char="●"/>
            </a:pPr>
            <a:r>
              <a:rPr lang="en-US" sz="1800">
                <a:latin typeface="Arial"/>
                <a:ea typeface="Arial"/>
                <a:cs typeface="Arial"/>
                <a:sym typeface="Arial"/>
              </a:rPr>
              <a:t>Long-Term Average: Over an extended period, the average block discovery time settles around 10 minutes.</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Difficulty Adjustment: A mechanism in place to compensate for these variances, with adjustments occurring approximately every two weeks.</a:t>
            </a:r>
            <a:endParaRPr sz="1800">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Real Data: Bitcoin Blocks</a:t>
            </a:r>
            <a:endParaRPr/>
          </a:p>
        </p:txBody>
      </p:sp>
      <p:sp>
        <p:nvSpPr>
          <p:cNvPr id="291" name="Google Shape;291;p3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292" name="Google Shape;292;p3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293" name="Google Shape;293;p37"/>
          <p:cNvSpPr txBox="1"/>
          <p:nvPr/>
        </p:nvSpPr>
        <p:spPr>
          <a:xfrm>
            <a:off x="280850" y="1294931"/>
            <a:ext cx="8468995" cy="2497455"/>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800">
                <a:latin typeface="Arial"/>
                <a:ea typeface="Arial"/>
                <a:cs typeface="Arial"/>
                <a:sym typeface="Arial"/>
              </a:rPr>
              <a:t>Trader's View: Transaction Confirmation Process</a:t>
            </a:r>
            <a:endParaRPr sz="1800">
              <a:latin typeface="Arial"/>
              <a:ea typeface="Arial"/>
              <a:cs typeface="Arial"/>
              <a:sym typeface="Arial"/>
            </a:endParaRPr>
          </a:p>
          <a:p>
            <a:pPr indent="-366395" lvl="0" marL="469265" rtl="0" algn="l">
              <a:lnSpc>
                <a:spcPct val="100000"/>
              </a:lnSpc>
              <a:spcBef>
                <a:spcPts val="1525"/>
              </a:spcBef>
              <a:spcAft>
                <a:spcPts val="0"/>
              </a:spcAft>
              <a:buSzPts val="1800"/>
              <a:buFont typeface="Arial"/>
              <a:buChar char="●"/>
            </a:pPr>
            <a:r>
              <a:rPr lang="en-US" sz="1800">
                <a:latin typeface="Arial"/>
                <a:ea typeface="Arial"/>
                <a:cs typeface="Arial"/>
                <a:sym typeface="Arial"/>
              </a:rPr>
              <a:t>TX Submitted: Enters mempool (unconfirmed).</a:t>
            </a:r>
            <a:endParaRPr sz="1800">
              <a:latin typeface="Arial"/>
              <a:ea typeface="Arial"/>
              <a:cs typeface="Arial"/>
              <a:sym typeface="Arial"/>
            </a:endParaRPr>
          </a:p>
          <a:p>
            <a:pPr indent="-366395" lvl="0" marL="469265" rtl="0" algn="l">
              <a:lnSpc>
                <a:spcPct val="100000"/>
              </a:lnSpc>
              <a:spcBef>
                <a:spcPts val="320"/>
              </a:spcBef>
              <a:spcAft>
                <a:spcPts val="0"/>
              </a:spcAft>
              <a:buSzPts val="1800"/>
              <a:buFont typeface="Arial"/>
              <a:buChar char="●"/>
            </a:pPr>
            <a:r>
              <a:rPr lang="en-US" sz="1800">
                <a:latin typeface="Arial"/>
                <a:ea typeface="Arial"/>
                <a:cs typeface="Arial"/>
                <a:sym typeface="Arial"/>
              </a:rPr>
              <a:t>1st Confirmation: Included in block (~10 mins).</a:t>
            </a:r>
            <a:endParaRPr sz="1800">
              <a:latin typeface="Arial"/>
              <a:ea typeface="Arial"/>
              <a:cs typeface="Arial"/>
              <a:sym typeface="Arial"/>
            </a:endParaRPr>
          </a:p>
          <a:p>
            <a:pPr indent="-366395" lvl="0" marL="469265" rtl="0" algn="l">
              <a:lnSpc>
                <a:spcPct val="100000"/>
              </a:lnSpc>
              <a:spcBef>
                <a:spcPts val="325"/>
              </a:spcBef>
              <a:spcAft>
                <a:spcPts val="0"/>
              </a:spcAft>
              <a:buSzPts val="1800"/>
              <a:buFont typeface="Arial"/>
              <a:buChar char="●"/>
            </a:pPr>
            <a:r>
              <a:rPr lang="en-US" sz="1800">
                <a:latin typeface="Arial"/>
                <a:ea typeface="Arial"/>
                <a:cs typeface="Arial"/>
                <a:sym typeface="Arial"/>
              </a:rPr>
              <a:t>6th Confirmation: Considered final (~60 mins).</a:t>
            </a:r>
            <a:endParaRPr sz="1800">
              <a:latin typeface="Arial"/>
              <a:ea typeface="Arial"/>
              <a:cs typeface="Arial"/>
              <a:sym typeface="Arial"/>
            </a:endParaRPr>
          </a:p>
          <a:p>
            <a:pPr indent="-366395" lvl="0" marL="469265" rtl="0" algn="l">
              <a:lnSpc>
                <a:spcPct val="100000"/>
              </a:lnSpc>
              <a:spcBef>
                <a:spcPts val="325"/>
              </a:spcBef>
              <a:spcAft>
                <a:spcPts val="0"/>
              </a:spcAft>
              <a:buSzPts val="1800"/>
              <a:buFont typeface="Arial"/>
              <a:buChar char="●"/>
            </a:pPr>
            <a:r>
              <a:rPr lang="en-US" sz="1800">
                <a:latin typeface="Arial"/>
                <a:ea typeface="Arial"/>
                <a:cs typeface="Arial"/>
                <a:sym typeface="Arial"/>
              </a:rPr>
              <a:t>Fast Confirmations: Possible, but higher risk.</a:t>
            </a:r>
            <a:endParaRPr sz="1800">
              <a:latin typeface="Arial"/>
              <a:ea typeface="Arial"/>
              <a:cs typeface="Arial"/>
              <a:sym typeface="Arial"/>
            </a:endParaRPr>
          </a:p>
          <a:p>
            <a:pPr indent="0" lvl="0" marL="12700" marR="5080" rtl="0" algn="l">
              <a:lnSpc>
                <a:spcPct val="114999"/>
              </a:lnSpc>
              <a:spcBef>
                <a:spcPts val="1200"/>
              </a:spcBef>
              <a:spcAft>
                <a:spcPts val="0"/>
              </a:spcAft>
              <a:buNone/>
            </a:pPr>
            <a:r>
              <a:rPr lang="en-US" sz="1800">
                <a:latin typeface="Arial"/>
                <a:ea typeface="Arial"/>
                <a:cs typeface="Arial"/>
                <a:sym typeface="Arial"/>
              </a:rPr>
              <a:t>Note: We'll analyze live block data in Notebook A, seeing real block times, variance, and finality calculations.</a:t>
            </a:r>
            <a:endParaRPr sz="1800">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UTXO vs Account Model</a:t>
            </a:r>
            <a:endParaRPr/>
          </a:p>
        </p:txBody>
      </p:sp>
      <p:sp>
        <p:nvSpPr>
          <p:cNvPr id="299" name="Google Shape;299;p3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00" name="Google Shape;300;p3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01" name="Google Shape;301;p38"/>
          <p:cNvSpPr txBox="1"/>
          <p:nvPr/>
        </p:nvSpPr>
        <p:spPr>
          <a:xfrm>
            <a:off x="371374" y="1081606"/>
            <a:ext cx="8427720" cy="329184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UTXO Model (Bitcoin)</a:t>
            </a:r>
            <a:endParaRPr sz="1800">
              <a:latin typeface="Arial"/>
              <a:ea typeface="Arial"/>
              <a:cs typeface="Arial"/>
              <a:sym typeface="Arial"/>
            </a:endParaRPr>
          </a:p>
          <a:p>
            <a:pPr indent="-367030" lvl="0" marL="379095" marR="5080" rtl="0" algn="l">
              <a:lnSpc>
                <a:spcPct val="114999"/>
              </a:lnSpc>
              <a:spcBef>
                <a:spcPts val="1200"/>
              </a:spcBef>
              <a:spcAft>
                <a:spcPts val="0"/>
              </a:spcAft>
              <a:buSzPts val="1800"/>
              <a:buFont typeface="Arial"/>
              <a:buChar char="●"/>
            </a:pPr>
            <a:r>
              <a:rPr lang="en-US" sz="1800">
                <a:latin typeface="Arial"/>
                <a:ea typeface="Arial"/>
                <a:cs typeface="Arial"/>
                <a:sym typeface="Arial"/>
              </a:rPr>
              <a:t>Stateless: Operates without a global state, relying solely on unspent transaction outputs.</a:t>
            </a:r>
            <a:endParaRPr sz="1800">
              <a:latin typeface="Arial"/>
              <a:ea typeface="Arial"/>
              <a:cs typeface="Arial"/>
              <a:sym typeface="Arial"/>
            </a:endParaRPr>
          </a:p>
          <a:p>
            <a:pPr indent="-367030" lvl="0" marL="379095" marR="323215" rtl="0" algn="l">
              <a:lnSpc>
                <a:spcPct val="114999"/>
              </a:lnSpc>
              <a:spcBef>
                <a:spcPts val="0"/>
              </a:spcBef>
              <a:spcAft>
                <a:spcPts val="0"/>
              </a:spcAft>
              <a:buSzPts val="1800"/>
              <a:buFont typeface="Arial"/>
              <a:buChar char="●"/>
            </a:pPr>
            <a:r>
              <a:rPr lang="en-US" sz="1800">
                <a:latin typeface="Arial"/>
                <a:ea typeface="Arial"/>
                <a:cs typeface="Arial"/>
                <a:sym typeface="Arial"/>
              </a:rPr>
              <a:t>Parallel Validation: Transactions can be validated concurrently as they utilize distinct UTXOs, preventing conflicts.</a:t>
            </a:r>
            <a:endParaRPr sz="1800">
              <a:latin typeface="Arial"/>
              <a:ea typeface="Arial"/>
              <a:cs typeface="Arial"/>
              <a:sym typeface="Arial"/>
            </a:endParaRPr>
          </a:p>
          <a:p>
            <a:pPr indent="-367030" lvl="0" marL="379095" marR="1299845" rtl="0" algn="l">
              <a:lnSpc>
                <a:spcPct val="114999"/>
              </a:lnSpc>
              <a:spcBef>
                <a:spcPts val="0"/>
              </a:spcBef>
              <a:spcAft>
                <a:spcPts val="0"/>
              </a:spcAft>
              <a:buSzPts val="1800"/>
              <a:buFont typeface="Arial"/>
              <a:buChar char="●"/>
            </a:pPr>
            <a:r>
              <a:rPr lang="en-US" sz="1800">
                <a:latin typeface="Arial"/>
                <a:ea typeface="Arial"/>
                <a:cs typeface="Arial"/>
                <a:sym typeface="Arial"/>
              </a:rPr>
              <a:t>Complex Scripting: Employs Bitcoin Script, which is limited and not Turing-complete.</a:t>
            </a:r>
            <a:endParaRPr sz="1800">
              <a:latin typeface="Arial"/>
              <a:ea typeface="Arial"/>
              <a:cs typeface="Arial"/>
              <a:sym typeface="Arial"/>
            </a:endParaRPr>
          </a:p>
          <a:p>
            <a:pPr indent="-367030" lvl="0" marL="379095" marR="535940" rtl="0" algn="l">
              <a:lnSpc>
                <a:spcPct val="114999"/>
              </a:lnSpc>
              <a:spcBef>
                <a:spcPts val="0"/>
              </a:spcBef>
              <a:spcAft>
                <a:spcPts val="0"/>
              </a:spcAft>
              <a:buSzPts val="1800"/>
              <a:buFont typeface="Arial"/>
              <a:buChar char="●"/>
            </a:pPr>
            <a:r>
              <a:rPr lang="en-US" sz="1800">
                <a:latin typeface="Arial"/>
                <a:ea typeface="Arial"/>
                <a:cs typeface="Arial"/>
                <a:sym typeface="Arial"/>
              </a:rPr>
              <a:t>Privacy-Friendly: Enhances privacy by generating new addresses for each transaction.</a:t>
            </a:r>
            <a:endParaRPr sz="1800">
              <a:latin typeface="Arial"/>
              <a:ea typeface="Arial"/>
              <a:cs typeface="Arial"/>
              <a:sym typeface="Arial"/>
            </a:endParaRPr>
          </a:p>
          <a:p>
            <a:pPr indent="-366395" lvl="0" marL="379095" rtl="0" algn="l">
              <a:lnSpc>
                <a:spcPct val="100000"/>
              </a:lnSpc>
              <a:spcBef>
                <a:spcPts val="320"/>
              </a:spcBef>
              <a:spcAft>
                <a:spcPts val="0"/>
              </a:spcAft>
              <a:buSzPts val="1800"/>
              <a:buFont typeface="Arial"/>
              <a:buChar char="●"/>
            </a:pPr>
            <a:r>
              <a:rPr lang="en-US" sz="1800">
                <a:latin typeface="Arial"/>
                <a:ea typeface="Arial"/>
                <a:cs typeface="Arial"/>
                <a:sym typeface="Arial"/>
              </a:rPr>
              <a:t>Analogy: Comparable to a cash-based system.</a:t>
            </a:r>
            <a:endParaRPr sz="1800">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UTXO vs Account Model</a:t>
            </a:r>
            <a:endParaRPr/>
          </a:p>
        </p:txBody>
      </p:sp>
      <p:sp>
        <p:nvSpPr>
          <p:cNvPr id="307" name="Google Shape;307;p3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08" name="Google Shape;308;p3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09" name="Google Shape;309;p39"/>
          <p:cNvSpPr txBox="1"/>
          <p:nvPr/>
        </p:nvSpPr>
        <p:spPr>
          <a:xfrm>
            <a:off x="371374" y="1081606"/>
            <a:ext cx="8364220" cy="3291840"/>
          </a:xfrm>
          <a:prstGeom prst="rect">
            <a:avLst/>
          </a:prstGeom>
          <a:noFill/>
          <a:ln>
            <a:noFill/>
          </a:ln>
        </p:spPr>
        <p:txBody>
          <a:bodyPr anchorCtr="0" anchor="t" bIns="0" lIns="0" spcFirstLastPara="1" rIns="0" wrap="square" tIns="12700">
            <a:spAutoFit/>
          </a:bodyPr>
          <a:lstStyle/>
          <a:p>
            <a:pPr indent="0" lvl="0" marL="150495" rtl="0" algn="l">
              <a:lnSpc>
                <a:spcPct val="100000"/>
              </a:lnSpc>
              <a:spcBef>
                <a:spcPts val="0"/>
              </a:spcBef>
              <a:spcAft>
                <a:spcPts val="0"/>
              </a:spcAft>
              <a:buNone/>
            </a:pPr>
            <a:r>
              <a:rPr lang="en-US" sz="1800">
                <a:latin typeface="Arial"/>
                <a:ea typeface="Arial"/>
                <a:cs typeface="Arial"/>
                <a:sym typeface="Arial"/>
              </a:rPr>
              <a:t>Ethereum's Account Model</a:t>
            </a:r>
            <a:endParaRPr sz="1800">
              <a:latin typeface="Arial"/>
              <a:ea typeface="Arial"/>
              <a:cs typeface="Arial"/>
              <a:sym typeface="Arial"/>
            </a:endParaRPr>
          </a:p>
          <a:p>
            <a:pPr indent="-367030" lvl="0" marL="379095" marR="383540" rtl="0" algn="l">
              <a:lnSpc>
                <a:spcPct val="114999"/>
              </a:lnSpc>
              <a:spcBef>
                <a:spcPts val="1200"/>
              </a:spcBef>
              <a:spcAft>
                <a:spcPts val="0"/>
              </a:spcAft>
              <a:buSzPts val="1800"/>
              <a:buFont typeface="Arial"/>
              <a:buChar char="●"/>
            </a:pPr>
            <a:r>
              <a:rPr lang="en-US" sz="1800">
                <a:latin typeface="Arial"/>
                <a:ea typeface="Arial"/>
                <a:cs typeface="Arial"/>
                <a:sym typeface="Arial"/>
              </a:rPr>
              <a:t>Stateful Design: Each address maintains a balance, contributing to a global state.</a:t>
            </a:r>
            <a:endParaRPr sz="1800">
              <a:latin typeface="Arial"/>
              <a:ea typeface="Arial"/>
              <a:cs typeface="Arial"/>
              <a:sym typeface="Arial"/>
            </a:endParaRPr>
          </a:p>
          <a:p>
            <a:pPr indent="-367030" lvl="0" marL="379095" marR="243204" rtl="0" algn="l">
              <a:lnSpc>
                <a:spcPct val="114999"/>
              </a:lnSpc>
              <a:spcBef>
                <a:spcPts val="0"/>
              </a:spcBef>
              <a:spcAft>
                <a:spcPts val="0"/>
              </a:spcAft>
              <a:buSzPts val="1800"/>
              <a:buFont typeface="Arial"/>
              <a:buChar char="●"/>
            </a:pPr>
            <a:r>
              <a:rPr lang="en-US" sz="1800">
                <a:latin typeface="Arial"/>
                <a:ea typeface="Arial"/>
                <a:cs typeface="Arial"/>
                <a:sym typeface="Arial"/>
              </a:rPr>
              <a:t>Sequential Transaction Execution: Transactions sequentially alter the shared state, with nonces preventing double-spending.</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Smart Contracts: Turing-complete code combined with persistent state enables advanced functionalities.</a:t>
            </a:r>
            <a:endParaRPr sz="1800">
              <a:latin typeface="Arial"/>
              <a:ea typeface="Arial"/>
              <a:cs typeface="Arial"/>
              <a:sym typeface="Arial"/>
            </a:endParaRPr>
          </a:p>
          <a:p>
            <a:pPr indent="-367030" lvl="0" marL="379095" marR="535305" rtl="0" algn="l">
              <a:lnSpc>
                <a:spcPct val="114999"/>
              </a:lnSpc>
              <a:spcBef>
                <a:spcPts val="0"/>
              </a:spcBef>
              <a:spcAft>
                <a:spcPts val="0"/>
              </a:spcAft>
              <a:buSzPts val="1800"/>
              <a:buFont typeface="Arial"/>
              <a:buChar char="●"/>
            </a:pPr>
            <a:r>
              <a:rPr lang="en-US" sz="1800">
                <a:latin typeface="Arial"/>
                <a:ea typeface="Arial"/>
                <a:cs typeface="Arial"/>
                <a:sym typeface="Arial"/>
              </a:rPr>
              <a:t>Simplified User Experience: A single address and easily viewable balance enhance user interaction.</a:t>
            </a:r>
            <a:endParaRPr sz="1800">
              <a:latin typeface="Arial"/>
              <a:ea typeface="Arial"/>
              <a:cs typeface="Arial"/>
              <a:sym typeface="Arial"/>
            </a:endParaRPr>
          </a:p>
          <a:p>
            <a:pPr indent="-366395" lvl="0" marL="379095" rtl="0" algn="l">
              <a:lnSpc>
                <a:spcPct val="100000"/>
              </a:lnSpc>
              <a:spcBef>
                <a:spcPts val="320"/>
              </a:spcBef>
              <a:spcAft>
                <a:spcPts val="0"/>
              </a:spcAft>
              <a:buSzPts val="1800"/>
              <a:buFont typeface="Arial"/>
              <a:buChar char="●"/>
            </a:pPr>
            <a:r>
              <a:rPr lang="en-US" sz="1800">
                <a:latin typeface="Arial"/>
                <a:ea typeface="Arial"/>
                <a:cs typeface="Arial"/>
                <a:sym typeface="Arial"/>
              </a:rPr>
              <a:t>Analogy: Comparable to a traditional bank account system.</a:t>
            </a:r>
            <a:endParaRPr sz="1800">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UTXO vs Account Model</a:t>
            </a:r>
            <a:endParaRPr/>
          </a:p>
        </p:txBody>
      </p:sp>
      <p:sp>
        <p:nvSpPr>
          <p:cNvPr id="315" name="Google Shape;315;p4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16" name="Google Shape;316;p4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17" name="Google Shape;317;p40"/>
          <p:cNvSpPr txBox="1"/>
          <p:nvPr/>
        </p:nvSpPr>
        <p:spPr>
          <a:xfrm>
            <a:off x="280850" y="1058681"/>
            <a:ext cx="8087995" cy="296545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800">
                <a:latin typeface="Arial"/>
                <a:ea typeface="Arial"/>
                <a:cs typeface="Arial"/>
                <a:sym typeface="Arial"/>
              </a:rPr>
              <a:t>Trade-offs:</a:t>
            </a:r>
            <a:endParaRPr sz="1800">
              <a:latin typeface="Arial"/>
              <a:ea typeface="Arial"/>
              <a:cs typeface="Arial"/>
              <a:sym typeface="Arial"/>
            </a:endParaRPr>
          </a:p>
          <a:p>
            <a:pPr indent="-367030" lvl="0" marL="469900" marR="73025" rtl="0" algn="l">
              <a:lnSpc>
                <a:spcPct val="114999"/>
              </a:lnSpc>
              <a:spcBef>
                <a:spcPts val="1200"/>
              </a:spcBef>
              <a:spcAft>
                <a:spcPts val="0"/>
              </a:spcAft>
              <a:buSzPts val="1800"/>
              <a:buFont typeface="Arial"/>
              <a:buChar char="●"/>
            </a:pPr>
            <a:r>
              <a:rPr lang="en-US" sz="1800">
                <a:latin typeface="Arial"/>
                <a:ea typeface="Arial"/>
                <a:cs typeface="Arial"/>
                <a:sym typeface="Arial"/>
              </a:rPr>
              <a:t>UTXO (Unspent Transaction Output): Offers enhanced privacy and simpler validation but has limited programmability.</a:t>
            </a:r>
            <a:endParaRPr sz="1800">
              <a:latin typeface="Arial"/>
              <a:ea typeface="Arial"/>
              <a:cs typeface="Arial"/>
              <a:sym typeface="Arial"/>
            </a:endParaRPr>
          </a:p>
          <a:p>
            <a:pPr indent="-367030" lvl="0" marL="469900" marR="5080" rtl="0" algn="l">
              <a:lnSpc>
                <a:spcPct val="114999"/>
              </a:lnSpc>
              <a:spcBef>
                <a:spcPts val="0"/>
              </a:spcBef>
              <a:spcAft>
                <a:spcPts val="0"/>
              </a:spcAft>
              <a:buSzPts val="1800"/>
              <a:buFont typeface="Arial"/>
              <a:buChar char="●"/>
            </a:pPr>
            <a:r>
              <a:rPr lang="en-US" sz="1800">
                <a:latin typeface="Arial"/>
                <a:ea typeface="Arial"/>
                <a:cs typeface="Arial"/>
                <a:sym typeface="Arial"/>
              </a:rPr>
              <a:t>Account-Based Systems: Enable smart contracts but involve more complex state management.</a:t>
            </a:r>
            <a:endParaRPr sz="1800">
              <a:latin typeface="Arial"/>
              <a:ea typeface="Arial"/>
              <a:cs typeface="Arial"/>
              <a:sym typeface="Arial"/>
            </a:endParaRPr>
          </a:p>
          <a:p>
            <a:pPr indent="0" lvl="0" marL="12700" rtl="0" algn="l">
              <a:lnSpc>
                <a:spcPct val="100000"/>
              </a:lnSpc>
              <a:spcBef>
                <a:spcPts val="1520"/>
              </a:spcBef>
              <a:spcAft>
                <a:spcPts val="0"/>
              </a:spcAft>
              <a:buNone/>
            </a:pPr>
            <a:r>
              <a:rPr lang="en-US" sz="1800">
                <a:latin typeface="Arial"/>
                <a:ea typeface="Arial"/>
                <a:cs typeface="Arial"/>
                <a:sym typeface="Arial"/>
              </a:rPr>
              <a:t>Which is better? It depends on the specific use case:</a:t>
            </a:r>
            <a:endParaRPr sz="1800">
              <a:latin typeface="Arial"/>
              <a:ea typeface="Arial"/>
              <a:cs typeface="Arial"/>
              <a:sym typeface="Arial"/>
            </a:endParaRPr>
          </a:p>
          <a:p>
            <a:pPr indent="-366395" lvl="0" marL="469265" rtl="0" algn="l">
              <a:lnSpc>
                <a:spcPct val="100000"/>
              </a:lnSpc>
              <a:spcBef>
                <a:spcPts val="1525"/>
              </a:spcBef>
              <a:spcAft>
                <a:spcPts val="0"/>
              </a:spcAft>
              <a:buSzPts val="1800"/>
              <a:buFont typeface="Arial"/>
              <a:buChar char="●"/>
            </a:pPr>
            <a:r>
              <a:rPr lang="en-US" sz="1800">
                <a:latin typeface="Arial"/>
                <a:ea typeface="Arial"/>
                <a:cs typeface="Arial"/>
                <a:sym typeface="Arial"/>
              </a:rPr>
              <a:t>Bitcoin: Prioritizes security and simplicity.</a:t>
            </a:r>
            <a:endParaRPr sz="1800">
              <a:latin typeface="Arial"/>
              <a:ea typeface="Arial"/>
              <a:cs typeface="Arial"/>
              <a:sym typeface="Arial"/>
            </a:endParaRPr>
          </a:p>
          <a:p>
            <a:pPr indent="-366395" lvl="0" marL="469265" rtl="0" algn="l">
              <a:lnSpc>
                <a:spcPct val="100000"/>
              </a:lnSpc>
              <a:spcBef>
                <a:spcPts val="325"/>
              </a:spcBef>
              <a:spcAft>
                <a:spcPts val="0"/>
              </a:spcAft>
              <a:buSzPts val="1800"/>
              <a:buFont typeface="Arial"/>
              <a:buChar char="●"/>
            </a:pPr>
            <a:r>
              <a:rPr lang="en-US" sz="1800">
                <a:latin typeface="Arial"/>
                <a:ea typeface="Arial"/>
                <a:cs typeface="Arial"/>
                <a:sym typeface="Arial"/>
              </a:rPr>
              <a:t>Ethereum: Focuses on programmability and decentralized finance (DeFi).</a:t>
            </a:r>
            <a:endParaRPr sz="1800">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1"/>
          <p:cNvSpPr txBox="1"/>
          <p:nvPr>
            <p:ph type="title"/>
          </p:nvPr>
        </p:nvSpPr>
        <p:spPr>
          <a:xfrm>
            <a:off x="1479116" y="2266442"/>
            <a:ext cx="618045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latin typeface="Cambria"/>
                <a:ea typeface="Cambria"/>
                <a:cs typeface="Cambria"/>
                <a:sym typeface="Cambria"/>
              </a:rPr>
              <a:t>⟠ </a:t>
            </a:r>
            <a:r>
              <a:rPr lang="en-US" sz="3600"/>
              <a:t>Ethereum: EVM Architecture</a:t>
            </a:r>
            <a:endParaRPr sz="3600">
              <a:latin typeface="Cambria"/>
              <a:ea typeface="Cambria"/>
              <a:cs typeface="Cambria"/>
              <a:sym typeface="Cambria"/>
            </a:endParaRPr>
          </a:p>
        </p:txBody>
      </p:sp>
      <p:sp>
        <p:nvSpPr>
          <p:cNvPr id="323" name="Google Shape;323;p4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24" name="Google Shape;324;p4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330" name="Google Shape;330;p4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31" name="Google Shape;331;p4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32" name="Google Shape;332;p42"/>
          <p:cNvSpPr txBox="1"/>
          <p:nvPr>
            <p:ph idx="1" type="body"/>
          </p:nvPr>
        </p:nvSpPr>
        <p:spPr>
          <a:xfrm>
            <a:off x="280850" y="1046045"/>
            <a:ext cx="8389620" cy="3311525"/>
          </a:xfrm>
          <a:prstGeom prst="rect">
            <a:avLst/>
          </a:prstGeom>
          <a:noFill/>
          <a:ln>
            <a:noFill/>
          </a:ln>
        </p:spPr>
        <p:txBody>
          <a:bodyPr anchorCtr="0" anchor="t" bIns="0" lIns="0" spcFirstLastPara="1" rIns="0" wrap="square" tIns="12700">
            <a:spAutoFit/>
          </a:bodyPr>
          <a:lstStyle/>
          <a:p>
            <a:pPr indent="-228600" lvl="0" marL="469900" marR="5080" rtl="0" algn="l">
              <a:lnSpc>
                <a:spcPct val="114999"/>
              </a:lnSpc>
              <a:spcBef>
                <a:spcPts val="0"/>
              </a:spcBef>
              <a:spcAft>
                <a:spcPts val="0"/>
              </a:spcAft>
              <a:buNone/>
            </a:pPr>
            <a:r>
              <a:rPr lang="en-US"/>
              <a:t>Think of a bank account; in blockchain, each address (e.g., 0x...) acts like one, maintaining a balance within a global ledger.</a:t>
            </a:r>
            <a:endParaRPr/>
          </a:p>
          <a:p>
            <a:pPr indent="0" lvl="0" marL="241300" rtl="0" algn="l">
              <a:lnSpc>
                <a:spcPct val="100000"/>
              </a:lnSpc>
              <a:spcBef>
                <a:spcPts val="1485"/>
              </a:spcBef>
              <a:spcAft>
                <a:spcPts val="0"/>
              </a:spcAft>
              <a:buNone/>
            </a:pPr>
            <a:r>
              <a:rPr lang="en-US"/>
              <a:t>How Transactions Function:</a:t>
            </a:r>
            <a:endParaRPr/>
          </a:p>
          <a:p>
            <a:pPr indent="0" lvl="0" marL="241300" rtl="0" algn="l">
              <a:lnSpc>
                <a:spcPct val="100000"/>
              </a:lnSpc>
              <a:spcBef>
                <a:spcPts val="1490"/>
              </a:spcBef>
              <a:spcAft>
                <a:spcPts val="0"/>
              </a:spcAft>
              <a:buNone/>
            </a:pPr>
            <a:r>
              <a:rPr lang="en-US"/>
              <a:t>Transactions modify these balances. When a transaction happens:</a:t>
            </a:r>
            <a:endParaRPr/>
          </a:p>
          <a:p>
            <a:pPr indent="-351155" lvl="0" marL="469265" rtl="0" algn="l">
              <a:lnSpc>
                <a:spcPct val="100000"/>
              </a:lnSpc>
              <a:spcBef>
                <a:spcPts val="1485"/>
              </a:spcBef>
              <a:spcAft>
                <a:spcPts val="0"/>
              </a:spcAft>
              <a:buClr>
                <a:schemeClr val="dk1"/>
              </a:buClr>
              <a:buSzPts val="1600"/>
              <a:buFont typeface="Arial"/>
              <a:buChar char="●"/>
            </a:pPr>
            <a:r>
              <a:rPr lang="en-US"/>
              <a:t>Funds are subtracted from the sender's address.</a:t>
            </a:r>
            <a:endParaRPr/>
          </a:p>
          <a:p>
            <a:pPr indent="-351155" lvl="0" marL="469265" rtl="0" algn="l">
              <a:lnSpc>
                <a:spcPct val="100000"/>
              </a:lnSpc>
              <a:spcBef>
                <a:spcPts val="290"/>
              </a:spcBef>
              <a:spcAft>
                <a:spcPts val="0"/>
              </a:spcAft>
              <a:buClr>
                <a:schemeClr val="dk1"/>
              </a:buClr>
              <a:buSzPts val="1600"/>
              <a:buFont typeface="Arial"/>
              <a:buChar char="●"/>
            </a:pPr>
            <a:r>
              <a:rPr lang="en-US"/>
              <a:t>Funds are added to the receiver's address.</a:t>
            </a:r>
            <a:endParaRPr/>
          </a:p>
          <a:p>
            <a:pPr indent="0" lvl="0" marL="12700" rtl="0" algn="l">
              <a:lnSpc>
                <a:spcPct val="100000"/>
              </a:lnSpc>
              <a:spcBef>
                <a:spcPts val="1490"/>
              </a:spcBef>
              <a:spcAft>
                <a:spcPts val="0"/>
              </a:spcAft>
              <a:buNone/>
            </a:pPr>
            <a:r>
              <a:rPr lang="en-US"/>
              <a:t>Smart Contracts: Code and State:</a:t>
            </a:r>
            <a:endParaRPr/>
          </a:p>
          <a:p>
            <a:pPr indent="0" lvl="0" marL="12700" marR="540385" rtl="0" algn="l">
              <a:lnSpc>
                <a:spcPct val="114999"/>
              </a:lnSpc>
              <a:spcBef>
                <a:spcPts val="1200"/>
              </a:spcBef>
              <a:spcAft>
                <a:spcPts val="0"/>
              </a:spcAft>
              <a:buNone/>
            </a:pPr>
            <a:r>
              <a:rPr lang="en-US"/>
              <a:t>Some addresses contain "smart contracts," which are code coupled with a stored state, enabling intricate operations beyond simple balance transfers.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338" name="Google Shape;338;p4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39" name="Google Shape;339;p4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40" name="Google Shape;340;p43"/>
          <p:cNvSpPr txBox="1"/>
          <p:nvPr/>
        </p:nvSpPr>
        <p:spPr>
          <a:xfrm>
            <a:off x="386746" y="1057447"/>
            <a:ext cx="8282305" cy="296989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Ethereum Virtual Machine (EVM)</a:t>
            </a:r>
            <a:endParaRPr sz="1600">
              <a:latin typeface="Arial"/>
              <a:ea typeface="Arial"/>
              <a:cs typeface="Arial"/>
              <a:sym typeface="Arial"/>
            </a:endParaRPr>
          </a:p>
          <a:p>
            <a:pPr indent="0" lvl="0" marL="135255" marR="5080" rtl="0" algn="l">
              <a:lnSpc>
                <a:spcPct val="177500"/>
              </a:lnSpc>
              <a:spcBef>
                <a:spcPts val="0"/>
              </a:spcBef>
              <a:spcAft>
                <a:spcPts val="0"/>
              </a:spcAft>
              <a:buNone/>
            </a:pPr>
            <a:r>
              <a:rPr lang="en-US" sz="1600">
                <a:latin typeface="Arial"/>
                <a:ea typeface="Arial"/>
                <a:cs typeface="Arial"/>
                <a:sym typeface="Arial"/>
              </a:rPr>
              <a:t>The Ethereum Virtual Machine (EVM) serves as a Turing-complete execution environment. Key Functions:</a:t>
            </a:r>
            <a:endParaRPr sz="1600">
              <a:latin typeface="Arial"/>
              <a:ea typeface="Arial"/>
              <a:cs typeface="Arial"/>
              <a:sym typeface="Arial"/>
            </a:endParaRPr>
          </a:p>
          <a:p>
            <a:pPr indent="-351790" lvl="0" marL="363855" marR="534035" rtl="0" algn="l">
              <a:lnSpc>
                <a:spcPct val="114999"/>
              </a:lnSpc>
              <a:spcBef>
                <a:spcPts val="1200"/>
              </a:spcBef>
              <a:spcAft>
                <a:spcPts val="0"/>
              </a:spcAft>
              <a:buSzPts val="1600"/>
              <a:buFont typeface="Arial"/>
              <a:buChar char="●"/>
            </a:pPr>
            <a:r>
              <a:rPr lang="en-US" sz="1600">
                <a:latin typeface="Arial"/>
                <a:ea typeface="Arial"/>
                <a:cs typeface="Arial"/>
                <a:sym typeface="Arial"/>
              </a:rPr>
              <a:t>Smart Contract Execution: It runs smart contract bytecode, typically compiled from Solidity.</a:t>
            </a:r>
            <a:endParaRPr sz="1600">
              <a:latin typeface="Arial"/>
              <a:ea typeface="Arial"/>
              <a:cs typeface="Arial"/>
              <a:sym typeface="Arial"/>
            </a:endParaRPr>
          </a:p>
          <a:p>
            <a:pPr indent="-351790" lvl="0" marL="363855" marR="53339" rtl="0" algn="l">
              <a:lnSpc>
                <a:spcPct val="114999"/>
              </a:lnSpc>
              <a:spcBef>
                <a:spcPts val="0"/>
              </a:spcBef>
              <a:spcAft>
                <a:spcPts val="0"/>
              </a:spcAft>
              <a:buSzPts val="1600"/>
              <a:buFont typeface="Arial"/>
              <a:buChar char="●"/>
            </a:pPr>
            <a:r>
              <a:rPr lang="en-US" sz="1600">
                <a:latin typeface="Arial"/>
                <a:ea typeface="Arial"/>
                <a:cs typeface="Arial"/>
                <a:sym typeface="Arial"/>
              </a:rPr>
              <a:t>Consensus Mechanism: Every full node executes every transaction to maintain network consensus.</a:t>
            </a:r>
            <a:endParaRPr sz="1600">
              <a:latin typeface="Arial"/>
              <a:ea typeface="Arial"/>
              <a:cs typeface="Arial"/>
              <a:sym typeface="Arial"/>
            </a:endParaRPr>
          </a:p>
          <a:p>
            <a:pPr indent="-351790" lvl="0" marL="363855" marR="540385" rtl="0" algn="l">
              <a:lnSpc>
                <a:spcPct val="114999"/>
              </a:lnSpc>
              <a:spcBef>
                <a:spcPts val="0"/>
              </a:spcBef>
              <a:spcAft>
                <a:spcPts val="0"/>
              </a:spcAft>
              <a:buSzPts val="1600"/>
              <a:buFont typeface="Arial"/>
              <a:buChar char="●"/>
            </a:pPr>
            <a:r>
              <a:rPr lang="en-US" sz="1600">
                <a:latin typeface="Arial"/>
                <a:ea typeface="Arial"/>
                <a:cs typeface="Arial"/>
                <a:sym typeface="Arial"/>
              </a:rPr>
              <a:t>Gas System: A gas system is in place to prevent infinite loops and compensate for computational efforts.</a:t>
            </a:r>
            <a:endParaRPr sz="1600">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346" name="Google Shape;346;p4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47" name="Google Shape;347;p4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48" name="Google Shape;348;p44"/>
          <p:cNvSpPr txBox="1"/>
          <p:nvPr/>
        </p:nvSpPr>
        <p:spPr>
          <a:xfrm>
            <a:off x="386746" y="1919347"/>
            <a:ext cx="7935595"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State Structure:</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Externally Owned Accounts (EOAs): User wallets controlled by a private key.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Contract Accounts: Comprise code and storage, not controlled by a private key.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World State: A comprehensive mapping of all addresses to their corresponding data.</a:t>
            </a:r>
            <a:endParaRPr sz="1600">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354" name="Google Shape;354;p4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55" name="Google Shape;355;p4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56" name="Google Shape;356;p45"/>
          <p:cNvSpPr txBox="1"/>
          <p:nvPr/>
        </p:nvSpPr>
        <p:spPr>
          <a:xfrm>
            <a:off x="396271" y="1494547"/>
            <a:ext cx="8378190" cy="210439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How Transactions Work</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A user initiates a transaction by calling a function on a smart contract.</a:t>
            </a:r>
            <a:endParaRPr sz="1600">
              <a:latin typeface="Arial"/>
              <a:ea typeface="Arial"/>
              <a:cs typeface="Arial"/>
              <a:sym typeface="Arial"/>
            </a:endParaRPr>
          </a:p>
          <a:p>
            <a:pPr indent="-351790" lvl="0" marL="363855" marR="284480" rtl="0" algn="l">
              <a:lnSpc>
                <a:spcPct val="114999"/>
              </a:lnSpc>
              <a:spcBef>
                <a:spcPts val="0"/>
              </a:spcBef>
              <a:spcAft>
                <a:spcPts val="0"/>
              </a:spcAft>
              <a:buSzPts val="1600"/>
              <a:buFont typeface="Arial"/>
              <a:buChar char="●"/>
            </a:pPr>
            <a:r>
              <a:rPr lang="en-US" sz="1600">
                <a:latin typeface="Arial"/>
                <a:ea typeface="Arial"/>
                <a:cs typeface="Arial"/>
                <a:sym typeface="Arial"/>
              </a:rPr>
              <a:t>The Ethereum Virtual Machine (EVM) executes the smart contract's code, leading to a modification of the blockchain's state.</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Every operation within the transaction consumes "gas," with storage operations being the most costly.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The transaction concludes with an updated state and the emission of relevant events.</a:t>
            </a:r>
            <a:endParaRPr sz="1600">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362" name="Google Shape;362;p4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63" name="Google Shape;363;p4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64" name="Google Shape;364;p46"/>
          <p:cNvSpPr txBox="1"/>
          <p:nvPr/>
        </p:nvSpPr>
        <p:spPr>
          <a:xfrm>
            <a:off x="386746" y="1636147"/>
            <a:ext cx="8045450"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Here's an overview of the Ethereum blockchain's key characteristics: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Block Time: Approximately 12 seconds (following the September 2022 Merge).</a:t>
            </a:r>
            <a:endParaRPr sz="1600">
              <a:latin typeface="Arial"/>
              <a:ea typeface="Arial"/>
              <a:cs typeface="Arial"/>
              <a:sym typeface="Arial"/>
            </a:endParaRPr>
          </a:p>
          <a:p>
            <a:pPr indent="-351790" lvl="0" marL="363855" marR="801370" rtl="0" algn="l">
              <a:lnSpc>
                <a:spcPct val="114999"/>
              </a:lnSpc>
              <a:spcBef>
                <a:spcPts val="0"/>
              </a:spcBef>
              <a:spcAft>
                <a:spcPts val="0"/>
              </a:spcAft>
              <a:buSzPts val="1600"/>
              <a:buFont typeface="Arial"/>
              <a:buChar char="●"/>
            </a:pPr>
            <a:r>
              <a:rPr lang="en-US" sz="1600">
                <a:latin typeface="Arial"/>
                <a:ea typeface="Arial"/>
                <a:cs typeface="Arial"/>
                <a:sym typeface="Arial"/>
              </a:rPr>
              <a:t>Consensus Mechanism: Utilizes Proof-of-Stake, which replaced the previous Proof-of-Work system.</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Block Proposal: Validators are responsible for proposing blocks within their assigned 12-second slots. This slot time is fixed, unlike the variable block times seen in Bitcoin.</a:t>
            </a:r>
            <a:endParaRPr sz="1600">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370" name="Google Shape;370;p4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71" name="Google Shape;371;p4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72" name="Google Shape;372;p47"/>
          <p:cNvSpPr txBox="1"/>
          <p:nvPr/>
        </p:nvSpPr>
        <p:spPr>
          <a:xfrm>
            <a:off x="386746" y="1818121"/>
            <a:ext cx="8164195" cy="1427480"/>
          </a:xfrm>
          <a:prstGeom prst="rect">
            <a:avLst/>
          </a:prstGeom>
          <a:noFill/>
          <a:ln>
            <a:noFill/>
          </a:ln>
        </p:spPr>
        <p:txBody>
          <a:bodyPr anchorCtr="0" anchor="t" bIns="0" lIns="0" spcFirstLastPara="1" rIns="0" wrap="square" tIns="48875">
            <a:spAutoFit/>
          </a:bodyPr>
          <a:lstStyle/>
          <a:p>
            <a:pPr indent="-351155" lvl="0" marL="363855" rtl="0" algn="l">
              <a:lnSpc>
                <a:spcPct val="100000"/>
              </a:lnSpc>
              <a:spcBef>
                <a:spcPts val="0"/>
              </a:spcBef>
              <a:spcAft>
                <a:spcPts val="0"/>
              </a:spcAft>
              <a:buSzPts val="1600"/>
              <a:buFont typeface="Arial"/>
              <a:buChar char="●"/>
            </a:pPr>
            <a:r>
              <a:rPr lang="en-US" sz="1600">
                <a:latin typeface="Arial"/>
                <a:ea typeface="Arial"/>
                <a:cs typeface="Arial"/>
                <a:sym typeface="Arial"/>
              </a:rPr>
              <a:t>Confirmations: An epoch consists of 32 blocks.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Epoch Duration: Each epoch, comprising 32 slots, takes approximately 6.4 minutes.</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Finality: Deterministic finality is achieved in 2 epochs (64 blocks), which is roughly 12.8 minutes. Practically, finality can be observed in about 6.4 minutes. This differs from Bitcoin's probabilistic finality.</a:t>
            </a:r>
            <a:endParaRPr sz="1600">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378" name="Google Shape;378;p4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79" name="Google Shape;379;p4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80" name="Google Shape;380;p48"/>
          <p:cNvSpPr txBox="1"/>
          <p:nvPr/>
        </p:nvSpPr>
        <p:spPr>
          <a:xfrm>
            <a:off x="386746" y="1251720"/>
            <a:ext cx="7867015" cy="2549525"/>
          </a:xfrm>
          <a:prstGeom prst="rect">
            <a:avLst/>
          </a:prstGeom>
          <a:noFill/>
          <a:ln>
            <a:noFill/>
          </a:ln>
        </p:spPr>
        <p:txBody>
          <a:bodyPr anchorCtr="0" anchor="t" bIns="0" lIns="0" spcFirstLastPara="1" rIns="0" wrap="square" tIns="48875">
            <a:spAutoFit/>
          </a:bodyPr>
          <a:lstStyle/>
          <a:p>
            <a:pPr indent="-351155" lvl="0" marL="363855" rtl="0" algn="l">
              <a:lnSpc>
                <a:spcPct val="100000"/>
              </a:lnSpc>
              <a:spcBef>
                <a:spcPts val="0"/>
              </a:spcBef>
              <a:spcAft>
                <a:spcPts val="0"/>
              </a:spcAft>
              <a:buSzPts val="1600"/>
              <a:buFont typeface="Arial"/>
              <a:buChar char="●"/>
            </a:pPr>
            <a:r>
              <a:rPr lang="en-US" sz="1600">
                <a:latin typeface="Arial"/>
                <a:ea typeface="Arial"/>
                <a:cs typeface="Arial"/>
                <a:sym typeface="Arial"/>
              </a:rPr>
              <a:t>Finality: Approximately 6.4 minutes.</a:t>
            </a:r>
            <a:endParaRPr sz="1600">
              <a:latin typeface="Arial"/>
              <a:ea typeface="Arial"/>
              <a:cs typeface="Arial"/>
              <a:sym typeface="Arial"/>
            </a:endParaRPr>
          </a:p>
          <a:p>
            <a:pPr indent="-351790" lvl="1" marL="821055" marR="5080" rtl="0" algn="l">
              <a:lnSpc>
                <a:spcPct val="114999"/>
              </a:lnSpc>
              <a:spcBef>
                <a:spcPts val="0"/>
              </a:spcBef>
              <a:spcAft>
                <a:spcPts val="0"/>
              </a:spcAft>
              <a:buSzPts val="1600"/>
              <a:buFont typeface="Arial"/>
              <a:buChar char="○"/>
            </a:pPr>
            <a:r>
              <a:rPr lang="en-US" sz="1600">
                <a:latin typeface="Arial"/>
                <a:ea typeface="Arial"/>
                <a:cs typeface="Arial"/>
                <a:sym typeface="Arial"/>
              </a:rPr>
              <a:t>Blocks are justified and then finalized after two epochs, providing an economic guarantee that makes them irreversible.</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This finalization process is ten times faster than Bitcoin.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Transactions Per Second (TPS): Approximately 15 on the base layer.</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Block Gas Limit: 30M gas (variable).</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Simple Transfer Cost: Approximately 21,000 gas.</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Calculation: (30M gas / 21,000 gas per transfer) / 12 seconds ≈ 15 TPS.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Note: Complex smart contract calls will reduce the effective TPS.</a:t>
            </a:r>
            <a:endParaRPr sz="1600">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386" name="Google Shape;386;p4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87" name="Google Shape;387;p4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388" name="Google Shape;388;p49"/>
          <p:cNvSpPr txBox="1"/>
          <p:nvPr/>
        </p:nvSpPr>
        <p:spPr>
          <a:xfrm>
            <a:off x="386746" y="1288296"/>
            <a:ext cx="8313420" cy="322580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Why Gas Fees Surge:</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Auction-based fee markets: Increased demand directly translates to higher prices.</a:t>
            </a:r>
            <a:endParaRPr sz="1600">
              <a:latin typeface="Arial"/>
              <a:ea typeface="Arial"/>
              <a:cs typeface="Arial"/>
              <a:sym typeface="Arial"/>
            </a:endParaRPr>
          </a:p>
          <a:p>
            <a:pPr indent="-351790" lvl="0" marL="363855" marR="398145" rtl="0" algn="l">
              <a:lnSpc>
                <a:spcPct val="114999"/>
              </a:lnSpc>
              <a:spcBef>
                <a:spcPts val="0"/>
              </a:spcBef>
              <a:spcAft>
                <a:spcPts val="0"/>
              </a:spcAft>
              <a:buSzPts val="1600"/>
              <a:buFont typeface="Arial"/>
              <a:buChar char="●"/>
            </a:pPr>
            <a:r>
              <a:rPr lang="en-US" sz="1600">
                <a:latin typeface="Arial"/>
                <a:ea typeface="Arial"/>
                <a:cs typeface="Arial"/>
                <a:sym typeface="Arial"/>
              </a:rPr>
              <a:t>Scarce blockspace during peak usage: Volatility, NFT mints, and hype events create congestion.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Historical context:</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2021 DeFi summer saw fees frequently ranging from $50 to over $200 per swap.</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Currently, fees are typically $1–10, but still spike during congestion.</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On-chain demand bursts: High leverage and liquidations can trigger sudden increases in demand.</a:t>
            </a:r>
            <a:endParaRPr sz="1600">
              <a:latin typeface="Arial"/>
              <a:ea typeface="Arial"/>
              <a:cs typeface="Arial"/>
              <a:sym typeface="Arial"/>
            </a:endParaRPr>
          </a:p>
          <a:p>
            <a:pPr indent="-351790" lvl="0" marL="363855" marR="277495" rtl="0" algn="l">
              <a:lnSpc>
                <a:spcPct val="114999"/>
              </a:lnSpc>
              <a:spcBef>
                <a:spcPts val="0"/>
              </a:spcBef>
              <a:spcAft>
                <a:spcPts val="0"/>
              </a:spcAft>
              <a:buSzPts val="1600"/>
              <a:buFont typeface="Arial"/>
              <a:buChar char="●"/>
            </a:pPr>
            <a:r>
              <a:rPr lang="en-US" sz="1600">
                <a:latin typeface="Arial"/>
                <a:ea typeface="Arial"/>
                <a:cs typeface="Arial"/>
                <a:sym typeface="Arial"/>
              </a:rPr>
              <a:t>User behavior: Users are willing to pay more to ensure their transactions are included quickly in the next block.</a:t>
            </a:r>
            <a:endParaRPr sz="1600">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50"/>
          <p:cNvPicPr preferRelativeResize="0"/>
          <p:nvPr/>
        </p:nvPicPr>
        <p:blipFill rotWithShape="1">
          <a:blip r:embed="rId3">
            <a:alphaModFix/>
          </a:blip>
          <a:srcRect b="0" l="0" r="0" t="0"/>
          <a:stretch/>
        </p:blipFill>
        <p:spPr>
          <a:xfrm>
            <a:off x="1338262" y="373400"/>
            <a:ext cx="6400799" cy="4114799"/>
          </a:xfrm>
          <a:prstGeom prst="rect">
            <a:avLst/>
          </a:prstGeom>
          <a:noFill/>
          <a:ln>
            <a:noFill/>
          </a:ln>
        </p:spPr>
      </p:pic>
      <p:sp>
        <p:nvSpPr>
          <p:cNvPr id="394" name="Google Shape;394;p5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395" name="Google Shape;395;p5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51"/>
          <p:cNvPicPr preferRelativeResize="0"/>
          <p:nvPr/>
        </p:nvPicPr>
        <p:blipFill rotWithShape="1">
          <a:blip r:embed="rId3">
            <a:alphaModFix/>
          </a:blip>
          <a:srcRect b="0" l="0" r="0" t="0"/>
          <a:stretch/>
        </p:blipFill>
        <p:spPr>
          <a:xfrm>
            <a:off x="1328737" y="235725"/>
            <a:ext cx="6400799" cy="3971924"/>
          </a:xfrm>
          <a:prstGeom prst="rect">
            <a:avLst/>
          </a:prstGeom>
          <a:noFill/>
          <a:ln>
            <a:noFill/>
          </a:ln>
        </p:spPr>
      </p:pic>
      <p:sp>
        <p:nvSpPr>
          <p:cNvPr id="401" name="Google Shape;401;p5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02" name="Google Shape;402;p5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Account Model / EVM Explained</a:t>
            </a:r>
            <a:endParaRPr/>
          </a:p>
        </p:txBody>
      </p:sp>
      <p:sp>
        <p:nvSpPr>
          <p:cNvPr id="408" name="Google Shape;408;p5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09" name="Google Shape;409;p5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10" name="Google Shape;410;p52"/>
          <p:cNvSpPr txBox="1"/>
          <p:nvPr/>
        </p:nvSpPr>
        <p:spPr>
          <a:xfrm>
            <a:off x="394387" y="1083130"/>
            <a:ext cx="8309609" cy="3561079"/>
          </a:xfrm>
          <a:prstGeom prst="rect">
            <a:avLst/>
          </a:prstGeom>
          <a:noFill/>
          <a:ln>
            <a:noFill/>
          </a:ln>
        </p:spPr>
        <p:txBody>
          <a:bodyPr anchorCtr="0" anchor="t" bIns="0" lIns="0" spcFirstLastPara="1" rIns="0" wrap="square" tIns="12700">
            <a:spAutoFit/>
          </a:bodyPr>
          <a:lstStyle/>
          <a:p>
            <a:pPr indent="0" lvl="0" marL="127635" rtl="0" algn="l">
              <a:lnSpc>
                <a:spcPct val="100000"/>
              </a:lnSpc>
              <a:spcBef>
                <a:spcPts val="0"/>
              </a:spcBef>
              <a:spcAft>
                <a:spcPts val="0"/>
              </a:spcAft>
              <a:buNone/>
            </a:pPr>
            <a:r>
              <a:rPr lang="en-US" sz="1500">
                <a:latin typeface="Arial"/>
                <a:ea typeface="Arial"/>
                <a:cs typeface="Arial"/>
                <a:sym typeface="Arial"/>
              </a:rPr>
              <a:t>Key Observations from Network Charts</a:t>
            </a:r>
            <a:endParaRPr sz="1500">
              <a:latin typeface="Arial"/>
              <a:ea typeface="Arial"/>
              <a:cs typeface="Arial"/>
              <a:sym typeface="Arial"/>
            </a:endParaRPr>
          </a:p>
          <a:p>
            <a:pPr indent="-344169" lvl="0" marL="356235" marR="372110" rtl="0" algn="l">
              <a:lnSpc>
                <a:spcPct val="114999"/>
              </a:lnSpc>
              <a:spcBef>
                <a:spcPts val="1200"/>
              </a:spcBef>
              <a:spcAft>
                <a:spcPts val="0"/>
              </a:spcAft>
              <a:buSzPts val="1500"/>
              <a:buFont typeface="Arial"/>
              <a:buChar char="●"/>
            </a:pPr>
            <a:r>
              <a:rPr lang="en-US" sz="1500">
                <a:latin typeface="Arial"/>
                <a:ea typeface="Arial"/>
                <a:cs typeface="Arial"/>
                <a:sym typeface="Arial"/>
              </a:rPr>
              <a:t>Sudden TPS Spikes: Around 21:00, a sharp increase in Transactions Per Second (TPS) is observed across all networks.</a:t>
            </a:r>
            <a:endParaRPr sz="1500">
              <a:latin typeface="Arial"/>
              <a:ea typeface="Arial"/>
              <a:cs typeface="Arial"/>
              <a:sym typeface="Arial"/>
            </a:endParaRPr>
          </a:p>
          <a:p>
            <a:pPr indent="-344169" lvl="0" marL="356235" marR="718820" rtl="0" algn="l">
              <a:lnSpc>
                <a:spcPct val="114999"/>
              </a:lnSpc>
              <a:spcBef>
                <a:spcPts val="0"/>
              </a:spcBef>
              <a:spcAft>
                <a:spcPts val="0"/>
              </a:spcAft>
              <a:buSzPts val="1500"/>
              <a:buFont typeface="Arial"/>
              <a:buChar char="●"/>
            </a:pPr>
            <a:r>
              <a:rPr lang="en-US" sz="1500">
                <a:latin typeface="Arial"/>
                <a:ea typeface="Arial"/>
                <a:cs typeface="Arial"/>
                <a:sym typeface="Arial"/>
              </a:rPr>
              <a:t>Ethereum Ecosystem Fee Surges: Fees on Ethereum, Arbitrum, and Base experience significant increases as blockspace becomes fully utilized.</a:t>
            </a:r>
            <a:endParaRPr sz="1500">
              <a:latin typeface="Arial"/>
              <a:ea typeface="Arial"/>
              <a:cs typeface="Arial"/>
              <a:sym typeface="Arial"/>
            </a:endParaRPr>
          </a:p>
          <a:p>
            <a:pPr indent="-344169" lvl="0" marL="356235" marR="812165" rtl="0" algn="l">
              <a:lnSpc>
                <a:spcPct val="114999"/>
              </a:lnSpc>
              <a:spcBef>
                <a:spcPts val="0"/>
              </a:spcBef>
              <a:spcAft>
                <a:spcPts val="0"/>
              </a:spcAft>
              <a:buSzPts val="1500"/>
              <a:buFont typeface="Arial"/>
              <a:buChar char="●"/>
            </a:pPr>
            <a:r>
              <a:rPr lang="en-US" sz="1500">
                <a:latin typeface="Arial"/>
                <a:ea typeface="Arial"/>
                <a:cs typeface="Arial"/>
                <a:sym typeface="Arial"/>
              </a:rPr>
              <a:t>Solana's Performance: Solana demonstrates the capacity to handle the highest TPS, maintaining fees at approximately $0.01 or less.</a:t>
            </a:r>
            <a:endParaRPr sz="1500">
              <a:latin typeface="Arial"/>
              <a:ea typeface="Arial"/>
              <a:cs typeface="Arial"/>
              <a:sym typeface="Arial"/>
            </a:endParaRPr>
          </a:p>
          <a:p>
            <a:pPr indent="-344169" lvl="0" marL="356235" marR="436880" rtl="0" algn="l">
              <a:lnSpc>
                <a:spcPct val="114999"/>
              </a:lnSpc>
              <a:spcBef>
                <a:spcPts val="0"/>
              </a:spcBef>
              <a:spcAft>
                <a:spcPts val="0"/>
              </a:spcAft>
              <a:buSzPts val="1500"/>
              <a:buFont typeface="Arial"/>
              <a:buChar char="●"/>
            </a:pPr>
            <a:r>
              <a:rPr lang="en-US" sz="1500">
                <a:latin typeface="Arial"/>
                <a:ea typeface="Arial"/>
                <a:cs typeface="Arial"/>
                <a:sym typeface="Arial"/>
              </a:rPr>
              <a:t>Divergent Scaling Strategies: This highlights the distinct scaling approaches employed by different networks when faced with real-world demand.</a:t>
            </a:r>
            <a:endParaRPr sz="1500">
              <a:latin typeface="Arial"/>
              <a:ea typeface="Arial"/>
              <a:cs typeface="Arial"/>
              <a:sym typeface="Arial"/>
            </a:endParaRPr>
          </a:p>
          <a:p>
            <a:pPr indent="-343535" lvl="0" marL="356235" rtl="0" algn="l">
              <a:lnSpc>
                <a:spcPct val="100000"/>
              </a:lnSpc>
              <a:spcBef>
                <a:spcPts val="270"/>
              </a:spcBef>
              <a:spcAft>
                <a:spcPts val="0"/>
              </a:spcAft>
              <a:buSzPts val="1500"/>
              <a:buFont typeface="Arial"/>
              <a:buChar char="●"/>
            </a:pPr>
            <a:r>
              <a:rPr lang="en-US" sz="1500">
                <a:latin typeface="Arial"/>
                <a:ea typeface="Arial"/>
                <a:cs typeface="Arial"/>
                <a:sym typeface="Arial"/>
              </a:rPr>
              <a:t>Throughput and Fee Relationship:</a:t>
            </a:r>
            <a:endParaRPr sz="1500">
              <a:latin typeface="Arial"/>
              <a:ea typeface="Arial"/>
              <a:cs typeface="Arial"/>
              <a:sym typeface="Arial"/>
            </a:endParaRPr>
          </a:p>
          <a:p>
            <a:pPr indent="-344170" lvl="1" marL="813435" rtl="0" algn="l">
              <a:lnSpc>
                <a:spcPct val="100000"/>
              </a:lnSpc>
              <a:spcBef>
                <a:spcPts val="270"/>
              </a:spcBef>
              <a:spcAft>
                <a:spcPts val="0"/>
              </a:spcAft>
              <a:buSzPts val="1500"/>
              <a:buFont typeface="Arial"/>
              <a:buChar char="○"/>
            </a:pPr>
            <a:r>
              <a:rPr lang="en-US" sz="1500">
                <a:latin typeface="Arial"/>
                <a:ea typeface="Arial"/>
                <a:cs typeface="Arial"/>
                <a:sym typeface="Arial"/>
              </a:rPr>
              <a:t>Networks with limited throughput are prone to fee volatility.</a:t>
            </a:r>
            <a:endParaRPr sz="1500">
              <a:latin typeface="Arial"/>
              <a:ea typeface="Arial"/>
              <a:cs typeface="Arial"/>
              <a:sym typeface="Arial"/>
            </a:endParaRPr>
          </a:p>
          <a:p>
            <a:pPr indent="-344170" lvl="1" marL="813435" marR="5080" rtl="0" algn="l">
              <a:lnSpc>
                <a:spcPct val="114999"/>
              </a:lnSpc>
              <a:spcBef>
                <a:spcPts val="0"/>
              </a:spcBef>
              <a:spcAft>
                <a:spcPts val="0"/>
              </a:spcAft>
              <a:buSzPts val="1500"/>
              <a:buFont typeface="Arial"/>
              <a:buChar char="○"/>
            </a:pPr>
            <a:r>
              <a:rPr lang="en-US" sz="1500">
                <a:latin typeface="Arial"/>
                <a:ea typeface="Arial"/>
                <a:cs typeface="Arial"/>
                <a:sym typeface="Arial"/>
              </a:rPr>
              <a:t>High-throughput designs, conversely, tend to exhibit fee stability, even during peak stress periods.</a:t>
            </a:r>
            <a:endParaRPr sz="1500">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Ethereum Performance Metrics</a:t>
            </a:r>
            <a:endParaRPr/>
          </a:p>
        </p:txBody>
      </p:sp>
      <p:sp>
        <p:nvSpPr>
          <p:cNvPr id="416" name="Google Shape;416;p5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17" name="Google Shape;417;p5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18" name="Google Shape;418;p53"/>
          <p:cNvSpPr txBox="1"/>
          <p:nvPr/>
        </p:nvSpPr>
        <p:spPr>
          <a:xfrm>
            <a:off x="290375" y="980497"/>
            <a:ext cx="6901815" cy="3122295"/>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Key Innovations:</a:t>
            </a:r>
            <a:endParaRPr sz="1600">
              <a:latin typeface="Arial"/>
              <a:ea typeface="Arial"/>
              <a:cs typeface="Arial"/>
              <a:sym typeface="Arial"/>
            </a:endParaRPr>
          </a:p>
          <a:p>
            <a:pPr indent="0" lvl="0" marL="241300" rtl="0" algn="l">
              <a:lnSpc>
                <a:spcPct val="100000"/>
              </a:lnSpc>
              <a:spcBef>
                <a:spcPts val="1485"/>
              </a:spcBef>
              <a:spcAft>
                <a:spcPts val="0"/>
              </a:spcAft>
              <a:buNone/>
            </a:pPr>
            <a:r>
              <a:rPr lang="en-US" sz="1600">
                <a:latin typeface="Arial"/>
                <a:ea typeface="Arial"/>
                <a:cs typeface="Arial"/>
                <a:sym typeface="Arial"/>
              </a:rPr>
              <a:t>Programmable Money</a:t>
            </a:r>
            <a:endParaRPr sz="1600">
              <a:latin typeface="Arial"/>
              <a:ea typeface="Arial"/>
              <a:cs typeface="Arial"/>
              <a:sym typeface="Arial"/>
            </a:endParaRPr>
          </a:p>
          <a:p>
            <a:pPr indent="-351155" lvl="0" marL="469265" rtl="0" algn="l">
              <a:lnSpc>
                <a:spcPct val="100000"/>
              </a:lnSpc>
              <a:spcBef>
                <a:spcPts val="1490"/>
              </a:spcBef>
              <a:spcAft>
                <a:spcPts val="0"/>
              </a:spcAft>
              <a:buSzPts val="1600"/>
              <a:buFont typeface="Arial"/>
              <a:buChar char="●"/>
            </a:pPr>
            <a:r>
              <a:rPr lang="en-US" sz="1600">
                <a:latin typeface="Arial"/>
                <a:ea typeface="Arial"/>
                <a:cs typeface="Arial"/>
                <a:sym typeface="Arial"/>
              </a:rPr>
              <a:t>Assets are code-driven, moving beyond simple balances.</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Automates lending, trading, and settlement processes.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Forms the basis for DeFi, NFTs, DAOs, and novel financial instruments.</a:t>
            </a:r>
            <a:endParaRPr sz="1600">
              <a:latin typeface="Arial"/>
              <a:ea typeface="Arial"/>
              <a:cs typeface="Arial"/>
              <a:sym typeface="Arial"/>
            </a:endParaRPr>
          </a:p>
          <a:p>
            <a:pPr indent="0" lvl="0" marL="12700" rtl="0" algn="l">
              <a:lnSpc>
                <a:spcPct val="100000"/>
              </a:lnSpc>
              <a:spcBef>
                <a:spcPts val="1490"/>
              </a:spcBef>
              <a:spcAft>
                <a:spcPts val="0"/>
              </a:spcAft>
              <a:buNone/>
            </a:pPr>
            <a:r>
              <a:rPr lang="en-US" sz="1600">
                <a:latin typeface="Arial"/>
                <a:ea typeface="Arial"/>
                <a:cs typeface="Arial"/>
                <a:sym typeface="Arial"/>
              </a:rPr>
              <a:t>Composability</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Smart contracts interact seamlessly, like "money Legos."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Developers can build upon existing protocols.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Drives rapid innovation: staking → collateral → yield → derivatives.</a:t>
            </a:r>
            <a:endParaRPr sz="1600">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Smart Contracts &amp; DeFi</a:t>
            </a:r>
            <a:endParaRPr/>
          </a:p>
        </p:txBody>
      </p:sp>
      <p:sp>
        <p:nvSpPr>
          <p:cNvPr id="424" name="Google Shape;424;p5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25" name="Google Shape;425;p5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26" name="Google Shape;426;p54"/>
          <p:cNvSpPr txBox="1"/>
          <p:nvPr/>
        </p:nvSpPr>
        <p:spPr>
          <a:xfrm>
            <a:off x="386746" y="1919347"/>
            <a:ext cx="6796405"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EVM: The Foundation for Programmable Money</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Trustless Execution: Code runs precisely as written, ensuring reliability.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Direct Control: Write code to manage and control assets.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Eliminates Intermediaries: No third parties are required for transactions.</a:t>
            </a:r>
            <a:endParaRPr sz="1600">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Smart Contracts &amp; DeFi</a:t>
            </a:r>
            <a:endParaRPr/>
          </a:p>
        </p:txBody>
      </p:sp>
      <p:sp>
        <p:nvSpPr>
          <p:cNvPr id="432" name="Google Shape;432;p5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33" name="Google Shape;433;p5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34" name="Google Shape;434;p55"/>
          <p:cNvSpPr txBox="1"/>
          <p:nvPr/>
        </p:nvSpPr>
        <p:spPr>
          <a:xfrm>
            <a:off x="396271" y="1636147"/>
            <a:ext cx="6949440"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DeFi Explosion (2020–2024)</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Key Platforms: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Uniswap: Decentralized Automated Market Maker (AMM) exchange.</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Aave: Lending and borrowing platform requiring collateral.</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Curve: Facilitates low-slippage stablecoin swaps.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Total Value Locked (TVL) Peak: Over $50 billion.</a:t>
            </a:r>
            <a:endParaRPr sz="1600">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Smart Contracts &amp; DeFi</a:t>
            </a:r>
            <a:endParaRPr/>
          </a:p>
        </p:txBody>
      </p:sp>
      <p:sp>
        <p:nvSpPr>
          <p:cNvPr id="440" name="Google Shape;440;p5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41" name="Google Shape;441;p5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42" name="Google Shape;442;p56"/>
          <p:cNvSpPr txBox="1"/>
          <p:nvPr/>
        </p:nvSpPr>
        <p:spPr>
          <a:xfrm>
            <a:off x="280850" y="1082621"/>
            <a:ext cx="8369934" cy="3250565"/>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Composability: "Money Legos"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Smart contracts can interact to enable complex, atomic transactions.</a:t>
            </a:r>
            <a:endParaRPr sz="1600">
              <a:latin typeface="Arial"/>
              <a:ea typeface="Arial"/>
              <a:cs typeface="Arial"/>
              <a:sym typeface="Arial"/>
            </a:endParaRPr>
          </a:p>
          <a:p>
            <a:pPr indent="-351790" lvl="0" marL="469900" marR="5080" rtl="0" algn="l">
              <a:lnSpc>
                <a:spcPct val="114999"/>
              </a:lnSpc>
              <a:spcBef>
                <a:spcPts val="0"/>
              </a:spcBef>
              <a:spcAft>
                <a:spcPts val="0"/>
              </a:spcAft>
              <a:buSzPts val="1600"/>
              <a:buFont typeface="Arial"/>
              <a:buChar char="●"/>
            </a:pPr>
            <a:r>
              <a:rPr lang="en-US" sz="1600">
                <a:latin typeface="Arial"/>
                <a:ea typeface="Arial"/>
                <a:cs typeface="Arial"/>
                <a:sym typeface="Arial"/>
              </a:rPr>
              <a:t>For example, a single transaction could include a flash loan, a swap, arbitrage, and loan repayment.</a:t>
            </a:r>
            <a:endParaRPr sz="1600">
              <a:latin typeface="Arial"/>
              <a:ea typeface="Arial"/>
              <a:cs typeface="Arial"/>
              <a:sym typeface="Arial"/>
            </a:endParaRPr>
          </a:p>
          <a:p>
            <a:pPr indent="0" lvl="0" marL="12700" rtl="0" algn="l">
              <a:lnSpc>
                <a:spcPct val="100000"/>
              </a:lnSpc>
              <a:spcBef>
                <a:spcPts val="1490"/>
              </a:spcBef>
              <a:spcAft>
                <a:spcPts val="0"/>
              </a:spcAft>
              <a:buNone/>
            </a:pPr>
            <a:r>
              <a:rPr lang="en-US" sz="1600">
                <a:latin typeface="Arial"/>
                <a:ea typeface="Arial"/>
                <a:cs typeface="Arial"/>
                <a:sym typeface="Arial"/>
              </a:rPr>
              <a:t>MEV + Trader Implications</a:t>
            </a:r>
            <a:endParaRPr sz="1600">
              <a:latin typeface="Arial"/>
              <a:ea typeface="Arial"/>
              <a:cs typeface="Arial"/>
              <a:sym typeface="Arial"/>
            </a:endParaRPr>
          </a:p>
          <a:p>
            <a:pPr indent="-351790" lvl="0" marL="469900" marR="69850" rtl="0" algn="l">
              <a:lnSpc>
                <a:spcPct val="114999"/>
              </a:lnSpc>
              <a:spcBef>
                <a:spcPts val="1200"/>
              </a:spcBef>
              <a:spcAft>
                <a:spcPts val="0"/>
              </a:spcAft>
              <a:buSzPts val="1600"/>
              <a:buFont typeface="Arial"/>
              <a:buChar char="●"/>
            </a:pPr>
            <a:r>
              <a:rPr lang="en-US" sz="1600">
                <a:latin typeface="Arial"/>
                <a:ea typeface="Arial"/>
                <a:cs typeface="Arial"/>
                <a:sym typeface="Arial"/>
              </a:rPr>
              <a:t>MEV involves reordering or inserting transactions for profit, leading to front-running and sandwich attacks.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Flashbots formalized MEV extraction.</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This has led to new trading strategies compared to centralized exchanges (CEXs).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Key risks include front-running, smart-contract bugs, and gas wars.</a:t>
            </a:r>
            <a:endParaRPr sz="1600">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Ethereum</a:t>
            </a:r>
            <a:endParaRPr/>
          </a:p>
        </p:txBody>
      </p:sp>
      <p:sp>
        <p:nvSpPr>
          <p:cNvPr id="448" name="Google Shape;448;p5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49" name="Google Shape;449;p5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50" name="Google Shape;450;p57"/>
          <p:cNvSpPr txBox="1"/>
          <p:nvPr/>
        </p:nvSpPr>
        <p:spPr>
          <a:xfrm>
            <a:off x="396271" y="1777747"/>
            <a:ext cx="568007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Strengths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Massive DeFi ecosystem: Uniswap, Aave, Curve, etc.</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Composability: Combine protocols for advanced strategies.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~6.4 minute finality: Sufficient for many trading workflows.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Smart contracts: Build custom on-chain trading bots.</a:t>
            </a:r>
            <a:endParaRPr sz="1600">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Ethereum</a:t>
            </a:r>
            <a:endParaRPr/>
          </a:p>
        </p:txBody>
      </p:sp>
      <p:sp>
        <p:nvSpPr>
          <p:cNvPr id="456" name="Google Shape;456;p5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57" name="Google Shape;457;p5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58" name="Google Shape;458;p58"/>
          <p:cNvSpPr txBox="1"/>
          <p:nvPr/>
        </p:nvSpPr>
        <p:spPr>
          <a:xfrm>
            <a:off x="396271" y="1777747"/>
            <a:ext cx="480123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Weaknesses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High gas fees: $10–100+ during congestion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Moderate throughput: ~15 TPS (not HFT-friendly)</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MEV exposure: front-running + sandwich attacks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Complexity: contract bugs can cause losses</a:t>
            </a:r>
            <a:endParaRPr sz="1600">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Ethereum</a:t>
            </a:r>
            <a:endParaRPr/>
          </a:p>
        </p:txBody>
      </p:sp>
      <p:sp>
        <p:nvSpPr>
          <p:cNvPr id="464" name="Google Shape;464;p5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65" name="Google Shape;465;p5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66" name="Google Shape;466;p59"/>
          <p:cNvSpPr txBox="1"/>
          <p:nvPr>
            <p:ph idx="1" type="body"/>
          </p:nvPr>
        </p:nvSpPr>
        <p:spPr>
          <a:xfrm>
            <a:off x="280850" y="1046045"/>
            <a:ext cx="8389620" cy="3311525"/>
          </a:xfrm>
          <a:prstGeom prst="rect">
            <a:avLst/>
          </a:prstGeom>
          <a:noFill/>
          <a:ln>
            <a:noFill/>
          </a:ln>
        </p:spPr>
        <p:txBody>
          <a:bodyPr anchorCtr="0" anchor="t" bIns="0" lIns="0" spcFirstLastPara="1" rIns="0" wrap="square" tIns="178000">
            <a:spAutoFit/>
          </a:bodyPr>
          <a:lstStyle/>
          <a:p>
            <a:pPr indent="0" lvl="0" marL="250190" rtl="0" algn="l">
              <a:lnSpc>
                <a:spcPct val="100000"/>
              </a:lnSpc>
              <a:spcBef>
                <a:spcPts val="0"/>
              </a:spcBef>
              <a:spcAft>
                <a:spcPts val="0"/>
              </a:spcAft>
              <a:buNone/>
            </a:pPr>
            <a:r>
              <a:rPr lang="en-US"/>
              <a:t>Key Applications</a:t>
            </a:r>
            <a:endParaRPr/>
          </a:p>
          <a:p>
            <a:pPr indent="-351790" lvl="0" marL="478790" marR="36195" rtl="0" algn="l">
              <a:lnSpc>
                <a:spcPct val="114999"/>
              </a:lnSpc>
              <a:spcBef>
                <a:spcPts val="1200"/>
              </a:spcBef>
              <a:spcAft>
                <a:spcPts val="0"/>
              </a:spcAft>
              <a:buClr>
                <a:schemeClr val="dk1"/>
              </a:buClr>
              <a:buSzPts val="1600"/>
              <a:buFont typeface="Arial"/>
              <a:buChar char="●"/>
            </a:pPr>
            <a:r>
              <a:rPr lang="en-US"/>
              <a:t>Decentralized Exchange (DEX) Trading: Platforms like Uniswap, SushiSwap, and Curve facilitate direct peer-to-peer cryptocurrency trades.</a:t>
            </a:r>
            <a:endParaRPr/>
          </a:p>
          <a:p>
            <a:pPr indent="-351790" lvl="0" marL="478790" marR="90805" rtl="0" algn="l">
              <a:lnSpc>
                <a:spcPct val="114999"/>
              </a:lnSpc>
              <a:spcBef>
                <a:spcPts val="0"/>
              </a:spcBef>
              <a:spcAft>
                <a:spcPts val="0"/>
              </a:spcAft>
              <a:buClr>
                <a:schemeClr val="dk1"/>
              </a:buClr>
              <a:buSzPts val="1600"/>
              <a:buFont typeface="Arial"/>
              <a:buChar char="●"/>
            </a:pPr>
            <a:r>
              <a:rPr lang="en-US"/>
              <a:t>Decentralized Finance (DeFi) Strategies: Engage in activities such as yield farming and providing liquidity (LP provision) to earn returns.</a:t>
            </a:r>
            <a:endParaRPr/>
          </a:p>
          <a:p>
            <a:pPr indent="-351790" lvl="0" marL="478790" marR="274955" rtl="0" algn="l">
              <a:lnSpc>
                <a:spcPct val="114999"/>
              </a:lnSpc>
              <a:spcBef>
                <a:spcPts val="0"/>
              </a:spcBef>
              <a:spcAft>
                <a:spcPts val="0"/>
              </a:spcAft>
              <a:buClr>
                <a:schemeClr val="dk1"/>
              </a:buClr>
              <a:buSzPts val="1600"/>
              <a:buFont typeface="Arial"/>
              <a:buChar char="●"/>
            </a:pPr>
            <a:r>
              <a:rPr lang="en-US"/>
              <a:t>Maximal Extractable Value (MEV) Extraction: Advanced participants can capitalize on MEV opportunities.</a:t>
            </a:r>
            <a:endParaRPr/>
          </a:p>
          <a:p>
            <a:pPr indent="-351790" lvl="0" marL="478790" marR="5080" rtl="0" algn="l">
              <a:lnSpc>
                <a:spcPct val="114999"/>
              </a:lnSpc>
              <a:spcBef>
                <a:spcPts val="0"/>
              </a:spcBef>
              <a:spcAft>
                <a:spcPts val="0"/>
              </a:spcAft>
              <a:buClr>
                <a:schemeClr val="dk1"/>
              </a:buClr>
              <a:buSzPts val="1600"/>
              <a:buFont typeface="Arial"/>
              <a:buChar char="●"/>
            </a:pPr>
            <a:r>
              <a:rPr lang="en-US"/>
              <a:t>Arbitrage: Exploit price differences between DEXs when transaction costs (gas fees) are less than the potential profit.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Ethereum</a:t>
            </a:r>
            <a:endParaRPr/>
          </a:p>
        </p:txBody>
      </p:sp>
      <p:sp>
        <p:nvSpPr>
          <p:cNvPr id="472" name="Google Shape;472;p6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73" name="Google Shape;473;p6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74" name="Google Shape;474;p60"/>
          <p:cNvSpPr txBox="1"/>
          <p:nvPr/>
        </p:nvSpPr>
        <p:spPr>
          <a:xfrm>
            <a:off x="396271" y="1636147"/>
            <a:ext cx="8378190"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Challenges / Notes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Gas optimization is crucial, as every operation incurs a cost.</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The public mempool reveals trade intent, leading to front-running risks.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Smart contracts are susceptible to bugs, exploits, and rug pulls.</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While L2s (Arbitrum, Optimism) enhance speed and reduce costs, the primary focus here is on L1.</a:t>
            </a:r>
            <a:endParaRPr sz="1600">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Layer 2 Solutions (Brief)</a:t>
            </a:r>
            <a:endParaRPr/>
          </a:p>
        </p:txBody>
      </p:sp>
      <p:sp>
        <p:nvSpPr>
          <p:cNvPr id="480" name="Google Shape;480;p6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81" name="Google Shape;481;p6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82" name="Google Shape;482;p61"/>
          <p:cNvSpPr txBox="1"/>
          <p:nvPr/>
        </p:nvSpPr>
        <p:spPr>
          <a:xfrm>
            <a:off x="396271" y="1636147"/>
            <a:ext cx="8183880"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Problem: Ethereum L1’s Scalability Issues</a:t>
            </a:r>
            <a:endParaRPr sz="1600">
              <a:latin typeface="Arial"/>
              <a:ea typeface="Arial"/>
              <a:cs typeface="Arial"/>
              <a:sym typeface="Arial"/>
            </a:endParaRPr>
          </a:p>
          <a:p>
            <a:pPr indent="-351790" lvl="0" marL="363855" marR="5080" rtl="0" algn="l">
              <a:lnSpc>
                <a:spcPct val="114999"/>
              </a:lnSpc>
              <a:spcBef>
                <a:spcPts val="1200"/>
              </a:spcBef>
              <a:spcAft>
                <a:spcPts val="0"/>
              </a:spcAft>
              <a:buSzPts val="1600"/>
              <a:buFont typeface="Arial"/>
              <a:buChar char="●"/>
            </a:pPr>
            <a:r>
              <a:rPr lang="en-US" sz="1600">
                <a:latin typeface="Arial"/>
                <a:ea typeface="Arial"/>
                <a:cs typeface="Arial"/>
                <a:sym typeface="Arial"/>
              </a:rPr>
              <a:t>Low Transaction Speed: Approximately 15 transactions per second (TPS) is insufficient for widespread global adoption.</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High Costs: Elevated gas fees make the platform inaccessible for many retail users.</a:t>
            </a:r>
            <a:endParaRPr sz="1600">
              <a:latin typeface="Arial"/>
              <a:ea typeface="Arial"/>
              <a:cs typeface="Arial"/>
              <a:sym typeface="Arial"/>
            </a:endParaRPr>
          </a:p>
          <a:p>
            <a:pPr indent="-351790" lvl="0" marL="363855" marR="27940" rtl="0" algn="l">
              <a:lnSpc>
                <a:spcPct val="114999"/>
              </a:lnSpc>
              <a:spcBef>
                <a:spcPts val="0"/>
              </a:spcBef>
              <a:spcAft>
                <a:spcPts val="0"/>
              </a:spcAft>
              <a:buSzPts val="1600"/>
              <a:buFont typeface="Arial"/>
              <a:buChar char="●"/>
            </a:pPr>
            <a:r>
              <a:rPr lang="en-US" sz="1600">
                <a:latin typeface="Arial"/>
                <a:ea typeface="Arial"/>
                <a:cs typeface="Arial"/>
                <a:sym typeface="Arial"/>
              </a:rPr>
              <a:t>Network Congestion: The network experiences significant slowdowns during periods of high demand.</a:t>
            </a:r>
            <a:endParaRPr sz="1600">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Layer 2 Solutions (Brief)</a:t>
            </a:r>
            <a:endParaRPr/>
          </a:p>
        </p:txBody>
      </p:sp>
      <p:sp>
        <p:nvSpPr>
          <p:cNvPr id="488" name="Google Shape;488;p6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89" name="Google Shape;489;p6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90" name="Google Shape;490;p62"/>
          <p:cNvSpPr txBox="1"/>
          <p:nvPr/>
        </p:nvSpPr>
        <p:spPr>
          <a:xfrm>
            <a:off x="396271" y="1352947"/>
            <a:ext cx="3076575" cy="238506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Layer 2 Solutions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Optimistic Rollups: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Arbitrum (</a:t>
            </a:r>
            <a:r>
              <a:rPr lang="en-US" sz="1600">
                <a:latin typeface="MS PGothic"/>
                <a:ea typeface="MS PGothic"/>
                <a:cs typeface="MS PGothic"/>
                <a:sym typeface="MS PGothic"/>
              </a:rPr>
              <a:t>∼</a:t>
            </a:r>
            <a:r>
              <a:rPr lang="en-US" sz="1600">
                <a:latin typeface="Arial"/>
                <a:ea typeface="Arial"/>
                <a:cs typeface="Arial"/>
                <a:sym typeface="Arial"/>
              </a:rPr>
              <a:t>4,000 TPS)</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Optimism (</a:t>
            </a:r>
            <a:r>
              <a:rPr lang="en-US" sz="1600">
                <a:latin typeface="MS PGothic"/>
                <a:ea typeface="MS PGothic"/>
                <a:cs typeface="MS PGothic"/>
                <a:sym typeface="MS PGothic"/>
              </a:rPr>
              <a:t>∼</a:t>
            </a:r>
            <a:r>
              <a:rPr lang="en-US" sz="1600">
                <a:latin typeface="Arial"/>
                <a:ea typeface="Arial"/>
                <a:cs typeface="Arial"/>
                <a:sym typeface="Arial"/>
              </a:rPr>
              <a:t>2,000 TPS)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ZK-Rollups: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zkSync (off-chain proofs)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Sidechains: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Polygon (formerly Matic)</a:t>
            </a:r>
            <a:endParaRPr sz="1600">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Layer 2 Solutions (Brief)</a:t>
            </a:r>
            <a:endParaRPr/>
          </a:p>
        </p:txBody>
      </p:sp>
      <p:sp>
        <p:nvSpPr>
          <p:cNvPr id="496" name="Google Shape;496;p6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497" name="Google Shape;497;p6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498" name="Google Shape;498;p63"/>
          <p:cNvSpPr txBox="1"/>
          <p:nvPr>
            <p:ph idx="1" type="body"/>
          </p:nvPr>
        </p:nvSpPr>
        <p:spPr>
          <a:xfrm>
            <a:off x="280850" y="1046045"/>
            <a:ext cx="8389620" cy="3311525"/>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a:t>How L2s Work + Trade-offs</a:t>
            </a:r>
            <a:endParaRPr/>
          </a:p>
          <a:p>
            <a:pPr indent="-228600" lvl="0" marL="469900" marR="5080" rtl="0" algn="l">
              <a:lnSpc>
                <a:spcPct val="114999"/>
              </a:lnSpc>
              <a:spcBef>
                <a:spcPts val="1200"/>
              </a:spcBef>
              <a:spcAft>
                <a:spcPts val="0"/>
              </a:spcAft>
              <a:buNone/>
            </a:pPr>
            <a:r>
              <a:rPr lang="en-US"/>
              <a:t>L2s execute transactions off-chain, then post compressed data to L1, inheriting Ethereum's security at a lower cost.</a:t>
            </a:r>
            <a:endParaRPr/>
          </a:p>
          <a:p>
            <a:pPr indent="0" lvl="0" marL="241300" rtl="0" algn="l">
              <a:lnSpc>
                <a:spcPct val="100000"/>
              </a:lnSpc>
              <a:spcBef>
                <a:spcPts val="1485"/>
              </a:spcBef>
              <a:spcAft>
                <a:spcPts val="0"/>
              </a:spcAft>
              <a:buNone/>
            </a:pPr>
            <a:r>
              <a:rPr lang="en-US"/>
              <a:t>Benefits:</a:t>
            </a:r>
            <a:endParaRPr/>
          </a:p>
          <a:p>
            <a:pPr indent="-351155" lvl="0" marL="469265" rtl="0" algn="l">
              <a:lnSpc>
                <a:spcPct val="100000"/>
              </a:lnSpc>
              <a:spcBef>
                <a:spcPts val="1490"/>
              </a:spcBef>
              <a:spcAft>
                <a:spcPts val="0"/>
              </a:spcAft>
              <a:buClr>
                <a:schemeClr val="dk1"/>
              </a:buClr>
              <a:buSzPts val="1600"/>
              <a:buFont typeface="Arial"/>
              <a:buChar char="●"/>
            </a:pPr>
            <a:r>
              <a:rPr lang="en-US"/>
              <a:t>Faster: 100–4,000 TPS</a:t>
            </a:r>
            <a:endParaRPr/>
          </a:p>
          <a:p>
            <a:pPr indent="-351155" lvl="0" marL="469265" rtl="0" algn="l">
              <a:lnSpc>
                <a:spcPct val="100000"/>
              </a:lnSpc>
              <a:spcBef>
                <a:spcPts val="290"/>
              </a:spcBef>
              <a:spcAft>
                <a:spcPts val="0"/>
              </a:spcAft>
              <a:buClr>
                <a:schemeClr val="dk1"/>
              </a:buClr>
              <a:buSzPts val="1600"/>
              <a:buFont typeface="Arial"/>
              <a:buChar char="●"/>
            </a:pPr>
            <a:r>
              <a:rPr lang="en-US"/>
              <a:t>Cheaper: ~$0.10–1 per transaction</a:t>
            </a:r>
            <a:endParaRPr/>
          </a:p>
          <a:p>
            <a:pPr indent="0" lvl="0" marL="12700" rtl="0" algn="l">
              <a:lnSpc>
                <a:spcPct val="100000"/>
              </a:lnSpc>
              <a:spcBef>
                <a:spcPts val="1485"/>
              </a:spcBef>
              <a:spcAft>
                <a:spcPts val="0"/>
              </a:spcAft>
              <a:buNone/>
            </a:pPr>
            <a:r>
              <a:rPr lang="en-US"/>
              <a:t>Trade-offs:</a:t>
            </a:r>
            <a:endParaRPr/>
          </a:p>
          <a:p>
            <a:pPr indent="-351155" lvl="0" marL="469265" rtl="0" algn="l">
              <a:lnSpc>
                <a:spcPct val="100000"/>
              </a:lnSpc>
              <a:spcBef>
                <a:spcPts val="1490"/>
              </a:spcBef>
              <a:spcAft>
                <a:spcPts val="0"/>
              </a:spcAft>
              <a:buClr>
                <a:schemeClr val="dk1"/>
              </a:buClr>
              <a:buSzPts val="1600"/>
              <a:buFont typeface="Arial"/>
              <a:buChar char="●"/>
            </a:pPr>
            <a:r>
              <a:rPr lang="en-US"/>
              <a:t>Slightly reduced security</a:t>
            </a:r>
            <a:endParaRPr/>
          </a:p>
          <a:p>
            <a:pPr indent="-351155" lvl="0" marL="469265" rtl="0" algn="l">
              <a:lnSpc>
                <a:spcPct val="100000"/>
              </a:lnSpc>
              <a:spcBef>
                <a:spcPts val="285"/>
              </a:spcBef>
              <a:spcAft>
                <a:spcPts val="0"/>
              </a:spcAft>
              <a:buClr>
                <a:schemeClr val="dk1"/>
              </a:buClr>
              <a:buSzPts val="1600"/>
              <a:buFont typeface="Arial"/>
              <a:buChar char="●"/>
            </a:pPr>
            <a:r>
              <a:rPr lang="en-US"/>
              <a:t>Fragmented liquidity</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Layer 2 Solutions (Brief)</a:t>
            </a:r>
            <a:endParaRPr/>
          </a:p>
        </p:txBody>
      </p:sp>
      <p:sp>
        <p:nvSpPr>
          <p:cNvPr id="504" name="Google Shape;504;p6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05" name="Google Shape;505;p6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06" name="Google Shape;506;p64"/>
          <p:cNvSpPr txBox="1"/>
          <p:nvPr/>
        </p:nvSpPr>
        <p:spPr>
          <a:xfrm>
            <a:off x="280850" y="1700796"/>
            <a:ext cx="8379459" cy="169608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For This Class: Focusing on the Ethereum Base Layer</a:t>
            </a:r>
            <a:endParaRPr sz="1600">
              <a:latin typeface="Arial"/>
              <a:ea typeface="Arial"/>
              <a:cs typeface="Arial"/>
              <a:sym typeface="Arial"/>
            </a:endParaRPr>
          </a:p>
          <a:p>
            <a:pPr indent="0" lvl="0" marL="0" rtl="0" algn="l">
              <a:lnSpc>
                <a:spcPct val="100000"/>
              </a:lnSpc>
              <a:spcBef>
                <a:spcPts val="0"/>
              </a:spcBef>
              <a:spcAft>
                <a:spcPts val="0"/>
              </a:spcAft>
              <a:buNone/>
            </a:pPr>
            <a:r>
              <a:t/>
            </a:r>
            <a:endParaRPr sz="1600">
              <a:latin typeface="Arial"/>
              <a:ea typeface="Arial"/>
              <a:cs typeface="Arial"/>
              <a:sym typeface="Arial"/>
            </a:endParaRPr>
          </a:p>
          <a:p>
            <a:pPr indent="0" lvl="0" marL="0" rtl="0" algn="l">
              <a:lnSpc>
                <a:spcPct val="100000"/>
              </a:lnSpc>
              <a:spcBef>
                <a:spcPts val="925"/>
              </a:spcBef>
              <a:spcAft>
                <a:spcPts val="0"/>
              </a:spcAft>
              <a:buNone/>
            </a:pPr>
            <a:r>
              <a:t/>
            </a:r>
            <a:endParaRPr sz="1600">
              <a:latin typeface="Arial"/>
              <a:ea typeface="Arial"/>
              <a:cs typeface="Arial"/>
              <a:sym typeface="Arial"/>
            </a:endParaRPr>
          </a:p>
          <a:p>
            <a:pPr indent="0" lvl="0" marL="12700" marR="5080" rtl="0" algn="l">
              <a:lnSpc>
                <a:spcPct val="114999"/>
              </a:lnSpc>
              <a:spcBef>
                <a:spcPts val="0"/>
              </a:spcBef>
              <a:spcAft>
                <a:spcPts val="0"/>
              </a:spcAft>
              <a:buNone/>
            </a:pPr>
            <a:r>
              <a:rPr lang="en-US" sz="1600">
                <a:latin typeface="Arial"/>
                <a:ea typeface="Arial"/>
                <a:cs typeface="Arial"/>
                <a:sym typeface="Arial"/>
              </a:rPr>
              <a:t>We will concentrate on Ethereum's Base Layer (L1) due to its fundamental importance. While L2 solutions are significant, they introduce additional architectural complexity. The core principles discussed will remain consistent across all layers.</a:t>
            </a:r>
            <a:endParaRPr sz="1600">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5"/>
          <p:cNvSpPr txBox="1"/>
          <p:nvPr>
            <p:ph type="title"/>
          </p:nvPr>
        </p:nvSpPr>
        <p:spPr>
          <a:xfrm>
            <a:off x="1395400" y="2266442"/>
            <a:ext cx="634809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latin typeface="MS PGothic"/>
                <a:ea typeface="MS PGothic"/>
                <a:cs typeface="MS PGothic"/>
                <a:sym typeface="MS PGothic"/>
              </a:rPr>
              <a:t>◎ </a:t>
            </a:r>
            <a:r>
              <a:rPr lang="en-US" sz="3600"/>
              <a:t>Solana: Parallel Architecture</a:t>
            </a:r>
            <a:endParaRPr sz="3600">
              <a:latin typeface="MS PGothic"/>
              <a:ea typeface="MS PGothic"/>
              <a:cs typeface="MS PGothic"/>
              <a:sym typeface="MS PGothic"/>
            </a:endParaRPr>
          </a:p>
        </p:txBody>
      </p:sp>
      <p:sp>
        <p:nvSpPr>
          <p:cNvPr id="512" name="Google Shape;512;p6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13" name="Google Shape;513;p6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Parallel Processing Explained</a:t>
            </a:r>
            <a:endParaRPr/>
          </a:p>
        </p:txBody>
      </p:sp>
      <p:sp>
        <p:nvSpPr>
          <p:cNvPr id="519" name="Google Shape;519;p6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20" name="Google Shape;520;p6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21" name="Google Shape;521;p66"/>
          <p:cNvSpPr txBox="1"/>
          <p:nvPr/>
        </p:nvSpPr>
        <p:spPr>
          <a:xfrm>
            <a:off x="386746" y="1700796"/>
            <a:ext cx="835850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Analogy: Multi-Lane vs. Single-Lane</a:t>
            </a:r>
            <a:endParaRPr sz="1600">
              <a:latin typeface="Arial"/>
              <a:ea typeface="Arial"/>
              <a:cs typeface="Arial"/>
              <a:sym typeface="Arial"/>
            </a:endParaRPr>
          </a:p>
          <a:p>
            <a:pPr indent="-351790" lvl="0" marL="363855" marR="5080" rtl="0" algn="l">
              <a:lnSpc>
                <a:spcPct val="114999"/>
              </a:lnSpc>
              <a:spcBef>
                <a:spcPts val="1200"/>
              </a:spcBef>
              <a:spcAft>
                <a:spcPts val="0"/>
              </a:spcAft>
              <a:buSzPts val="1600"/>
              <a:buFont typeface="Arial"/>
              <a:buChar char="●"/>
            </a:pPr>
            <a:r>
              <a:rPr lang="en-US" sz="1600">
                <a:latin typeface="Arial"/>
                <a:ea typeface="Arial"/>
                <a:cs typeface="Arial"/>
                <a:sym typeface="Arial"/>
              </a:rPr>
              <a:t>Traditional Blockchains: Single-threaded execution, processing one transaction at a time, leading to bottlenecks.</a:t>
            </a:r>
            <a:endParaRPr sz="1600">
              <a:latin typeface="Arial"/>
              <a:ea typeface="Arial"/>
              <a:cs typeface="Arial"/>
              <a:sym typeface="Arial"/>
            </a:endParaRPr>
          </a:p>
          <a:p>
            <a:pPr indent="-351790" lvl="0" marL="363855" marR="1067435" rtl="0" algn="l">
              <a:lnSpc>
                <a:spcPct val="114999"/>
              </a:lnSpc>
              <a:spcBef>
                <a:spcPts val="0"/>
              </a:spcBef>
              <a:spcAft>
                <a:spcPts val="0"/>
              </a:spcAft>
              <a:buSzPts val="1600"/>
              <a:buFont typeface="Arial"/>
              <a:buChar char="●"/>
            </a:pPr>
            <a:r>
              <a:rPr lang="en-US" sz="1600">
                <a:latin typeface="Arial"/>
                <a:ea typeface="Arial"/>
                <a:cs typeface="Arial"/>
                <a:sym typeface="Arial"/>
              </a:rPr>
              <a:t>Solana: Multi-threaded execution, enabling simultaneous processing of many transactions.</a:t>
            </a:r>
            <a:endParaRPr sz="1600">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Parallel Processing Explained</a:t>
            </a:r>
            <a:endParaRPr/>
          </a:p>
        </p:txBody>
      </p:sp>
      <p:sp>
        <p:nvSpPr>
          <p:cNvPr id="527" name="Google Shape;527;p6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28" name="Google Shape;528;p6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29" name="Google Shape;529;p67"/>
          <p:cNvSpPr txBox="1"/>
          <p:nvPr/>
        </p:nvSpPr>
        <p:spPr>
          <a:xfrm>
            <a:off x="396271" y="1777747"/>
            <a:ext cx="6541770"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Sealevel: Parallel Execution</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Transactions specify accounts for reading and writing.</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Transactions without overlapping account access execute in parallel.</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Example: 100 independent swaps can all run concurrently.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Increased core count leads to higher throughput (horizontal scaling).</a:t>
            </a:r>
            <a:endParaRPr sz="1600">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Parallel Processing Explained</a:t>
            </a:r>
            <a:endParaRPr/>
          </a:p>
        </p:txBody>
      </p:sp>
      <p:sp>
        <p:nvSpPr>
          <p:cNvPr id="535" name="Google Shape;535;p6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36" name="Google Shape;536;p6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37" name="Google Shape;537;p68"/>
          <p:cNvSpPr txBox="1"/>
          <p:nvPr/>
        </p:nvSpPr>
        <p:spPr>
          <a:xfrm>
            <a:off x="396271" y="1777747"/>
            <a:ext cx="6541770"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Sealevel: Parallel Execution</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Transactions specify accounts for reading and writing.</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Transactions without overlapping account access execute in parallel.</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Example: 100 independent swaps can all run concurrently.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Increased core count leads to higher throughput (horizontal scaling).</a:t>
            </a:r>
            <a:endParaRPr sz="1600">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Parallel Processing Explained</a:t>
            </a:r>
            <a:endParaRPr/>
          </a:p>
        </p:txBody>
      </p:sp>
      <p:sp>
        <p:nvSpPr>
          <p:cNvPr id="543" name="Google Shape;543;p6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44" name="Google Shape;544;p6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45" name="Google Shape;545;p69"/>
          <p:cNvSpPr txBox="1"/>
          <p:nvPr/>
        </p:nvSpPr>
        <p:spPr>
          <a:xfrm>
            <a:off x="396271" y="1919347"/>
            <a:ext cx="5118735"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No Global State Lock</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Ethereum: Global state, sequential execution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Solana: Local state access, parallelizable</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Designed for scalability with hardware improvements</a:t>
            </a:r>
            <a:endParaRPr sz="1600">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Parallel Processing Explained</a:t>
            </a:r>
            <a:endParaRPr/>
          </a:p>
        </p:txBody>
      </p:sp>
      <p:sp>
        <p:nvSpPr>
          <p:cNvPr id="551" name="Google Shape;551;p7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52" name="Google Shape;552;p7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53" name="Google Shape;553;p70"/>
          <p:cNvSpPr txBox="1"/>
          <p:nvPr/>
        </p:nvSpPr>
        <p:spPr>
          <a:xfrm>
            <a:off x="290375" y="1352947"/>
            <a:ext cx="8435340" cy="23850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Proof of History (PoH)</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PoH acts as a cryptographic clock, establishing a clear order for transactions.</a:t>
            </a:r>
            <a:endParaRPr sz="1600">
              <a:latin typeface="Arial"/>
              <a:ea typeface="Arial"/>
              <a:cs typeface="Arial"/>
              <a:sym typeface="Arial"/>
            </a:endParaRPr>
          </a:p>
          <a:p>
            <a:pPr indent="-351790" lvl="0" marL="469900" marR="753745" rtl="0" algn="l">
              <a:lnSpc>
                <a:spcPct val="114999"/>
              </a:lnSpc>
              <a:spcBef>
                <a:spcPts val="0"/>
              </a:spcBef>
              <a:spcAft>
                <a:spcPts val="0"/>
              </a:spcAft>
              <a:buSzPts val="1600"/>
              <a:buFont typeface="Arial"/>
              <a:buChar char="●"/>
            </a:pPr>
            <a:r>
              <a:rPr lang="en-US" sz="1600">
                <a:latin typeface="Arial"/>
                <a:ea typeface="Arial"/>
                <a:cs typeface="Arial"/>
                <a:sym typeface="Arial"/>
              </a:rPr>
              <a:t>This innovation significantly reduces latency by minimizing the need for validator coordination.</a:t>
            </a:r>
            <a:endParaRPr sz="1600">
              <a:latin typeface="Arial"/>
              <a:ea typeface="Arial"/>
              <a:cs typeface="Arial"/>
              <a:sym typeface="Arial"/>
            </a:endParaRPr>
          </a:p>
          <a:p>
            <a:pPr indent="-351790" lvl="0" marL="469900" marR="269240" rtl="0" algn="l">
              <a:lnSpc>
                <a:spcPct val="114999"/>
              </a:lnSpc>
              <a:spcBef>
                <a:spcPts val="0"/>
              </a:spcBef>
              <a:spcAft>
                <a:spcPts val="0"/>
              </a:spcAft>
              <a:buSzPts val="1600"/>
              <a:buFont typeface="Arial"/>
              <a:buChar char="●"/>
            </a:pPr>
            <a:r>
              <a:rPr lang="en-US" sz="1600">
                <a:latin typeface="Arial"/>
                <a:ea typeface="Arial"/>
                <a:cs typeface="Arial"/>
                <a:sym typeface="Arial"/>
              </a:rPr>
              <a:t>Its hardware-optimized architecture enables a very high transaction per second (TPS) rate.</a:t>
            </a:r>
            <a:endParaRPr sz="1600">
              <a:latin typeface="Arial"/>
              <a:ea typeface="Arial"/>
              <a:cs typeface="Arial"/>
              <a:sym typeface="Arial"/>
            </a:endParaRPr>
          </a:p>
          <a:p>
            <a:pPr indent="-351790" lvl="0" marL="469900" marR="5080" rtl="0" algn="l">
              <a:lnSpc>
                <a:spcPct val="114999"/>
              </a:lnSpc>
              <a:spcBef>
                <a:spcPts val="0"/>
              </a:spcBef>
              <a:spcAft>
                <a:spcPts val="0"/>
              </a:spcAft>
              <a:buSzPts val="1600"/>
              <a:buFont typeface="Arial"/>
              <a:buChar char="●"/>
            </a:pPr>
            <a:r>
              <a:rPr lang="en-US" sz="1600">
                <a:latin typeface="Arial"/>
                <a:ea typeface="Arial"/>
                <a:cs typeface="Arial"/>
                <a:sym typeface="Arial"/>
              </a:rPr>
              <a:t>However, this comes with a trade-off: higher hardware costs, which raise concerns about centralization.</a:t>
            </a:r>
            <a:endParaRPr sz="1600">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Parallel Processing Explained</a:t>
            </a:r>
            <a:endParaRPr/>
          </a:p>
        </p:txBody>
      </p:sp>
      <p:sp>
        <p:nvSpPr>
          <p:cNvPr id="559" name="Google Shape;559;p7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60" name="Google Shape;560;p7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61" name="Google Shape;561;p71"/>
          <p:cNvSpPr txBox="1"/>
          <p:nvPr/>
        </p:nvSpPr>
        <p:spPr>
          <a:xfrm>
            <a:off x="290375" y="1157222"/>
            <a:ext cx="6651625" cy="337820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Key Innovations: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Massive Scalability:</a:t>
            </a:r>
            <a:endParaRPr sz="1600">
              <a:latin typeface="Arial"/>
              <a:ea typeface="Arial"/>
              <a:cs typeface="Arial"/>
              <a:sym typeface="Arial"/>
            </a:endParaRPr>
          </a:p>
          <a:p>
            <a:pPr indent="-351154" lvl="1" marL="926464" rtl="0" algn="l">
              <a:lnSpc>
                <a:spcPct val="100000"/>
              </a:lnSpc>
              <a:spcBef>
                <a:spcPts val="290"/>
              </a:spcBef>
              <a:spcAft>
                <a:spcPts val="0"/>
              </a:spcAft>
              <a:buSzPts val="1600"/>
              <a:buFont typeface="Arial"/>
              <a:buChar char="○"/>
            </a:pPr>
            <a:r>
              <a:rPr lang="en-US" sz="1600">
                <a:latin typeface="Arial"/>
                <a:ea typeface="Arial"/>
                <a:cs typeface="Arial"/>
                <a:sym typeface="Arial"/>
              </a:rPr>
              <a:t>High throughput design from the start.</a:t>
            </a:r>
            <a:endParaRPr sz="1600">
              <a:latin typeface="Arial"/>
              <a:ea typeface="Arial"/>
              <a:cs typeface="Arial"/>
              <a:sym typeface="Arial"/>
            </a:endParaRPr>
          </a:p>
          <a:p>
            <a:pPr indent="-351154" lvl="1" marL="926464" rtl="0" algn="l">
              <a:lnSpc>
                <a:spcPct val="100000"/>
              </a:lnSpc>
              <a:spcBef>
                <a:spcPts val="290"/>
              </a:spcBef>
              <a:spcAft>
                <a:spcPts val="0"/>
              </a:spcAft>
              <a:buSzPts val="1600"/>
              <a:buFont typeface="Arial"/>
              <a:buChar char="○"/>
            </a:pPr>
            <a:r>
              <a:rPr lang="en-US" sz="1600">
                <a:latin typeface="Arial"/>
                <a:ea typeface="Arial"/>
                <a:cs typeface="Arial"/>
                <a:sym typeface="Arial"/>
              </a:rPr>
              <a:t>Sealevel parallel execution engine for significant scaling.</a:t>
            </a:r>
            <a:endParaRPr sz="1600">
              <a:latin typeface="Arial"/>
              <a:ea typeface="Arial"/>
              <a:cs typeface="Arial"/>
              <a:sym typeface="Arial"/>
            </a:endParaRPr>
          </a:p>
          <a:p>
            <a:pPr indent="-351154" lvl="1" marL="926464" rtl="0" algn="l">
              <a:lnSpc>
                <a:spcPct val="100000"/>
              </a:lnSpc>
              <a:spcBef>
                <a:spcPts val="285"/>
              </a:spcBef>
              <a:spcAft>
                <a:spcPts val="0"/>
              </a:spcAft>
              <a:buSzPts val="1600"/>
              <a:buFont typeface="Arial"/>
              <a:buChar char="○"/>
            </a:pPr>
            <a:r>
              <a:rPr lang="en-US" sz="1600">
                <a:latin typeface="Arial"/>
                <a:ea typeface="Arial"/>
                <a:cs typeface="Arial"/>
                <a:sym typeface="Arial"/>
              </a:rPr>
              <a:t>Proof of History reduces consensus overhead.</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Performance:</a:t>
            </a:r>
            <a:endParaRPr sz="1600">
              <a:latin typeface="Arial"/>
              <a:ea typeface="Arial"/>
              <a:cs typeface="Arial"/>
              <a:sym typeface="Arial"/>
            </a:endParaRPr>
          </a:p>
          <a:p>
            <a:pPr indent="-351154" lvl="1" marL="926464" rtl="0" algn="l">
              <a:lnSpc>
                <a:spcPct val="100000"/>
              </a:lnSpc>
              <a:spcBef>
                <a:spcPts val="285"/>
              </a:spcBef>
              <a:spcAft>
                <a:spcPts val="0"/>
              </a:spcAft>
              <a:buSzPts val="1600"/>
              <a:buFont typeface="Arial"/>
              <a:buChar char="○"/>
            </a:pPr>
            <a:r>
              <a:rPr lang="en-US" sz="1600">
                <a:latin typeface="Arial"/>
                <a:ea typeface="Arial"/>
                <a:cs typeface="Arial"/>
                <a:sym typeface="Arial"/>
              </a:rPr>
              <a:t>Ultra-fast block times.</a:t>
            </a:r>
            <a:endParaRPr sz="1600">
              <a:latin typeface="Arial"/>
              <a:ea typeface="Arial"/>
              <a:cs typeface="Arial"/>
              <a:sym typeface="Arial"/>
            </a:endParaRPr>
          </a:p>
          <a:p>
            <a:pPr indent="-351154" lvl="1" marL="926464" rtl="0" algn="l">
              <a:lnSpc>
                <a:spcPct val="100000"/>
              </a:lnSpc>
              <a:spcBef>
                <a:spcPts val="290"/>
              </a:spcBef>
              <a:spcAft>
                <a:spcPts val="0"/>
              </a:spcAft>
              <a:buSzPts val="1600"/>
              <a:buFont typeface="Arial"/>
              <a:buChar char="○"/>
            </a:pPr>
            <a:r>
              <a:rPr lang="en-US" sz="1600">
                <a:latin typeface="Arial"/>
                <a:ea typeface="Arial"/>
                <a:cs typeface="Arial"/>
                <a:sym typeface="Arial"/>
              </a:rPr>
              <a:t>Low transaction fees for real-time applications.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Hardware Optimization:</a:t>
            </a:r>
            <a:endParaRPr sz="1600">
              <a:latin typeface="Arial"/>
              <a:ea typeface="Arial"/>
              <a:cs typeface="Arial"/>
              <a:sym typeface="Arial"/>
            </a:endParaRPr>
          </a:p>
          <a:p>
            <a:pPr indent="-351154" lvl="1" marL="926464" rtl="0" algn="l">
              <a:lnSpc>
                <a:spcPct val="100000"/>
              </a:lnSpc>
              <a:spcBef>
                <a:spcPts val="285"/>
              </a:spcBef>
              <a:spcAft>
                <a:spcPts val="0"/>
              </a:spcAft>
              <a:buSzPts val="1600"/>
              <a:buFont typeface="Arial"/>
              <a:buChar char="○"/>
            </a:pPr>
            <a:r>
              <a:rPr lang="en-US" sz="1600">
                <a:latin typeface="Arial"/>
                <a:ea typeface="Arial"/>
                <a:cs typeface="Arial"/>
                <a:sym typeface="Arial"/>
              </a:rPr>
              <a:t>Utilizes modern hardware like multi-core processors and GPUs.</a:t>
            </a:r>
            <a:endParaRPr sz="1600">
              <a:latin typeface="Arial"/>
              <a:ea typeface="Arial"/>
              <a:cs typeface="Arial"/>
              <a:sym typeface="Arial"/>
            </a:endParaRPr>
          </a:p>
          <a:p>
            <a:pPr indent="0" lvl="0" marL="12700" rtl="0" algn="l">
              <a:lnSpc>
                <a:spcPct val="100000"/>
              </a:lnSpc>
              <a:spcBef>
                <a:spcPts val="1490"/>
              </a:spcBef>
              <a:spcAft>
                <a:spcPts val="0"/>
              </a:spcAft>
              <a:buNone/>
            </a:pPr>
            <a:r>
              <a:rPr lang="en-US" sz="1600">
                <a:latin typeface="Arial"/>
                <a:ea typeface="Arial"/>
                <a:cs typeface="Arial"/>
                <a:sym typeface="Arial"/>
              </a:rPr>
              <a:t>Are there any downsides to these innovations?</a:t>
            </a:r>
            <a:endParaRPr sz="1600">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Solana Performance Metrics</a:t>
            </a:r>
            <a:endParaRPr/>
          </a:p>
        </p:txBody>
      </p:sp>
      <p:sp>
        <p:nvSpPr>
          <p:cNvPr id="567" name="Google Shape;567;p7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68" name="Google Shape;568;p7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69" name="Google Shape;569;p72"/>
          <p:cNvSpPr txBox="1"/>
          <p:nvPr/>
        </p:nvSpPr>
        <p:spPr>
          <a:xfrm>
            <a:off x="396271" y="1494547"/>
            <a:ext cx="8452485"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Block Time &amp; Speed</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Effective block time: 0.4–0.5 seconds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This is based on approximately 0.4-second slots, though not all slots produce blocks.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Significantly faster than other cryptocurrencies: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120 times faster than Bitcoin</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24 times faster than Ethereum</a:t>
            </a:r>
            <a:endParaRPr sz="1600">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Solana Performance Metrics</a:t>
            </a:r>
            <a:endParaRPr/>
          </a:p>
        </p:txBody>
      </p:sp>
      <p:sp>
        <p:nvSpPr>
          <p:cNvPr id="575" name="Google Shape;575;p7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76" name="Google Shape;576;p7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77" name="Google Shape;577;p73"/>
          <p:cNvSpPr txBox="1"/>
          <p:nvPr/>
        </p:nvSpPr>
        <p:spPr>
          <a:xfrm>
            <a:off x="386746" y="1636147"/>
            <a:ext cx="8334375"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Finality</a:t>
            </a:r>
            <a:endParaRPr sz="1600">
              <a:latin typeface="Arial"/>
              <a:ea typeface="Arial"/>
              <a:cs typeface="Arial"/>
              <a:sym typeface="Arial"/>
            </a:endParaRPr>
          </a:p>
          <a:p>
            <a:pPr indent="-351790" lvl="0" marL="363855" marR="552450" rtl="0" algn="l">
              <a:lnSpc>
                <a:spcPct val="114999"/>
              </a:lnSpc>
              <a:spcBef>
                <a:spcPts val="1200"/>
              </a:spcBef>
              <a:spcAft>
                <a:spcPts val="0"/>
              </a:spcAft>
              <a:buSzPts val="1600"/>
              <a:buFont typeface="Arial"/>
              <a:buChar char="●"/>
            </a:pPr>
            <a:r>
              <a:rPr lang="en-US" sz="1600">
                <a:latin typeface="Arial"/>
                <a:ea typeface="Arial"/>
                <a:cs typeface="Arial"/>
                <a:sym typeface="Arial"/>
              </a:rPr>
              <a:t>Economic Finality: ~13 seconds (32 slots), the recommended duration for absolute transaction finality.</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Practical Finality: 1–2 seconds (1 slot), representing the near-instantaneous confirmation of transactions.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This makes it 277 times faster than Bitcoin and 30 times faster than Ethereum.</a:t>
            </a:r>
            <a:endParaRPr sz="1600">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Solana Performance Metrics</a:t>
            </a:r>
            <a:endParaRPr/>
          </a:p>
        </p:txBody>
      </p:sp>
      <p:sp>
        <p:nvSpPr>
          <p:cNvPr id="583" name="Google Shape;583;p7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84" name="Google Shape;584;p7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85" name="Google Shape;585;p74"/>
          <p:cNvSpPr txBox="1"/>
          <p:nvPr/>
        </p:nvSpPr>
        <p:spPr>
          <a:xfrm>
            <a:off x="396271" y="1494547"/>
            <a:ext cx="7732395" cy="210439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Throughput &amp; Fees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Sustained Throughput: 2,000–4,000 TPS, capable of over 3,000 TPS consistently.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Peak Throughput: Exceeds 7,000 TPS (e.g., during NFT mints).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Theoretical Maximum: 65,000 TPS.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Median Transaction Fee: Approximately $0.00025.</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Congestion Fees: Remains below $0.01, even during peak network activity.</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Cost Efficiency: 1,000 to 100,000 times more affordable than Ethereum.</a:t>
            </a:r>
            <a:endParaRPr sz="1600">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7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Solana Performance Metrics</a:t>
            </a:r>
            <a:endParaRPr/>
          </a:p>
        </p:txBody>
      </p:sp>
      <p:sp>
        <p:nvSpPr>
          <p:cNvPr id="591" name="Google Shape;591;p7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592" name="Google Shape;592;p7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593" name="Google Shape;593;p75"/>
          <p:cNvSpPr txBox="1"/>
          <p:nvPr/>
        </p:nvSpPr>
        <p:spPr>
          <a:xfrm>
            <a:off x="518975" y="1623847"/>
            <a:ext cx="222758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Hardware Requirements</a:t>
            </a:r>
            <a:endParaRPr sz="1600">
              <a:latin typeface="Arial"/>
              <a:ea typeface="Arial"/>
              <a:cs typeface="Arial"/>
              <a:sym typeface="Arial"/>
            </a:endParaRPr>
          </a:p>
        </p:txBody>
      </p:sp>
      <p:sp>
        <p:nvSpPr>
          <p:cNvPr id="594" name="Google Shape;594;p75"/>
          <p:cNvSpPr txBox="1"/>
          <p:nvPr/>
        </p:nvSpPr>
        <p:spPr>
          <a:xfrm>
            <a:off x="396271" y="2489479"/>
            <a:ext cx="6220460" cy="98298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Validators require powerful servers (e.g., 128GB+ RAM), leading to:</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Higher operating costs compared to most other chains.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Fewer validators, which raises concerns about centralization.</a:t>
            </a:r>
            <a:endParaRPr sz="1600">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Speed at What Cost?</a:t>
            </a:r>
            <a:endParaRPr/>
          </a:p>
        </p:txBody>
      </p:sp>
      <p:sp>
        <p:nvSpPr>
          <p:cNvPr id="600" name="Google Shape;600;p7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01" name="Google Shape;601;p7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02" name="Google Shape;602;p76"/>
          <p:cNvSpPr txBox="1"/>
          <p:nvPr/>
        </p:nvSpPr>
        <p:spPr>
          <a:xfrm>
            <a:off x="396271" y="1494547"/>
            <a:ext cx="8270240" cy="210439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Advantages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Near-instant finality: Approximately 13 seconds, compared to Bitcoin's 60 minutes.</a:t>
            </a:r>
            <a:endParaRPr sz="1600">
              <a:latin typeface="Arial"/>
              <a:ea typeface="Arial"/>
              <a:cs typeface="Arial"/>
              <a:sym typeface="Arial"/>
            </a:endParaRPr>
          </a:p>
          <a:p>
            <a:pPr indent="-351790" lvl="0" marL="363855" marR="754380" rtl="0" algn="l">
              <a:lnSpc>
                <a:spcPct val="114999"/>
              </a:lnSpc>
              <a:spcBef>
                <a:spcPts val="0"/>
              </a:spcBef>
              <a:spcAft>
                <a:spcPts val="0"/>
              </a:spcAft>
              <a:buSzPts val="1600"/>
              <a:buFont typeface="Arial"/>
              <a:buChar char="●"/>
            </a:pPr>
            <a:r>
              <a:rPr lang="en-US" sz="1600">
                <a:latin typeface="Arial"/>
                <a:ea typeface="Arial"/>
                <a:cs typeface="Arial"/>
                <a:sym typeface="Arial"/>
              </a:rPr>
              <a:t>Ultra-low fees: Around $0.00025, significantly less than Ethereum's $10+ during congestion.</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High throughput: Over 3,000 transactions per second (TPS), outperforming others' 7–15 TPS.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Growing DeFi ecosystem: Includes platforms like Jupiter, Raydium, and Orca.</a:t>
            </a:r>
            <a:endParaRPr sz="1600">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Speed at What Cost?</a:t>
            </a:r>
            <a:endParaRPr/>
          </a:p>
        </p:txBody>
      </p:sp>
      <p:sp>
        <p:nvSpPr>
          <p:cNvPr id="608" name="Google Shape;608;p7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09" name="Google Shape;609;p7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10" name="Google Shape;610;p77"/>
          <p:cNvSpPr txBox="1"/>
          <p:nvPr/>
        </p:nvSpPr>
        <p:spPr>
          <a:xfrm>
            <a:off x="396271" y="1636147"/>
            <a:ext cx="8086725"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Disadvantages</a:t>
            </a:r>
            <a:endParaRPr sz="1600">
              <a:latin typeface="Arial"/>
              <a:ea typeface="Arial"/>
              <a:cs typeface="Arial"/>
              <a:sym typeface="Arial"/>
            </a:endParaRPr>
          </a:p>
          <a:p>
            <a:pPr indent="-351790" lvl="0" marL="363855" marR="5080" rtl="0" algn="l">
              <a:lnSpc>
                <a:spcPct val="114999"/>
              </a:lnSpc>
              <a:spcBef>
                <a:spcPts val="1200"/>
              </a:spcBef>
              <a:spcAft>
                <a:spcPts val="0"/>
              </a:spcAft>
              <a:buSzPts val="1600"/>
              <a:buFont typeface="Arial"/>
              <a:buChar char="●"/>
            </a:pPr>
            <a:r>
              <a:rPr lang="en-US" sz="1600">
                <a:latin typeface="Arial"/>
                <a:ea typeface="Arial"/>
                <a:cs typeface="Arial"/>
                <a:sym typeface="Arial"/>
              </a:rPr>
              <a:t>Centralization concerns: approximately 2,000 validators compared to over 1 million on Ethereum.</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High hardware requirements lead to expensive validation.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A history of network outages occurred between 2021 and 2022.</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The ecosystem is smaller and newer than Ethereum's.</a:t>
            </a:r>
            <a:endParaRPr sz="1600">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7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Speed at What Cost?</a:t>
            </a:r>
            <a:endParaRPr/>
          </a:p>
        </p:txBody>
      </p:sp>
      <p:sp>
        <p:nvSpPr>
          <p:cNvPr id="616" name="Google Shape;616;p7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17" name="Google Shape;617;p7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18" name="Google Shape;618;p78"/>
          <p:cNvSpPr txBox="1"/>
          <p:nvPr/>
        </p:nvSpPr>
        <p:spPr>
          <a:xfrm>
            <a:off x="396271" y="1919347"/>
            <a:ext cx="5272405"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Network Stability History</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2021: Frequent halts due to bot spam.</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2022: Enhanced stability with fewer disruptions.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2023–2024: Marked improvements in network stability.</a:t>
            </a:r>
            <a:endParaRPr sz="1600">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7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Speed at What Cost?</a:t>
            </a:r>
            <a:endParaRPr/>
          </a:p>
        </p:txBody>
      </p:sp>
      <p:sp>
        <p:nvSpPr>
          <p:cNvPr id="624" name="Google Shape;624;p7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25" name="Google Shape;625;p7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26" name="Google Shape;626;p79"/>
          <p:cNvSpPr txBox="1"/>
          <p:nvPr/>
        </p:nvSpPr>
        <p:spPr>
          <a:xfrm>
            <a:off x="396271" y="1919347"/>
            <a:ext cx="7863840"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The Trade-off</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Solana: Focuses on speed and low cost, sacrificing some decentralization.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Bitcoin/Ethereum: Prioritize security and decentralization, which can limit scalability.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The "best" choice depends on user priorities and specific use cases.</a:t>
            </a:r>
            <a:endParaRPr sz="1600">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8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Solana</a:t>
            </a:r>
            <a:endParaRPr/>
          </a:p>
        </p:txBody>
      </p:sp>
      <p:sp>
        <p:nvSpPr>
          <p:cNvPr id="632" name="Google Shape;632;p8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33" name="Google Shape;633;p8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34" name="Google Shape;634;p80"/>
          <p:cNvSpPr txBox="1"/>
          <p:nvPr/>
        </p:nvSpPr>
        <p:spPr>
          <a:xfrm>
            <a:off x="396271" y="1211346"/>
            <a:ext cx="7998459" cy="266509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Strengths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High-Frequency Trading (HFT) Friendly:</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Achieves ~13-second finality, ideal for rapid trading strategies.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Low fees support profitable tight-spread market making.</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On-Chain Order Books:</a:t>
            </a:r>
            <a:endParaRPr sz="1600">
              <a:latin typeface="Arial"/>
              <a:ea typeface="Arial"/>
              <a:cs typeface="Arial"/>
              <a:sym typeface="Arial"/>
            </a:endParaRPr>
          </a:p>
          <a:p>
            <a:pPr indent="-351790" lvl="1" marL="821055" marR="5080" rtl="0" algn="l">
              <a:lnSpc>
                <a:spcPct val="114999"/>
              </a:lnSpc>
              <a:spcBef>
                <a:spcPts val="0"/>
              </a:spcBef>
              <a:spcAft>
                <a:spcPts val="0"/>
              </a:spcAft>
              <a:buSzPts val="1600"/>
              <a:buFont typeface="Arial"/>
              <a:buChar char="○"/>
            </a:pPr>
            <a:r>
              <a:rPr lang="en-US" sz="1600">
                <a:latin typeface="Arial"/>
                <a:ea typeface="Arial"/>
                <a:cs typeface="Arial"/>
                <a:sym typeface="Arial"/>
              </a:rPr>
              <a:t>Central Limit Order Book (CLOB) functionality, similar to Centralized Exchanges (CEXs).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Arbitrage Maximization:</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Fast finality ensures maximum capture of arbitrage opportunities.</a:t>
            </a:r>
            <a:endParaRPr sz="1600">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Solana</a:t>
            </a:r>
            <a:endParaRPr/>
          </a:p>
        </p:txBody>
      </p:sp>
      <p:sp>
        <p:nvSpPr>
          <p:cNvPr id="640" name="Google Shape;640;p8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41" name="Google Shape;641;p8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42" name="Google Shape;642;p81"/>
          <p:cNvSpPr txBox="1"/>
          <p:nvPr/>
        </p:nvSpPr>
        <p:spPr>
          <a:xfrm>
            <a:off x="396271" y="1777747"/>
            <a:ext cx="551497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Optimal Applications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High-frequency trading</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Market making with reduced fee impact</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Cross-DEX or CEX-DEX arbitrage</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NFT trading: rapid minting and cost-effective transactions</a:t>
            </a:r>
            <a:endParaRPr sz="1600">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Solana</a:t>
            </a:r>
            <a:endParaRPr/>
          </a:p>
        </p:txBody>
      </p:sp>
      <p:sp>
        <p:nvSpPr>
          <p:cNvPr id="648" name="Google Shape;648;p8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49" name="Google Shape;649;p8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50" name="Google Shape;650;p82"/>
          <p:cNvSpPr txBox="1"/>
          <p:nvPr/>
        </p:nvSpPr>
        <p:spPr>
          <a:xfrm>
            <a:off x="396271" y="1919347"/>
            <a:ext cx="6381750"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Ecosystem Notes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Rapid evolution and adoption growth (2024 surge)</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Key DEXs include Jupiter, Raydium, Orca, and Phoenix/OpenBook</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Monitor network stability before deploying large capital</a:t>
            </a:r>
            <a:endParaRPr sz="1600">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8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Solana</a:t>
            </a:r>
            <a:endParaRPr/>
          </a:p>
        </p:txBody>
      </p:sp>
      <p:sp>
        <p:nvSpPr>
          <p:cNvPr id="656" name="Google Shape;656;p8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57" name="Google Shape;657;p8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58" name="Google Shape;658;p83"/>
          <p:cNvSpPr txBox="1"/>
          <p:nvPr/>
        </p:nvSpPr>
        <p:spPr>
          <a:xfrm>
            <a:off x="396271" y="1636147"/>
            <a:ext cx="7847965"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Weaknesses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Reliability: History of outages, though improving.</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Ecosystem &amp; Liquidity: Smaller ecosystem compared to Ethereum, leading to lower liquidity.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Centralization: Risk due to fewer validators.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Maturity: Newer and more experimental environment.</a:t>
            </a:r>
            <a:endParaRPr sz="1600">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84"/>
          <p:cNvSpPr txBox="1"/>
          <p:nvPr>
            <p:ph type="title"/>
          </p:nvPr>
        </p:nvSpPr>
        <p:spPr>
          <a:xfrm>
            <a:off x="2005409" y="2266442"/>
            <a:ext cx="512889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LIVE DEMO: Notebook A</a:t>
            </a:r>
            <a:endParaRPr sz="3600"/>
          </a:p>
        </p:txBody>
      </p:sp>
      <p:sp>
        <p:nvSpPr>
          <p:cNvPr id="664" name="Google Shape;664;p8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65" name="Google Shape;665;p8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Live Notebook Demo: Blockchain Finality</a:t>
            </a:r>
            <a:endParaRPr/>
          </a:p>
        </p:txBody>
      </p:sp>
      <p:sp>
        <p:nvSpPr>
          <p:cNvPr id="671" name="Google Shape;671;p8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72" name="Google Shape;672;p8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73" name="Google Shape;673;p85"/>
          <p:cNvSpPr txBox="1"/>
          <p:nvPr/>
        </p:nvSpPr>
        <p:spPr>
          <a:xfrm>
            <a:off x="396271" y="1700796"/>
            <a:ext cx="5000625" cy="16960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Notebook A: Blockchain Finality Comparison</a:t>
            </a:r>
            <a:endParaRPr sz="1600">
              <a:latin typeface="Arial"/>
              <a:ea typeface="Arial"/>
              <a:cs typeface="Arial"/>
              <a:sym typeface="Arial"/>
            </a:endParaRPr>
          </a:p>
          <a:p>
            <a:pPr indent="0" lvl="0" marL="135255" rtl="0" algn="l">
              <a:lnSpc>
                <a:spcPct val="100000"/>
              </a:lnSpc>
              <a:spcBef>
                <a:spcPts val="1485"/>
              </a:spcBef>
              <a:spcAft>
                <a:spcPts val="0"/>
              </a:spcAft>
              <a:buNone/>
            </a:pPr>
            <a:r>
              <a:rPr lang="en-US" sz="1600">
                <a:latin typeface="Arial"/>
                <a:ea typeface="Arial"/>
                <a:cs typeface="Arial"/>
                <a:sym typeface="Arial"/>
              </a:rPr>
              <a:t>What We'll Do (15 minutes)</a:t>
            </a:r>
            <a:endParaRPr sz="1600">
              <a:latin typeface="Arial"/>
              <a:ea typeface="Arial"/>
              <a:cs typeface="Arial"/>
              <a:sym typeface="Arial"/>
            </a:endParaRPr>
          </a:p>
          <a:p>
            <a:pPr indent="-351155" lvl="0" marL="363855" rtl="0" algn="l">
              <a:lnSpc>
                <a:spcPct val="100000"/>
              </a:lnSpc>
              <a:spcBef>
                <a:spcPts val="1490"/>
              </a:spcBef>
              <a:spcAft>
                <a:spcPts val="0"/>
              </a:spcAft>
              <a:buSzPts val="1600"/>
              <a:buFont typeface="Arial"/>
              <a:buChar char="●"/>
            </a:pPr>
            <a:r>
              <a:rPr lang="en-US" sz="1600">
                <a:latin typeface="Arial"/>
                <a:ea typeface="Arial"/>
                <a:cs typeface="Arial"/>
                <a:sym typeface="Arial"/>
              </a:rPr>
              <a:t>Execute cells to fetch live blockchain data</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Calculate real-time finality metrics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Generate 9+ visualizations comparing architectures</a:t>
            </a:r>
            <a:endParaRPr sz="1600">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8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Live Notebook Demo: Blockchain Finality</a:t>
            </a:r>
            <a:endParaRPr/>
          </a:p>
        </p:txBody>
      </p:sp>
      <p:sp>
        <p:nvSpPr>
          <p:cNvPr id="679" name="Google Shape;679;p8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80" name="Google Shape;680;p8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81" name="Google Shape;681;p86"/>
          <p:cNvSpPr txBox="1"/>
          <p:nvPr/>
        </p:nvSpPr>
        <p:spPr>
          <a:xfrm>
            <a:off x="290375" y="1082621"/>
            <a:ext cx="4434205" cy="340296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Key Analyses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Block time variance across 10 recent blocks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Finality calculations from real data</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TPS capacity comparisons</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Trading speed scores</a:t>
            </a:r>
            <a:endParaRPr sz="1600">
              <a:latin typeface="Arial"/>
              <a:ea typeface="Arial"/>
              <a:cs typeface="Arial"/>
              <a:sym typeface="Arial"/>
            </a:endParaRPr>
          </a:p>
          <a:p>
            <a:pPr indent="0" lvl="0" marL="12700" rtl="0" algn="l">
              <a:lnSpc>
                <a:spcPct val="100000"/>
              </a:lnSpc>
              <a:spcBef>
                <a:spcPts val="1490"/>
              </a:spcBef>
              <a:spcAft>
                <a:spcPts val="0"/>
              </a:spcAft>
              <a:buNone/>
            </a:pPr>
            <a:r>
              <a:rPr lang="en-US" sz="1600">
                <a:latin typeface="Arial"/>
                <a:ea typeface="Arial"/>
                <a:cs typeface="Arial"/>
                <a:sym typeface="Arial"/>
              </a:rPr>
              <a:t>Learning Points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How to query blockchain RPCs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Dynamic calculations vs. static assumptions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Interpreting real-world variance</a:t>
            </a:r>
            <a:endParaRPr sz="1600">
              <a:latin typeface="Arial"/>
              <a:ea typeface="Arial"/>
              <a:cs typeface="Arial"/>
              <a:sym typeface="Arial"/>
            </a:endParaRPr>
          </a:p>
          <a:p>
            <a:pPr indent="0" lvl="0" marL="12700" rtl="0" algn="l">
              <a:lnSpc>
                <a:spcPct val="100000"/>
              </a:lnSpc>
              <a:spcBef>
                <a:spcPts val="1485"/>
              </a:spcBef>
              <a:spcAft>
                <a:spcPts val="0"/>
              </a:spcAft>
              <a:buNone/>
            </a:pPr>
            <a:r>
              <a:rPr lang="en-US" sz="1600">
                <a:latin typeface="Arial"/>
                <a:ea typeface="Arial"/>
                <a:cs typeface="Arial"/>
                <a:sym typeface="Arial"/>
              </a:rPr>
              <a:t>Let's switch to Jupyter and run Notebook A!</a:t>
            </a:r>
            <a:endParaRPr sz="1600">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87"/>
          <p:cNvPicPr preferRelativeResize="0"/>
          <p:nvPr/>
        </p:nvPicPr>
        <p:blipFill rotWithShape="1">
          <a:blip r:embed="rId3">
            <a:alphaModFix/>
          </a:blip>
          <a:srcRect b="0" l="0" r="0" t="0"/>
          <a:stretch/>
        </p:blipFill>
        <p:spPr>
          <a:xfrm>
            <a:off x="2127498" y="2312181"/>
            <a:ext cx="569267" cy="535781"/>
          </a:xfrm>
          <a:prstGeom prst="rect">
            <a:avLst/>
          </a:prstGeom>
          <a:noFill/>
          <a:ln>
            <a:noFill/>
          </a:ln>
        </p:spPr>
      </p:pic>
      <p:sp>
        <p:nvSpPr>
          <p:cNvPr id="687" name="Google Shape;687;p87"/>
          <p:cNvSpPr txBox="1"/>
          <p:nvPr>
            <p:ph type="title"/>
          </p:nvPr>
        </p:nvSpPr>
        <p:spPr>
          <a:xfrm>
            <a:off x="2810710" y="2266442"/>
            <a:ext cx="421513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BREAK - 15 Minutes</a:t>
            </a:r>
            <a:endParaRPr sz="3600"/>
          </a:p>
        </p:txBody>
      </p:sp>
      <p:sp>
        <p:nvSpPr>
          <p:cNvPr id="688" name="Google Shape;688;p8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89" name="Google Shape;689;p8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8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Break Time!</a:t>
            </a:r>
            <a:endParaRPr/>
          </a:p>
        </p:txBody>
      </p:sp>
      <p:sp>
        <p:nvSpPr>
          <p:cNvPr id="695" name="Google Shape;695;p8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696" name="Google Shape;696;p8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697" name="Google Shape;697;p88"/>
          <p:cNvSpPr txBox="1"/>
          <p:nvPr/>
        </p:nvSpPr>
        <p:spPr>
          <a:xfrm>
            <a:off x="396271" y="1082621"/>
            <a:ext cx="8254365" cy="340296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15-Minute Break</a:t>
            </a:r>
            <a:endParaRPr sz="1600">
              <a:latin typeface="Arial"/>
              <a:ea typeface="Arial"/>
              <a:cs typeface="Arial"/>
              <a:sym typeface="Arial"/>
            </a:endParaRPr>
          </a:p>
          <a:p>
            <a:pPr indent="-228600" lvl="0" marL="363855" marR="5080" rtl="0" algn="l">
              <a:lnSpc>
                <a:spcPct val="114999"/>
              </a:lnSpc>
              <a:spcBef>
                <a:spcPts val="1200"/>
              </a:spcBef>
              <a:spcAft>
                <a:spcPts val="0"/>
              </a:spcAft>
              <a:buNone/>
            </a:pPr>
            <a:r>
              <a:rPr lang="en-US" sz="1600">
                <a:latin typeface="Arial"/>
                <a:ea typeface="Arial"/>
                <a:cs typeface="Arial"/>
                <a:sym typeface="Arial"/>
              </a:rPr>
              <a:t>Take a moment to stretch, hydrate, and rest your eyes. If you need to review the Part 1 materials, feel free to do so. I will be available to answer any questions you may have in the chat.</a:t>
            </a:r>
            <a:endParaRPr sz="1600">
              <a:latin typeface="Arial"/>
              <a:ea typeface="Arial"/>
              <a:cs typeface="Arial"/>
              <a:sym typeface="Arial"/>
            </a:endParaRPr>
          </a:p>
          <a:p>
            <a:pPr indent="0" lvl="0" marL="135255" rtl="0" algn="l">
              <a:lnSpc>
                <a:spcPct val="100000"/>
              </a:lnSpc>
              <a:spcBef>
                <a:spcPts val="1485"/>
              </a:spcBef>
              <a:spcAft>
                <a:spcPts val="0"/>
              </a:spcAft>
              <a:buNone/>
            </a:pPr>
            <a:r>
              <a:rPr lang="en-US" sz="1600">
                <a:latin typeface="Arial"/>
                <a:ea typeface="Arial"/>
                <a:cs typeface="Arial"/>
                <a:sym typeface="Arial"/>
              </a:rPr>
              <a:t>When We Return:</a:t>
            </a:r>
            <a:endParaRPr sz="1600">
              <a:latin typeface="Arial"/>
              <a:ea typeface="Arial"/>
              <a:cs typeface="Arial"/>
              <a:sym typeface="Arial"/>
            </a:endParaRPr>
          </a:p>
          <a:p>
            <a:pPr indent="0" lvl="0" marL="135255" rtl="0" algn="l">
              <a:lnSpc>
                <a:spcPct val="100000"/>
              </a:lnSpc>
              <a:spcBef>
                <a:spcPts val="1490"/>
              </a:spcBef>
              <a:spcAft>
                <a:spcPts val="0"/>
              </a:spcAft>
              <a:buNone/>
            </a:pPr>
            <a:r>
              <a:rPr lang="en-US" sz="1600">
                <a:latin typeface="Arial"/>
                <a:ea typeface="Arial"/>
                <a:cs typeface="Arial"/>
                <a:sym typeface="Arial"/>
              </a:rPr>
              <a:t>We'll dive into Part 2: Trading Applications, covering:</a:t>
            </a:r>
            <a:endParaRPr sz="1600">
              <a:latin typeface="Arial"/>
              <a:ea typeface="Arial"/>
              <a:cs typeface="Arial"/>
              <a:sym typeface="Arial"/>
            </a:endParaRPr>
          </a:p>
          <a:p>
            <a:pPr indent="-351155" lvl="0" marL="363855" rtl="0" algn="l">
              <a:lnSpc>
                <a:spcPct val="100000"/>
              </a:lnSpc>
              <a:spcBef>
                <a:spcPts val="1490"/>
              </a:spcBef>
              <a:spcAft>
                <a:spcPts val="0"/>
              </a:spcAft>
              <a:buSzPts val="1600"/>
              <a:buFont typeface="Arial"/>
              <a:buChar char="●"/>
            </a:pPr>
            <a:r>
              <a:rPr lang="en-US" sz="1600">
                <a:latin typeface="Arial"/>
                <a:ea typeface="Arial"/>
                <a:cs typeface="Arial"/>
                <a:sym typeface="Arial"/>
              </a:rPr>
              <a:t>Cross-chain tokens and wrapped assets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CEX vs DEX volume analysis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Architecture performance scoring</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Three more live notebook demos!</a:t>
            </a:r>
            <a:endParaRPr sz="1600">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89"/>
          <p:cNvSpPr txBox="1"/>
          <p:nvPr>
            <p:ph type="title"/>
          </p:nvPr>
        </p:nvSpPr>
        <p:spPr>
          <a:xfrm>
            <a:off x="1776363" y="2266442"/>
            <a:ext cx="558736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Part 2: Trading Applications</a:t>
            </a:r>
            <a:endParaRPr sz="3600"/>
          </a:p>
        </p:txBody>
      </p:sp>
      <p:sp>
        <p:nvSpPr>
          <p:cNvPr id="703" name="Google Shape;703;p8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04" name="Google Shape;704;p8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90"/>
          <p:cNvSpPr txBox="1"/>
          <p:nvPr>
            <p:ph type="title"/>
          </p:nvPr>
        </p:nvSpPr>
        <p:spPr>
          <a:xfrm>
            <a:off x="2505248" y="2266442"/>
            <a:ext cx="413257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Cross-Chain Tokens</a:t>
            </a:r>
            <a:endParaRPr sz="3600"/>
          </a:p>
        </p:txBody>
      </p:sp>
      <p:sp>
        <p:nvSpPr>
          <p:cNvPr id="710" name="Google Shape;710;p9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11" name="Google Shape;711;p9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9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The Token Mapping Problem</a:t>
            </a:r>
            <a:endParaRPr/>
          </a:p>
        </p:txBody>
      </p:sp>
      <p:sp>
        <p:nvSpPr>
          <p:cNvPr id="717" name="Google Shape;717;p9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18" name="Google Shape;718;p9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19" name="Google Shape;719;p91"/>
          <p:cNvSpPr txBox="1"/>
          <p:nvPr/>
        </p:nvSpPr>
        <p:spPr>
          <a:xfrm>
            <a:off x="396271" y="1959720"/>
            <a:ext cx="7052309" cy="1147445"/>
          </a:xfrm>
          <a:prstGeom prst="rect">
            <a:avLst/>
          </a:prstGeom>
          <a:noFill/>
          <a:ln>
            <a:noFill/>
          </a:ln>
        </p:spPr>
        <p:txBody>
          <a:bodyPr anchorCtr="0" anchor="t" bIns="0" lIns="0" spcFirstLastPara="1" rIns="0" wrap="square" tIns="48875">
            <a:spAutoFit/>
          </a:bodyPr>
          <a:lstStyle/>
          <a:p>
            <a:pPr indent="-351155" lvl="0" marL="363855" rtl="0" algn="l">
              <a:lnSpc>
                <a:spcPct val="100000"/>
              </a:lnSpc>
              <a:spcBef>
                <a:spcPts val="0"/>
              </a:spcBef>
              <a:spcAft>
                <a:spcPts val="0"/>
              </a:spcAft>
              <a:buSzPts val="1600"/>
              <a:buFont typeface="Arial"/>
              <a:buChar char="●"/>
            </a:pPr>
            <a:r>
              <a:rPr lang="en-US" sz="1600">
                <a:latin typeface="Arial"/>
                <a:ea typeface="Arial"/>
                <a:cs typeface="Arial"/>
                <a:sym typeface="Arial"/>
              </a:rPr>
              <a:t>BTC is tied to the Bitcoin blockchain.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Over $10 billion of Wrapped Bitcoin (WBTC) also circulates on Ethereum.</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This allows access to Ethereum's decentralized finance (DeFi) ecosystem.</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DeFi offers opportunities for lending, trading, and yield generation.</a:t>
            </a:r>
            <a:endParaRPr sz="1600">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9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The Token Mapping Problem</a:t>
            </a:r>
            <a:endParaRPr/>
          </a:p>
        </p:txBody>
      </p:sp>
      <p:sp>
        <p:nvSpPr>
          <p:cNvPr id="725" name="Google Shape;725;p9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26" name="Google Shape;726;p9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27" name="Google Shape;727;p92"/>
          <p:cNvSpPr txBox="1"/>
          <p:nvPr/>
        </p:nvSpPr>
        <p:spPr>
          <a:xfrm>
            <a:off x="290375" y="1263696"/>
            <a:ext cx="8313420" cy="240919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Liquidity Fragmentation of BTC</a:t>
            </a:r>
            <a:endParaRPr sz="1600">
              <a:latin typeface="Arial"/>
              <a:ea typeface="Arial"/>
              <a:cs typeface="Arial"/>
              <a:sym typeface="Arial"/>
            </a:endParaRPr>
          </a:p>
          <a:p>
            <a:pPr indent="0" lvl="0" marL="0" rtl="0" algn="l">
              <a:lnSpc>
                <a:spcPct val="100000"/>
              </a:lnSpc>
              <a:spcBef>
                <a:spcPts val="0"/>
              </a:spcBef>
              <a:spcAft>
                <a:spcPts val="0"/>
              </a:spcAft>
              <a:buNone/>
            </a:pPr>
            <a:r>
              <a:t/>
            </a:r>
            <a:endParaRPr sz="1600">
              <a:latin typeface="Arial"/>
              <a:ea typeface="Arial"/>
              <a:cs typeface="Arial"/>
              <a:sym typeface="Arial"/>
            </a:endParaRPr>
          </a:p>
          <a:p>
            <a:pPr indent="0" lvl="0" marL="0" rtl="0" algn="l">
              <a:lnSpc>
                <a:spcPct val="100000"/>
              </a:lnSpc>
              <a:spcBef>
                <a:spcPts val="925"/>
              </a:spcBef>
              <a:spcAft>
                <a:spcPts val="0"/>
              </a:spcAft>
              <a:buNone/>
            </a:pPr>
            <a:r>
              <a:t/>
            </a:r>
            <a:endParaRPr sz="1600">
              <a:latin typeface="Arial"/>
              <a:ea typeface="Arial"/>
              <a:cs typeface="Arial"/>
              <a:sym typeface="Arial"/>
            </a:endParaRPr>
          </a:p>
          <a:p>
            <a:pPr indent="-228600" lvl="0" marL="469900" marR="5080" rtl="0" algn="l">
              <a:lnSpc>
                <a:spcPct val="114999"/>
              </a:lnSpc>
              <a:spcBef>
                <a:spcPts val="0"/>
              </a:spcBef>
              <a:spcAft>
                <a:spcPts val="0"/>
              </a:spcAft>
              <a:buNone/>
            </a:pPr>
            <a:r>
              <a:rPr lang="en-US" sz="1600">
                <a:latin typeface="Arial"/>
                <a:ea typeface="Arial"/>
                <a:cs typeface="Arial"/>
                <a:sym typeface="Arial"/>
              </a:rPr>
              <a:t>BTC liquidity is fragmented across multiple chains, with various wrapped versions existing on different platforms:</a:t>
            </a:r>
            <a:endParaRPr sz="1600">
              <a:latin typeface="Arial"/>
              <a:ea typeface="Arial"/>
              <a:cs typeface="Arial"/>
              <a:sym typeface="Arial"/>
            </a:endParaRPr>
          </a:p>
          <a:p>
            <a:pPr indent="-351155" lvl="0" marL="469265" rtl="0" algn="l">
              <a:lnSpc>
                <a:spcPct val="100000"/>
              </a:lnSpc>
              <a:spcBef>
                <a:spcPts val="1490"/>
              </a:spcBef>
              <a:spcAft>
                <a:spcPts val="0"/>
              </a:spcAft>
              <a:buSzPts val="1600"/>
              <a:buFont typeface="Arial"/>
              <a:buChar char="●"/>
            </a:pPr>
            <a:r>
              <a:rPr lang="en-US" sz="1600">
                <a:latin typeface="Arial"/>
                <a:ea typeface="Arial"/>
                <a:cs typeface="Arial"/>
                <a:sym typeface="Arial"/>
              </a:rPr>
              <a:t>Ethereum: WBTC, renBTC, sBTC</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Solana: Wrapped BTC via Wormhole/Portal</a:t>
            </a:r>
            <a:endParaRPr sz="1600">
              <a:latin typeface="Arial"/>
              <a:ea typeface="Arial"/>
              <a:cs typeface="Arial"/>
              <a:sym typeface="Arial"/>
            </a:endParaRPr>
          </a:p>
          <a:p>
            <a:pPr indent="0" lvl="0" marL="12700" rtl="0" algn="l">
              <a:lnSpc>
                <a:spcPct val="100000"/>
              </a:lnSpc>
              <a:spcBef>
                <a:spcPts val="285"/>
              </a:spcBef>
              <a:spcAft>
                <a:spcPts val="0"/>
              </a:spcAft>
              <a:buNone/>
            </a:pPr>
            <a:r>
              <a:rPr lang="en-US" sz="1600">
                <a:latin typeface="Arial"/>
                <a:ea typeface="Arial"/>
                <a:cs typeface="Arial"/>
                <a:sym typeface="Arial"/>
              </a:rPr>
              <a:t>Each of these versions maintains separate liquidity pools.</a:t>
            </a:r>
            <a:endParaRPr sz="1600">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The Token Mapping Problem</a:t>
            </a:r>
            <a:endParaRPr/>
          </a:p>
        </p:txBody>
      </p:sp>
      <p:sp>
        <p:nvSpPr>
          <p:cNvPr id="733" name="Google Shape;733;p9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34" name="Google Shape;734;p9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35" name="Google Shape;735;p93"/>
          <p:cNvSpPr txBox="1"/>
          <p:nvPr>
            <p:ph idx="1" type="body"/>
          </p:nvPr>
        </p:nvSpPr>
        <p:spPr>
          <a:xfrm>
            <a:off x="280850" y="1046045"/>
            <a:ext cx="8389620" cy="3311525"/>
          </a:xfrm>
          <a:prstGeom prst="rect">
            <a:avLst/>
          </a:prstGeom>
          <a:noFill/>
          <a:ln>
            <a:noFill/>
          </a:ln>
        </p:spPr>
        <p:txBody>
          <a:bodyPr anchorCtr="0" anchor="t" bIns="0" lIns="0" spcFirstLastPara="1" rIns="0" wrap="square" tIns="319600">
            <a:spAutoFit/>
          </a:bodyPr>
          <a:lstStyle/>
          <a:p>
            <a:pPr indent="0" lvl="0" marL="250190" rtl="0" algn="l">
              <a:lnSpc>
                <a:spcPct val="100000"/>
              </a:lnSpc>
              <a:spcBef>
                <a:spcPts val="0"/>
              </a:spcBef>
              <a:spcAft>
                <a:spcPts val="0"/>
              </a:spcAft>
              <a:buNone/>
            </a:pPr>
            <a:r>
              <a:rPr lang="en-US"/>
              <a:t>Trading Implications</a:t>
            </a:r>
            <a:endParaRPr/>
          </a:p>
          <a:p>
            <a:pPr indent="-351155" lvl="0" marL="478790" rtl="0" algn="l">
              <a:lnSpc>
                <a:spcPct val="100000"/>
              </a:lnSpc>
              <a:spcBef>
                <a:spcPts val="1485"/>
              </a:spcBef>
              <a:spcAft>
                <a:spcPts val="0"/>
              </a:spcAft>
              <a:buClr>
                <a:schemeClr val="dk1"/>
              </a:buClr>
              <a:buSzPts val="1600"/>
              <a:buFont typeface="Arial"/>
              <a:buChar char="●"/>
            </a:pPr>
            <a:r>
              <a:rPr lang="en-US"/>
              <a:t>Price Discrepancies: Variations exist between native and wrapped token prices.</a:t>
            </a:r>
            <a:endParaRPr/>
          </a:p>
          <a:p>
            <a:pPr indent="-351790" lvl="0" marL="478790" marR="890269" rtl="0" algn="l">
              <a:lnSpc>
                <a:spcPct val="114999"/>
              </a:lnSpc>
              <a:spcBef>
                <a:spcPts val="0"/>
              </a:spcBef>
              <a:spcAft>
                <a:spcPts val="0"/>
              </a:spcAft>
              <a:buClr>
                <a:schemeClr val="dk1"/>
              </a:buClr>
              <a:buSzPts val="1600"/>
              <a:buFont typeface="Arial"/>
              <a:buChar char="●"/>
            </a:pPr>
            <a:r>
              <a:rPr lang="en-US"/>
              <a:t>Cross-Chain Arbitrage: Opportunities arise from differing prices across various blockchains and token representations.</a:t>
            </a:r>
            <a:endParaRPr/>
          </a:p>
          <a:p>
            <a:pPr indent="-351790" lvl="0" marL="478790" marR="358140" rtl="0" algn="l">
              <a:lnSpc>
                <a:spcPct val="114999"/>
              </a:lnSpc>
              <a:spcBef>
                <a:spcPts val="0"/>
              </a:spcBef>
              <a:spcAft>
                <a:spcPts val="0"/>
              </a:spcAft>
              <a:buClr>
                <a:schemeClr val="dk1"/>
              </a:buClr>
              <a:buSzPts val="1600"/>
              <a:buFont typeface="Arial"/>
              <a:buChar char="●"/>
            </a:pPr>
            <a:r>
              <a:rPr lang="en-US"/>
              <a:t>Liquidity Differences: Liquidity depth varies significantly between chains and specific trading pools.</a:t>
            </a:r>
            <a:endParaRPr/>
          </a:p>
          <a:p>
            <a:pPr indent="-351790" lvl="0" marL="478790" marR="5080" rtl="0" algn="l">
              <a:lnSpc>
                <a:spcPct val="114999"/>
              </a:lnSpc>
              <a:spcBef>
                <a:spcPts val="0"/>
              </a:spcBef>
              <a:spcAft>
                <a:spcPts val="0"/>
              </a:spcAft>
              <a:buClr>
                <a:schemeClr val="dk1"/>
              </a:buClr>
              <a:buSzPts val="1600"/>
              <a:buFont typeface="Arial"/>
              <a:buChar char="●"/>
            </a:pPr>
            <a:r>
              <a:rPr lang="en-US"/>
              <a:t>Bridge Impact: Transaction fees and potential delays associated with blockchain bridges can negatively affect the quality of trade execution.</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9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The Token Mapping Problem</a:t>
            </a:r>
            <a:endParaRPr/>
          </a:p>
        </p:txBody>
      </p:sp>
      <p:sp>
        <p:nvSpPr>
          <p:cNvPr id="741" name="Google Shape;741;p9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42" name="Google Shape;742;p9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43" name="Google Shape;743;p94"/>
          <p:cNvSpPr txBox="1"/>
          <p:nvPr/>
        </p:nvSpPr>
        <p:spPr>
          <a:xfrm>
            <a:off x="396271" y="1919347"/>
            <a:ext cx="7879080"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Crucial Questions for Traders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Liquidity: Where can the deepest liquidity be found at present?</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Execution: Which asset offers the most favorable execution?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Bridge Risks: What bridge-related risks are involved (e.g., smart contracts, delays)?</a:t>
            </a:r>
            <a:endParaRPr sz="1600">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9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Native vs Wrapped Tokens</a:t>
            </a:r>
            <a:endParaRPr/>
          </a:p>
        </p:txBody>
      </p:sp>
      <p:sp>
        <p:nvSpPr>
          <p:cNvPr id="749" name="Google Shape;749;p9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50" name="Google Shape;750;p9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51" name="Google Shape;751;p95"/>
          <p:cNvSpPr txBox="1"/>
          <p:nvPr/>
        </p:nvSpPr>
        <p:spPr>
          <a:xfrm>
            <a:off x="280850" y="1082621"/>
            <a:ext cx="4823460" cy="3250565"/>
          </a:xfrm>
          <a:prstGeom prst="rect">
            <a:avLst/>
          </a:prstGeom>
          <a:noFill/>
          <a:ln>
            <a:noFill/>
          </a:ln>
        </p:spPr>
        <p:txBody>
          <a:bodyPr anchorCtr="0" anchor="t" bIns="0" lIns="0" spcFirstLastPara="1" rIns="0" wrap="square" tIns="12700">
            <a:spAutoFit/>
          </a:bodyPr>
          <a:lstStyle/>
          <a:p>
            <a:pPr indent="0" lvl="0" marL="0" marR="3302000" rtl="0" algn="r">
              <a:lnSpc>
                <a:spcPct val="100000"/>
              </a:lnSpc>
              <a:spcBef>
                <a:spcPts val="0"/>
              </a:spcBef>
              <a:spcAft>
                <a:spcPts val="0"/>
              </a:spcAft>
              <a:buNone/>
            </a:pPr>
            <a:r>
              <a:rPr lang="en-US" sz="1600">
                <a:latin typeface="Arial"/>
                <a:ea typeface="Arial"/>
                <a:cs typeface="Arial"/>
                <a:sym typeface="Arial"/>
              </a:rPr>
              <a:t>Native Tokens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BTC (Bitcoin blockchain)</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ETH (Ethereum blockchain)</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SOL (Solana blockchain)</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Offer true ownership with no counterparty risk.</a:t>
            </a:r>
            <a:endParaRPr sz="1600">
              <a:latin typeface="Arial"/>
              <a:ea typeface="Arial"/>
              <a:cs typeface="Arial"/>
              <a:sym typeface="Arial"/>
            </a:endParaRPr>
          </a:p>
          <a:p>
            <a:pPr indent="0" lvl="0" marL="0" marR="3286125" rtl="0" algn="r">
              <a:lnSpc>
                <a:spcPct val="100000"/>
              </a:lnSpc>
              <a:spcBef>
                <a:spcPts val="1490"/>
              </a:spcBef>
              <a:spcAft>
                <a:spcPts val="0"/>
              </a:spcAft>
              <a:buNone/>
            </a:pPr>
            <a:r>
              <a:rPr lang="en-US" sz="1600">
                <a:latin typeface="Arial"/>
                <a:ea typeface="Arial"/>
                <a:cs typeface="Arial"/>
                <a:sym typeface="Arial"/>
              </a:rPr>
              <a:t>Wrapped Tokens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WBTC: Bitcoin on Ethereum (ERC-20)</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wETH: Wrapped Ether (ERC-20 version of ETH)</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wSOL: Wrapped SOL (SPL token)</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Backed 1:1 by a custodian or smart contract.</a:t>
            </a:r>
            <a:endParaRPr sz="1600">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9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Native vs Wrapped Tokens</a:t>
            </a:r>
            <a:endParaRPr/>
          </a:p>
        </p:txBody>
      </p:sp>
      <p:sp>
        <p:nvSpPr>
          <p:cNvPr id="757" name="Google Shape;757;p9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58" name="Google Shape;758;p9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59" name="Google Shape;759;p96"/>
          <p:cNvSpPr txBox="1"/>
          <p:nvPr/>
        </p:nvSpPr>
        <p:spPr>
          <a:xfrm>
            <a:off x="386746" y="1636147"/>
            <a:ext cx="7622540" cy="238506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Bridged Tokens &amp; Cross-Chain Communication</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Key Platforms: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Portal (Wormhole): Facilitates cross-chain bridging.</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Multichain: A bridge protocol that ceased operations in 2023.</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CCTP: Bridges USDC across chains.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Stargate: Bridges (and swaps) tokens across chains as well.</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LayerZero: Enables omnichain messaging.</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Security Concerns: Over $2 billion was stolen from bridge exploits in 2022 alone.</a:t>
            </a:r>
            <a:endParaRPr sz="1600">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9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Native vs Wrapped Tokens</a:t>
            </a:r>
            <a:endParaRPr/>
          </a:p>
        </p:txBody>
      </p:sp>
      <p:sp>
        <p:nvSpPr>
          <p:cNvPr id="765" name="Google Shape;765;p9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66" name="Google Shape;766;p9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67" name="Google Shape;767;p97"/>
          <p:cNvSpPr txBox="1"/>
          <p:nvPr/>
        </p:nvSpPr>
        <p:spPr>
          <a:xfrm>
            <a:off x="290375" y="1417597"/>
            <a:ext cx="8511540" cy="225679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Token Flow Across Chains (Diagrammatic Representation):</a:t>
            </a:r>
            <a:endParaRPr sz="1600">
              <a:latin typeface="Arial"/>
              <a:ea typeface="Arial"/>
              <a:cs typeface="Arial"/>
              <a:sym typeface="Arial"/>
            </a:endParaRPr>
          </a:p>
          <a:p>
            <a:pPr indent="-397510" lvl="0" marL="469265" rtl="0" algn="l">
              <a:lnSpc>
                <a:spcPct val="100000"/>
              </a:lnSpc>
              <a:spcBef>
                <a:spcPts val="1485"/>
              </a:spcBef>
              <a:spcAft>
                <a:spcPts val="0"/>
              </a:spcAft>
              <a:buSzPts val="1600"/>
              <a:buFont typeface="Arial"/>
              <a:buAutoNum type="arabicPeriod"/>
            </a:pPr>
            <a:r>
              <a:rPr lang="en-US" sz="1600">
                <a:latin typeface="Arial"/>
                <a:ea typeface="Arial"/>
                <a:cs typeface="Arial"/>
                <a:sym typeface="Arial"/>
              </a:rPr>
              <a:t>Lock native BTC: The original Bitcoin is locked on its native blockchain.</a:t>
            </a:r>
            <a:endParaRPr sz="1600">
              <a:latin typeface="Arial"/>
              <a:ea typeface="Arial"/>
              <a:cs typeface="Arial"/>
              <a:sym typeface="Arial"/>
            </a:endParaRPr>
          </a:p>
          <a:p>
            <a:pPr indent="-398145" lvl="0" marL="469900" marR="5080" rtl="0" algn="l">
              <a:lnSpc>
                <a:spcPct val="114999"/>
              </a:lnSpc>
              <a:spcBef>
                <a:spcPts val="0"/>
              </a:spcBef>
              <a:spcAft>
                <a:spcPts val="0"/>
              </a:spcAft>
              <a:buSzPts val="1600"/>
              <a:buFont typeface="Arial"/>
              <a:buAutoNum type="arabicPeriod"/>
            </a:pPr>
            <a:r>
              <a:rPr lang="en-US" sz="1600">
                <a:latin typeface="Arial"/>
                <a:ea typeface="Arial"/>
                <a:cs typeface="Arial"/>
                <a:sym typeface="Arial"/>
              </a:rPr>
              <a:t>Mint WBTC on Ethereum: An equivalent amount of Wrapped Bitcoin (WBTC) is minted on the Ethereum blockchain.</a:t>
            </a:r>
            <a:endParaRPr sz="1600">
              <a:latin typeface="Arial"/>
              <a:ea typeface="Arial"/>
              <a:cs typeface="Arial"/>
              <a:sym typeface="Arial"/>
            </a:endParaRPr>
          </a:p>
          <a:p>
            <a:pPr indent="-397510" lvl="0" marL="469265" rtl="0" algn="l">
              <a:lnSpc>
                <a:spcPct val="100000"/>
              </a:lnSpc>
              <a:spcBef>
                <a:spcPts val="290"/>
              </a:spcBef>
              <a:spcAft>
                <a:spcPts val="0"/>
              </a:spcAft>
              <a:buSzPts val="1600"/>
              <a:buFont typeface="Arial"/>
              <a:buAutoNum type="arabicPeriod"/>
            </a:pPr>
            <a:r>
              <a:rPr lang="en-US" sz="1600">
                <a:latin typeface="Arial"/>
                <a:ea typeface="Arial"/>
                <a:cs typeface="Arial"/>
                <a:sym typeface="Arial"/>
              </a:rPr>
              <a:t>Bridge WBTC to Solana: The WBTC is then bridged to the Solana blockchain.</a:t>
            </a:r>
            <a:endParaRPr sz="1600">
              <a:latin typeface="Arial"/>
              <a:ea typeface="Arial"/>
              <a:cs typeface="Arial"/>
              <a:sym typeface="Arial"/>
            </a:endParaRPr>
          </a:p>
          <a:p>
            <a:pPr indent="-397510" lvl="0" marL="469265" rtl="0" algn="l">
              <a:lnSpc>
                <a:spcPct val="100000"/>
              </a:lnSpc>
              <a:spcBef>
                <a:spcPts val="290"/>
              </a:spcBef>
              <a:spcAft>
                <a:spcPts val="0"/>
              </a:spcAft>
              <a:buSzPts val="1600"/>
              <a:buFont typeface="Arial"/>
              <a:buAutoNum type="arabicPeriod"/>
            </a:pPr>
            <a:r>
              <a:rPr lang="en-US" sz="1600">
                <a:latin typeface="Arial"/>
                <a:ea typeface="Arial"/>
                <a:cs typeface="Arial"/>
                <a:sym typeface="Arial"/>
              </a:rPr>
              <a:t>Receive wrapped-WBTC: On Solana, the user receives a wrapped version of WBTC.</a:t>
            </a:r>
            <a:endParaRPr sz="1600">
              <a:latin typeface="Arial"/>
              <a:ea typeface="Arial"/>
              <a:cs typeface="Arial"/>
              <a:sym typeface="Arial"/>
            </a:endParaRPr>
          </a:p>
          <a:p>
            <a:pPr indent="0" lvl="0" marL="12700" rtl="0" algn="l">
              <a:lnSpc>
                <a:spcPct val="100000"/>
              </a:lnSpc>
              <a:spcBef>
                <a:spcPts val="1485"/>
              </a:spcBef>
              <a:spcAft>
                <a:spcPts val="0"/>
              </a:spcAft>
              <a:buNone/>
            </a:pPr>
            <a:r>
              <a:rPr lang="en-US" sz="1600">
                <a:latin typeface="Arial"/>
                <a:ea typeface="Arial"/>
                <a:cs typeface="Arial"/>
                <a:sym typeface="Arial"/>
              </a:rPr>
              <a:t>Associated Risks: Each cross-chain hop introduces counterparty risk and incurs fees.</a:t>
            </a:r>
            <a:endParaRPr sz="1600">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9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Wrapped Token Mechanics: WBTC Example</a:t>
            </a:r>
            <a:endParaRPr/>
          </a:p>
        </p:txBody>
      </p:sp>
      <p:sp>
        <p:nvSpPr>
          <p:cNvPr id="773" name="Google Shape;773;p9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74" name="Google Shape;774;p9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75" name="Google Shape;775;p98"/>
          <p:cNvSpPr txBox="1"/>
          <p:nvPr/>
        </p:nvSpPr>
        <p:spPr>
          <a:xfrm>
            <a:off x="396271" y="1494547"/>
            <a:ext cx="8336280" cy="210439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How WBTC Functions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1:1 Backing: Each WBTC is fully backed by one Bitcoin.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Centralized Custody: BitGo acts as the custodian for the underlying BTC.</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Minting Process: To mint WBTC, Bitcoin is locked, and an equivalent amount of WBTC is created on the Ethereum blockchain.</a:t>
            </a:r>
            <a:endParaRPr sz="1600">
              <a:latin typeface="Arial"/>
              <a:ea typeface="Arial"/>
              <a:cs typeface="Arial"/>
              <a:sym typeface="Arial"/>
            </a:endParaRPr>
          </a:p>
          <a:p>
            <a:pPr indent="-351790" lvl="0" marL="363855" marR="35560" rtl="0" algn="l">
              <a:lnSpc>
                <a:spcPct val="114999"/>
              </a:lnSpc>
              <a:spcBef>
                <a:spcPts val="0"/>
              </a:spcBef>
              <a:spcAft>
                <a:spcPts val="0"/>
              </a:spcAft>
              <a:buSzPts val="1600"/>
              <a:buFont typeface="Arial"/>
              <a:buChar char="●"/>
            </a:pPr>
            <a:r>
              <a:rPr lang="en-US" sz="1600">
                <a:latin typeface="Arial"/>
                <a:ea typeface="Arial"/>
                <a:cs typeface="Arial"/>
                <a:sym typeface="Arial"/>
              </a:rPr>
              <a:t>Burning Process: To burn WBTC, the WBTC is destroyed, and the corresponding Bitcoin is released from custody.</a:t>
            </a:r>
            <a:endParaRPr sz="1600">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9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Wrapped Token Mechanics: WBTC Example</a:t>
            </a:r>
            <a:endParaRPr/>
          </a:p>
        </p:txBody>
      </p:sp>
      <p:sp>
        <p:nvSpPr>
          <p:cNvPr id="781" name="Google Shape;781;p9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82" name="Google Shape;782;p9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83" name="Google Shape;783;p99"/>
          <p:cNvSpPr txBox="1"/>
          <p:nvPr/>
        </p:nvSpPr>
        <p:spPr>
          <a:xfrm>
            <a:off x="396271" y="1777747"/>
            <a:ext cx="504761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Minting Process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User sends BTC to BitGo custody.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BitGo verifies the deposit (requires 6 confirmations).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Merchant mints WBTC (an ERC-20 token).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User receives WBTC on Ethereum.</a:t>
            </a:r>
            <a:endParaRPr sz="1600">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0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Wrapped Token Mechanics: WBTC Example</a:t>
            </a:r>
            <a:endParaRPr/>
          </a:p>
        </p:txBody>
      </p:sp>
      <p:sp>
        <p:nvSpPr>
          <p:cNvPr id="789" name="Google Shape;789;p10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90" name="Google Shape;790;p10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91" name="Google Shape;791;p100"/>
          <p:cNvSpPr txBox="1"/>
          <p:nvPr/>
        </p:nvSpPr>
        <p:spPr>
          <a:xfrm>
            <a:off x="396271" y="1777747"/>
            <a:ext cx="6846570"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Burning Process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User initiates WBTC burn by sending it to a burn address.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Merchant informs BitGo of the burn.</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BitGo releases an equivalent amount of BTC to the user's BTC address.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The total WBTC supply is reduced accordingly.</a:t>
            </a:r>
            <a:endParaRPr sz="1600">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0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Wrapped Token Mechanics: WBTC Example</a:t>
            </a:r>
            <a:endParaRPr/>
          </a:p>
        </p:txBody>
      </p:sp>
      <p:sp>
        <p:nvSpPr>
          <p:cNvPr id="797" name="Google Shape;797;p10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798" name="Google Shape;798;p10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799" name="Google Shape;799;p101"/>
          <p:cNvSpPr txBox="1"/>
          <p:nvPr/>
        </p:nvSpPr>
        <p:spPr>
          <a:xfrm>
            <a:off x="280850" y="1170821"/>
            <a:ext cx="7199630" cy="3122295"/>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Risks &amp; Transparency</a:t>
            </a:r>
            <a:endParaRPr sz="1600">
              <a:latin typeface="Arial"/>
              <a:ea typeface="Arial"/>
              <a:cs typeface="Arial"/>
              <a:sym typeface="Arial"/>
            </a:endParaRPr>
          </a:p>
          <a:p>
            <a:pPr indent="0" lvl="0" marL="241300" rtl="0" algn="l">
              <a:lnSpc>
                <a:spcPct val="100000"/>
              </a:lnSpc>
              <a:spcBef>
                <a:spcPts val="1485"/>
              </a:spcBef>
              <a:spcAft>
                <a:spcPts val="0"/>
              </a:spcAft>
              <a:buNone/>
            </a:pPr>
            <a:r>
              <a:rPr lang="en-US" sz="1600">
                <a:latin typeface="Arial"/>
                <a:ea typeface="Arial"/>
                <a:cs typeface="Arial"/>
                <a:sym typeface="Arial"/>
              </a:rPr>
              <a:t>Risks:</a:t>
            </a:r>
            <a:endParaRPr sz="1600">
              <a:latin typeface="Arial"/>
              <a:ea typeface="Arial"/>
              <a:cs typeface="Arial"/>
              <a:sym typeface="Arial"/>
            </a:endParaRPr>
          </a:p>
          <a:p>
            <a:pPr indent="-351155" lvl="0" marL="469265" rtl="0" algn="l">
              <a:lnSpc>
                <a:spcPct val="100000"/>
              </a:lnSpc>
              <a:spcBef>
                <a:spcPts val="1490"/>
              </a:spcBef>
              <a:spcAft>
                <a:spcPts val="0"/>
              </a:spcAft>
              <a:buSzPts val="1600"/>
              <a:buFont typeface="Arial"/>
              <a:buChar char="●"/>
            </a:pPr>
            <a:r>
              <a:rPr lang="en-US" sz="1600">
                <a:latin typeface="Arial"/>
                <a:ea typeface="Arial"/>
                <a:cs typeface="Arial"/>
                <a:sym typeface="Arial"/>
              </a:rPr>
              <a:t>Custodian Trust: Centralization risk as BitGo holds keys.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Smart Contract Vulnerabilities: Potential exploits in smart contract code.</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Bridge/Cross-Chain Exploit Risk: Vulnerabilities in cross-chain interactions.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Regulatory Shutdown Risk: Potential for government intervention or bans.</a:t>
            </a:r>
            <a:endParaRPr sz="1600">
              <a:latin typeface="Arial"/>
              <a:ea typeface="Arial"/>
              <a:cs typeface="Arial"/>
              <a:sym typeface="Arial"/>
            </a:endParaRPr>
          </a:p>
          <a:p>
            <a:pPr indent="0" lvl="0" marL="12700" rtl="0" algn="l">
              <a:lnSpc>
                <a:spcPct val="100000"/>
              </a:lnSpc>
              <a:spcBef>
                <a:spcPts val="1485"/>
              </a:spcBef>
              <a:spcAft>
                <a:spcPts val="0"/>
              </a:spcAft>
              <a:buNone/>
            </a:pPr>
            <a:r>
              <a:rPr lang="en-US" sz="1600">
                <a:latin typeface="Arial"/>
                <a:ea typeface="Arial"/>
                <a:cs typeface="Arial"/>
                <a:sym typeface="Arial"/>
              </a:rPr>
              <a:t>Transparency:</a:t>
            </a:r>
            <a:endParaRPr sz="1600">
              <a:latin typeface="Arial"/>
              <a:ea typeface="Arial"/>
              <a:cs typeface="Arial"/>
              <a:sym typeface="Arial"/>
            </a:endParaRPr>
          </a:p>
          <a:p>
            <a:pPr indent="-351155" lvl="0" marL="469265" rtl="0" algn="l">
              <a:lnSpc>
                <a:spcPct val="100000"/>
              </a:lnSpc>
              <a:spcBef>
                <a:spcPts val="1490"/>
              </a:spcBef>
              <a:spcAft>
                <a:spcPts val="0"/>
              </a:spcAft>
              <a:buSzPts val="1600"/>
              <a:buFont typeface="Arial"/>
              <a:buChar char="●"/>
            </a:pPr>
            <a:r>
              <a:rPr lang="en-US" sz="1600">
                <a:latin typeface="Arial"/>
                <a:ea typeface="Arial"/>
                <a:cs typeface="Arial"/>
                <a:sym typeface="Arial"/>
              </a:rPr>
              <a:t>Public proof of reserves.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On-chain supply is auditable.</a:t>
            </a:r>
            <a:endParaRPr sz="1600">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0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Cross-Chain</a:t>
            </a:r>
            <a:endParaRPr/>
          </a:p>
        </p:txBody>
      </p:sp>
      <p:sp>
        <p:nvSpPr>
          <p:cNvPr id="805" name="Google Shape;805;p10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06" name="Google Shape;806;p10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07" name="Google Shape;807;p102"/>
          <p:cNvSpPr txBox="1"/>
          <p:nvPr/>
        </p:nvSpPr>
        <p:spPr>
          <a:xfrm>
            <a:off x="396271" y="1919347"/>
            <a:ext cx="7024370"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Price Discrepancies: WBTC vs. BTC</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WBTC can experience a $10–100 premium or discount compared to BTC.</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These spreads widen significantly during periods of high volatility.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This creates arbitrage opportunities to buy low and sell high.</a:t>
            </a:r>
            <a:endParaRPr sz="1600">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0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Cross-Chain</a:t>
            </a:r>
            <a:endParaRPr/>
          </a:p>
        </p:txBody>
      </p:sp>
      <p:sp>
        <p:nvSpPr>
          <p:cNvPr id="813" name="Google Shape;813;p10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14" name="Google Shape;814;p10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15" name="Google Shape;815;p103"/>
          <p:cNvSpPr txBox="1"/>
          <p:nvPr/>
        </p:nvSpPr>
        <p:spPr>
          <a:xfrm>
            <a:off x="396271" y="1636147"/>
            <a:ext cx="6289040"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Arbitrage Strategies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Cross-chain Arbitrage:</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BTC on CEX ↔ WBTC on Ethereum (e.g., Uniswap)</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Wrapped token across different chains (e.g., ETH → Solana)</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Intra-chain Arbitrage:</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Native token ↔ Wrapped token on the same chain</a:t>
            </a:r>
            <a:endParaRPr sz="1600">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0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Cross-Chain</a:t>
            </a:r>
            <a:endParaRPr/>
          </a:p>
        </p:txBody>
      </p:sp>
      <p:sp>
        <p:nvSpPr>
          <p:cNvPr id="821" name="Google Shape;821;p10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22" name="Google Shape;822;p10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23" name="Google Shape;823;p104"/>
          <p:cNvSpPr txBox="1"/>
          <p:nvPr/>
        </p:nvSpPr>
        <p:spPr>
          <a:xfrm>
            <a:off x="386746" y="1919347"/>
            <a:ext cx="6833234"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Liquidity Considerations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WBTC on Ethereum: Deep liquidity (over $500M in Curve pools).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Wrapped BTC on Solana: Thinner liquidity (around $50M).</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Slippage: Larger trades will experience higher slippage in smaller pools.</a:t>
            </a:r>
            <a:endParaRPr sz="1600">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0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Implications: Cross-Chain</a:t>
            </a:r>
            <a:endParaRPr/>
          </a:p>
        </p:txBody>
      </p:sp>
      <p:sp>
        <p:nvSpPr>
          <p:cNvPr id="829" name="Google Shape;829;p10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30" name="Google Shape;830;p10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31" name="Google Shape;831;p105"/>
          <p:cNvSpPr txBox="1"/>
          <p:nvPr/>
        </p:nvSpPr>
        <p:spPr>
          <a:xfrm>
            <a:off x="386746" y="1352947"/>
            <a:ext cx="7912100" cy="266509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Bridge Fees, Delays &amp; Risk Management</a:t>
            </a:r>
            <a:endParaRPr sz="1600">
              <a:latin typeface="Arial"/>
              <a:ea typeface="Arial"/>
              <a:cs typeface="Arial"/>
              <a:sym typeface="Arial"/>
            </a:endParaRPr>
          </a:p>
          <a:p>
            <a:pPr indent="-351790" lvl="0" marL="363855" marR="5080" rtl="0" algn="l">
              <a:lnSpc>
                <a:spcPct val="114999"/>
              </a:lnSpc>
              <a:spcBef>
                <a:spcPts val="1200"/>
              </a:spcBef>
              <a:spcAft>
                <a:spcPts val="0"/>
              </a:spcAft>
              <a:buSzPts val="1600"/>
              <a:buFont typeface="Arial"/>
              <a:buChar char="●"/>
            </a:pPr>
            <a:r>
              <a:rPr lang="en-US" sz="1600">
                <a:latin typeface="Arial"/>
                <a:ea typeface="Arial"/>
                <a:cs typeface="Arial"/>
                <a:sym typeface="Arial"/>
              </a:rPr>
              <a:t>Bridge ETH → Solana: ~$5–20 + 15–30 minutes delay (now can be done in &lt;1m for USDC with CCTP v2!).</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Bridge fees and delays must be factored into profit calculations.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Risk Management:</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Diversify across multiple bridges.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Monitor bridge Total Value Locked (TVL).</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Review audit reports.</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Be aware that bridges are frequent hack targets.</a:t>
            </a:r>
            <a:endParaRPr sz="1600">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06"/>
          <p:cNvSpPr txBox="1"/>
          <p:nvPr>
            <p:ph type="title"/>
          </p:nvPr>
        </p:nvSpPr>
        <p:spPr>
          <a:xfrm>
            <a:off x="1992796" y="2266442"/>
            <a:ext cx="51536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LIVE DEMO: Notebook B</a:t>
            </a:r>
            <a:endParaRPr sz="3600"/>
          </a:p>
        </p:txBody>
      </p:sp>
      <p:sp>
        <p:nvSpPr>
          <p:cNvPr id="837" name="Google Shape;837;p10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38" name="Google Shape;838;p10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0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Live Notebook Demo: Token Mapping</a:t>
            </a:r>
            <a:endParaRPr/>
          </a:p>
        </p:txBody>
      </p:sp>
      <p:sp>
        <p:nvSpPr>
          <p:cNvPr id="844" name="Google Shape;844;p10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45" name="Google Shape;845;p10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46" name="Google Shape;846;p107"/>
          <p:cNvSpPr txBox="1"/>
          <p:nvPr/>
        </p:nvSpPr>
        <p:spPr>
          <a:xfrm>
            <a:off x="280850" y="1352947"/>
            <a:ext cx="4973955" cy="325056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What We'll Do (5-10 minutes)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Fetch metadata for BTC, ETH, SOL</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Analyze wrapped versions (WBTC, wETH, wSOL)</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Compare price history and volatility</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Visualize market cap and trading volume</a:t>
            </a:r>
            <a:endParaRPr sz="1600">
              <a:latin typeface="Arial"/>
              <a:ea typeface="Arial"/>
              <a:cs typeface="Arial"/>
              <a:sym typeface="Arial"/>
            </a:endParaRPr>
          </a:p>
          <a:p>
            <a:pPr indent="0" lvl="0" marL="12700" rtl="0" algn="l">
              <a:lnSpc>
                <a:spcPct val="100000"/>
              </a:lnSpc>
              <a:spcBef>
                <a:spcPts val="1490"/>
              </a:spcBef>
              <a:spcAft>
                <a:spcPts val="0"/>
              </a:spcAft>
              <a:buNone/>
            </a:pPr>
            <a:r>
              <a:rPr lang="en-US" sz="1600">
                <a:latin typeface="Arial"/>
                <a:ea typeface="Arial"/>
                <a:cs typeface="Arial"/>
                <a:sym typeface="Arial"/>
              </a:rPr>
              <a:t>Key Analyses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Price correlation: Native vs Wrapped</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Liquidity depth across chains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Trading volume distribution</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Volatility comparisons</a:t>
            </a:r>
            <a:endParaRPr sz="1600">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0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Live Notebook Demo: Token Mapping</a:t>
            </a:r>
            <a:endParaRPr/>
          </a:p>
        </p:txBody>
      </p:sp>
      <p:sp>
        <p:nvSpPr>
          <p:cNvPr id="852" name="Google Shape;852;p10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53" name="Google Shape;853;p10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54" name="Google Shape;854;p108"/>
          <p:cNvSpPr txBox="1"/>
          <p:nvPr/>
        </p:nvSpPr>
        <p:spPr>
          <a:xfrm>
            <a:off x="290375" y="1700796"/>
            <a:ext cx="4038600" cy="1696085"/>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Learning Points: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Querying CoinGecko API for token data</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Identifying arbitrage opportunities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Understanding liquidity fragmentation</a:t>
            </a:r>
            <a:endParaRPr sz="1600">
              <a:latin typeface="Arial"/>
              <a:ea typeface="Arial"/>
              <a:cs typeface="Arial"/>
              <a:sym typeface="Arial"/>
            </a:endParaRPr>
          </a:p>
          <a:p>
            <a:pPr indent="0" lvl="0" marL="12700" rtl="0" algn="l">
              <a:lnSpc>
                <a:spcPct val="100000"/>
              </a:lnSpc>
              <a:spcBef>
                <a:spcPts val="1485"/>
              </a:spcBef>
              <a:spcAft>
                <a:spcPts val="0"/>
              </a:spcAft>
              <a:buNone/>
            </a:pPr>
            <a:r>
              <a:rPr lang="en-US" sz="1600">
                <a:latin typeface="Arial"/>
                <a:ea typeface="Arial"/>
                <a:cs typeface="Arial"/>
                <a:sym typeface="Arial"/>
              </a:rPr>
              <a:t>Let's switch to Jupyter and run Notebook B!</a:t>
            </a:r>
            <a:endParaRPr sz="1600">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09"/>
          <p:cNvSpPr txBox="1"/>
          <p:nvPr>
            <p:ph type="title"/>
          </p:nvPr>
        </p:nvSpPr>
        <p:spPr>
          <a:xfrm>
            <a:off x="2196616" y="2266442"/>
            <a:ext cx="47472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CEX vs DEX Dynamics</a:t>
            </a:r>
            <a:endParaRPr sz="3600"/>
          </a:p>
        </p:txBody>
      </p:sp>
      <p:sp>
        <p:nvSpPr>
          <p:cNvPr id="860" name="Google Shape;860;p10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61" name="Google Shape;861;p10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1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Centralized Exchanges (CEX)</a:t>
            </a:r>
            <a:endParaRPr/>
          </a:p>
        </p:txBody>
      </p:sp>
      <p:sp>
        <p:nvSpPr>
          <p:cNvPr id="867" name="Google Shape;867;p11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68" name="Google Shape;868;p11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69" name="Google Shape;869;p110"/>
          <p:cNvSpPr txBox="1"/>
          <p:nvPr/>
        </p:nvSpPr>
        <p:spPr>
          <a:xfrm>
            <a:off x="386746" y="1777747"/>
            <a:ext cx="727011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Leading Centralized Exchanges (CEXs)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Binance: The world's largest, handling over $50 billion in daily volume.</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Coinbase: A prominent US-based exchange known for its robust compliance.</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Kraken: An established player with a strong focus on security.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OKX, Bybit, KuCoin: Significant global alternatives in the CEX market.</a:t>
            </a:r>
            <a:endParaRPr sz="1600">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1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Centralized Exchanges (CEX)</a:t>
            </a:r>
            <a:endParaRPr/>
          </a:p>
        </p:txBody>
      </p:sp>
      <p:sp>
        <p:nvSpPr>
          <p:cNvPr id="875" name="Google Shape;875;p11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76" name="Google Shape;876;p11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77" name="Google Shape;877;p111"/>
          <p:cNvSpPr txBox="1"/>
          <p:nvPr/>
        </p:nvSpPr>
        <p:spPr>
          <a:xfrm>
            <a:off x="386746" y="1777747"/>
            <a:ext cx="554164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Pros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Deep liquidity for tight spreads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Fast execution through off-chain matching and settlement</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Easy onboarding with fiat on/off-ramps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Advanced features including margin, futures, and lending</a:t>
            </a:r>
            <a:endParaRPr sz="1600">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1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Centralized Exchanges (CEX)</a:t>
            </a:r>
            <a:endParaRPr/>
          </a:p>
        </p:txBody>
      </p:sp>
      <p:sp>
        <p:nvSpPr>
          <p:cNvPr id="883" name="Google Shape;883;p11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84" name="Google Shape;884;p11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85" name="Google Shape;885;p112"/>
          <p:cNvSpPr txBox="1"/>
          <p:nvPr/>
        </p:nvSpPr>
        <p:spPr>
          <a:xfrm>
            <a:off x="509450" y="1340647"/>
            <a:ext cx="4150995"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Custody Risk: "Not your keys, not your coins."</a:t>
            </a:r>
            <a:endParaRPr sz="1600">
              <a:latin typeface="Arial"/>
              <a:ea typeface="Arial"/>
              <a:cs typeface="Arial"/>
              <a:sym typeface="Arial"/>
            </a:endParaRPr>
          </a:p>
        </p:txBody>
      </p:sp>
      <p:sp>
        <p:nvSpPr>
          <p:cNvPr id="886" name="Google Shape;886;p112"/>
          <p:cNvSpPr txBox="1"/>
          <p:nvPr/>
        </p:nvSpPr>
        <p:spPr>
          <a:xfrm>
            <a:off x="386746" y="2206279"/>
            <a:ext cx="8447405"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Other Risks: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KYC requirements: Identity verification is mandatory.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Withdrawal limitations: Restrictions on withdrawals may apply.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Regulatory challenges: Potential for shutdowns or frozen assets due to regulatory actions.</a:t>
            </a:r>
            <a:endParaRPr sz="1600">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1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Centralized Exchanges (CEX)</a:t>
            </a:r>
            <a:endParaRPr/>
          </a:p>
        </p:txBody>
      </p:sp>
      <p:sp>
        <p:nvSpPr>
          <p:cNvPr id="892" name="Google Shape;892;p11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893" name="Google Shape;893;p11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894" name="Google Shape;894;p113"/>
          <p:cNvSpPr txBox="1"/>
          <p:nvPr>
            <p:ph idx="1" type="body"/>
          </p:nvPr>
        </p:nvSpPr>
        <p:spPr>
          <a:xfrm>
            <a:off x="280850" y="1046045"/>
            <a:ext cx="8389620" cy="3311525"/>
          </a:xfrm>
          <a:prstGeom prst="rect">
            <a:avLst/>
          </a:prstGeom>
          <a:noFill/>
          <a:ln>
            <a:noFill/>
          </a:ln>
        </p:spPr>
        <p:txBody>
          <a:bodyPr anchorCtr="0" anchor="t" bIns="0" lIns="0" spcFirstLastPara="1" rIns="0" wrap="square" tIns="525850">
            <a:spAutoFit/>
          </a:bodyPr>
          <a:lstStyle/>
          <a:p>
            <a:pPr indent="0" lvl="0" marL="241300" rtl="0" algn="l">
              <a:lnSpc>
                <a:spcPct val="100000"/>
              </a:lnSpc>
              <a:spcBef>
                <a:spcPts val="0"/>
              </a:spcBef>
              <a:spcAft>
                <a:spcPts val="0"/>
              </a:spcAft>
              <a:buNone/>
            </a:pPr>
            <a:r>
              <a:rPr lang="en-US"/>
              <a:t>Market Share &amp; Dominance</a:t>
            </a:r>
            <a:endParaRPr/>
          </a:p>
          <a:p>
            <a:pPr indent="-351155" lvl="0" marL="469265" rtl="0" algn="l">
              <a:lnSpc>
                <a:spcPct val="100000"/>
              </a:lnSpc>
              <a:spcBef>
                <a:spcPts val="1485"/>
              </a:spcBef>
              <a:spcAft>
                <a:spcPts val="0"/>
              </a:spcAft>
              <a:buClr>
                <a:schemeClr val="dk1"/>
              </a:buClr>
              <a:buSzPts val="1600"/>
              <a:buFont typeface="Arial"/>
              <a:buChar char="●"/>
            </a:pPr>
            <a:r>
              <a:rPr lang="en-US"/>
              <a:t>Bitcoin: 98% CEX, 2% DEX</a:t>
            </a:r>
            <a:endParaRPr/>
          </a:p>
          <a:p>
            <a:pPr indent="-351155" lvl="0" marL="469265" rtl="0" algn="l">
              <a:lnSpc>
                <a:spcPct val="100000"/>
              </a:lnSpc>
              <a:spcBef>
                <a:spcPts val="290"/>
              </a:spcBef>
              <a:spcAft>
                <a:spcPts val="0"/>
              </a:spcAft>
              <a:buClr>
                <a:schemeClr val="dk1"/>
              </a:buClr>
              <a:buSzPts val="1600"/>
              <a:buFont typeface="Arial"/>
              <a:buChar char="●"/>
            </a:pPr>
            <a:r>
              <a:rPr lang="en-US"/>
              <a:t>Ethereum: 65% CEX, 35% DEX</a:t>
            </a:r>
            <a:endParaRPr/>
          </a:p>
          <a:p>
            <a:pPr indent="-351155" lvl="0" marL="469265" rtl="0" algn="l">
              <a:lnSpc>
                <a:spcPct val="100000"/>
              </a:lnSpc>
              <a:spcBef>
                <a:spcPts val="290"/>
              </a:spcBef>
              <a:spcAft>
                <a:spcPts val="0"/>
              </a:spcAft>
              <a:buClr>
                <a:schemeClr val="dk1"/>
              </a:buClr>
              <a:buSzPts val="1600"/>
              <a:buFont typeface="Arial"/>
              <a:buChar char="●"/>
            </a:pPr>
            <a:r>
              <a:rPr lang="en-US"/>
              <a:t>Solana: 75% CEX, 25% DEX</a:t>
            </a:r>
            <a:endParaRPr/>
          </a:p>
          <a:p>
            <a:pPr indent="0" lvl="0" marL="12700" marR="5080" rtl="0" algn="l">
              <a:lnSpc>
                <a:spcPct val="114999"/>
              </a:lnSpc>
              <a:spcBef>
                <a:spcPts val="1200"/>
              </a:spcBef>
              <a:spcAft>
                <a:spcPts val="0"/>
              </a:spcAft>
              <a:buNone/>
            </a:pPr>
            <a:r>
              <a:rPr lang="en-US"/>
              <a:t>CEX dominance is driven by superior user experience (UX), high liquidity, and the absence of gas fees.</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1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Decentralized Exchanges (DEX)</a:t>
            </a:r>
            <a:endParaRPr/>
          </a:p>
        </p:txBody>
      </p:sp>
      <p:sp>
        <p:nvSpPr>
          <p:cNvPr id="900" name="Google Shape;900;p11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01" name="Google Shape;901;p11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02" name="Google Shape;902;p114"/>
          <p:cNvSpPr txBox="1"/>
          <p:nvPr/>
        </p:nvSpPr>
        <p:spPr>
          <a:xfrm>
            <a:off x="396271" y="1636147"/>
            <a:ext cx="8413115"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Major Decentralized Exchanges (DEXs)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Uniswap (Ethereum): Handles over $4 billion in daily trading volume.</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Raydium (Solana): Operates as a hybrid automated market maker (AMM) and order-book exchange.</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PancakeSwap (Binance Smart Chain): A prominent DEX on the Binance Smart Chain.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Curve (Ethereum): Specializes in stablecoin trading.</a:t>
            </a:r>
            <a:endParaRPr sz="1600">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1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Decentralized Exchanges (DEX)</a:t>
            </a:r>
            <a:endParaRPr/>
          </a:p>
        </p:txBody>
      </p:sp>
      <p:sp>
        <p:nvSpPr>
          <p:cNvPr id="908" name="Google Shape;908;p11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09" name="Google Shape;909;p11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10" name="Google Shape;910;p115"/>
          <p:cNvSpPr txBox="1"/>
          <p:nvPr/>
        </p:nvSpPr>
        <p:spPr>
          <a:xfrm>
            <a:off x="396271" y="1777747"/>
            <a:ext cx="8230870"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Advantages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Self-Custody: You maintain control over your private keys.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Anonymity: Trade without KYC (Know Your Customer) requirements.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Composability: Seamless integration with other DeFi (Decentralized Finance) protocols.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Permissionless: Open access for anyone to list tokens.</a:t>
            </a:r>
            <a:endParaRPr sz="1600">
              <a:latin typeface="Arial"/>
              <a:ea typeface="Arial"/>
              <a:cs typeface="Arial"/>
              <a:sym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16"/>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Decentralized Exchanges (DEX)</a:t>
            </a:r>
            <a:endParaRPr/>
          </a:p>
        </p:txBody>
      </p:sp>
      <p:sp>
        <p:nvSpPr>
          <p:cNvPr id="916" name="Google Shape;916;p11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17" name="Google Shape;917;p11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18" name="Google Shape;918;p116"/>
          <p:cNvSpPr txBox="1"/>
          <p:nvPr/>
        </p:nvSpPr>
        <p:spPr>
          <a:xfrm>
            <a:off x="386746" y="1777747"/>
            <a:ext cx="526351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Here are the cons: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Gas fees: Each trade incurs a cost on the blockchain.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Slippage: Large orders can significantly alter the price.</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Impermanent loss: A risk faced by liquidity providers.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UX complexity: Requires wallets, gas, and approvals.</a:t>
            </a:r>
            <a:endParaRPr sz="1600">
              <a:latin typeface="Arial"/>
              <a:ea typeface="Arial"/>
              <a:cs typeface="Arial"/>
              <a:sym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1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Decentralized Exchanges (DEX)</a:t>
            </a:r>
            <a:endParaRPr/>
          </a:p>
        </p:txBody>
      </p:sp>
      <p:sp>
        <p:nvSpPr>
          <p:cNvPr id="924" name="Google Shape;924;p11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25" name="Google Shape;925;p11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26" name="Google Shape;926;p117"/>
          <p:cNvSpPr txBox="1"/>
          <p:nvPr/>
        </p:nvSpPr>
        <p:spPr>
          <a:xfrm>
            <a:off x="386746" y="1777747"/>
            <a:ext cx="8390890" cy="225679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How AMMs Work + Market Share</a:t>
            </a:r>
            <a:endParaRPr sz="1600">
              <a:latin typeface="Arial"/>
              <a:ea typeface="Arial"/>
              <a:cs typeface="Arial"/>
              <a:sym typeface="Arial"/>
            </a:endParaRPr>
          </a:p>
          <a:p>
            <a:pPr indent="0" lvl="0" marL="135255" rtl="0" algn="l">
              <a:lnSpc>
                <a:spcPct val="100000"/>
              </a:lnSpc>
              <a:spcBef>
                <a:spcPts val="1485"/>
              </a:spcBef>
              <a:spcAft>
                <a:spcPts val="0"/>
              </a:spcAft>
              <a:buNone/>
            </a:pPr>
            <a:r>
              <a:rPr lang="en-US" sz="1600">
                <a:latin typeface="Arial"/>
                <a:ea typeface="Arial"/>
                <a:cs typeface="Arial"/>
                <a:sym typeface="Arial"/>
              </a:rPr>
              <a:t>AMM Mechanics:</a:t>
            </a:r>
            <a:endParaRPr sz="1600">
              <a:latin typeface="Arial"/>
              <a:ea typeface="Arial"/>
              <a:cs typeface="Arial"/>
              <a:sym typeface="Arial"/>
            </a:endParaRPr>
          </a:p>
          <a:p>
            <a:pPr indent="-351155" lvl="0" marL="363855" rtl="0" algn="l">
              <a:lnSpc>
                <a:spcPct val="100000"/>
              </a:lnSpc>
              <a:spcBef>
                <a:spcPts val="1490"/>
              </a:spcBef>
              <a:spcAft>
                <a:spcPts val="0"/>
              </a:spcAft>
              <a:buSzPts val="1600"/>
              <a:buFont typeface="Arial"/>
              <a:buChar char="●"/>
            </a:pPr>
            <a:r>
              <a:rPr lang="en-US" sz="1600">
                <a:latin typeface="Arial"/>
                <a:ea typeface="Arial"/>
                <a:cs typeface="Arial"/>
                <a:sym typeface="Arial"/>
              </a:rPr>
              <a:t>Utilizes liquidity pools based on the x * y = k formula.</a:t>
            </a:r>
            <a:endParaRPr sz="1600">
              <a:latin typeface="Arial"/>
              <a:ea typeface="Arial"/>
              <a:cs typeface="Arial"/>
              <a:sym typeface="Arial"/>
            </a:endParaRPr>
          </a:p>
          <a:p>
            <a:pPr indent="-351790" lvl="0" marL="363855" marR="28575" rtl="0" algn="l">
              <a:lnSpc>
                <a:spcPct val="114999"/>
              </a:lnSpc>
              <a:spcBef>
                <a:spcPts val="0"/>
              </a:spcBef>
              <a:spcAft>
                <a:spcPts val="0"/>
              </a:spcAft>
              <a:buSzPts val="1600"/>
              <a:buFont typeface="Arial"/>
              <a:buChar char="●"/>
            </a:pPr>
            <a:r>
              <a:rPr lang="en-US" sz="1600">
                <a:latin typeface="Arial"/>
                <a:ea typeface="Arial"/>
                <a:cs typeface="Arial"/>
                <a:sym typeface="Arial"/>
              </a:rPr>
              <a:t>Unlike traditional exchanges, pricing is derived from the ratio within the pool, not an order book.</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Example: A pool containing 100 ETH and 200,000 USDC results in a price of $2,000/ETH (200,000 / 100).</a:t>
            </a:r>
            <a:endParaRPr sz="1600">
              <a:latin typeface="Arial"/>
              <a:ea typeface="Arial"/>
              <a:cs typeface="Arial"/>
              <a:sym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11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Decentralized Exchanges (DEX)</a:t>
            </a:r>
            <a:endParaRPr/>
          </a:p>
        </p:txBody>
      </p:sp>
      <p:sp>
        <p:nvSpPr>
          <p:cNvPr id="932" name="Google Shape;932;p11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33" name="Google Shape;933;p11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34" name="Google Shape;934;p118"/>
          <p:cNvSpPr txBox="1"/>
          <p:nvPr>
            <p:ph idx="1" type="body"/>
          </p:nvPr>
        </p:nvSpPr>
        <p:spPr>
          <a:xfrm>
            <a:off x="280850" y="1046045"/>
            <a:ext cx="8389620" cy="3311525"/>
          </a:xfrm>
          <a:prstGeom prst="rect">
            <a:avLst/>
          </a:prstGeom>
          <a:noFill/>
          <a:ln>
            <a:noFill/>
          </a:ln>
        </p:spPr>
        <p:txBody>
          <a:bodyPr anchorCtr="0" anchor="t" bIns="0" lIns="0" spcFirstLastPara="1" rIns="0" wrap="square" tIns="744400">
            <a:spAutoFit/>
          </a:bodyPr>
          <a:lstStyle/>
          <a:p>
            <a:pPr indent="0" lvl="0" marL="12700" rtl="0" algn="l">
              <a:lnSpc>
                <a:spcPct val="100000"/>
              </a:lnSpc>
              <a:spcBef>
                <a:spcPts val="0"/>
              </a:spcBef>
              <a:spcAft>
                <a:spcPts val="0"/>
              </a:spcAft>
              <a:buNone/>
            </a:pPr>
            <a:r>
              <a:rPr lang="en-US"/>
              <a:t>Market Share:</a:t>
            </a:r>
            <a:endParaRPr/>
          </a:p>
          <a:p>
            <a:pPr indent="-351790" lvl="0" marL="469900" marR="5080" rtl="0" algn="l">
              <a:lnSpc>
                <a:spcPct val="114999"/>
              </a:lnSpc>
              <a:spcBef>
                <a:spcPts val="1200"/>
              </a:spcBef>
              <a:spcAft>
                <a:spcPts val="0"/>
              </a:spcAft>
              <a:buClr>
                <a:schemeClr val="dk1"/>
              </a:buClr>
              <a:buSzPts val="1600"/>
              <a:buFont typeface="Arial"/>
              <a:buChar char="●"/>
            </a:pPr>
            <a:r>
              <a:rPr lang="en-US"/>
              <a:t>Decentralized Exchanges (DEXs) are experiencing significant growth, with market share ranging from 5-35% depending on the specific blockchain.</a:t>
            </a:r>
            <a:endParaRPr/>
          </a:p>
          <a:p>
            <a:pPr indent="-351155" lvl="0" marL="469265" rtl="0" algn="l">
              <a:lnSpc>
                <a:spcPct val="100000"/>
              </a:lnSpc>
              <a:spcBef>
                <a:spcPts val="285"/>
              </a:spcBef>
              <a:spcAft>
                <a:spcPts val="0"/>
              </a:spcAft>
              <a:buClr>
                <a:schemeClr val="dk1"/>
              </a:buClr>
              <a:buSzPts val="1600"/>
              <a:buFont typeface="Arial"/>
              <a:buChar char="●"/>
            </a:pPr>
            <a:r>
              <a:rPr lang="en-US"/>
              <a:t>Ethereum leads in DEX adoption, accounting for approximately 35% of the market.</a:t>
            </a:r>
            <a:endParaRPr/>
          </a:p>
          <a:p>
            <a:pPr indent="-351155" lvl="0" marL="469265" rtl="0" algn="l">
              <a:lnSpc>
                <a:spcPct val="100000"/>
              </a:lnSpc>
              <a:spcBef>
                <a:spcPts val="290"/>
              </a:spcBef>
              <a:spcAft>
                <a:spcPts val="0"/>
              </a:spcAft>
              <a:buClr>
                <a:schemeClr val="dk1"/>
              </a:buClr>
              <a:buSzPts val="1600"/>
              <a:buFont typeface="Arial"/>
              <a:buChar char="●"/>
            </a:pPr>
            <a:r>
              <a:rPr lang="en-US"/>
              <a:t>Bitcoin, lacking a smart-contract layer, has minimal DEX presence.</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119"/>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Strategy Selection: CEX vs DEX</a:t>
            </a:r>
            <a:endParaRPr/>
          </a:p>
        </p:txBody>
      </p:sp>
      <p:sp>
        <p:nvSpPr>
          <p:cNvPr id="940" name="Google Shape;940;p11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41" name="Google Shape;941;p11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42" name="Google Shape;942;p119"/>
          <p:cNvSpPr txBox="1"/>
          <p:nvPr/>
        </p:nvSpPr>
        <p:spPr>
          <a:xfrm>
            <a:off x="396271" y="1494547"/>
            <a:ext cx="7564120" cy="210439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When to Use a Centralized Exchange (CEX)</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Large Trades: Benefit from deep liquidity and minimal slippage.</a:t>
            </a:r>
            <a:endParaRPr sz="1600">
              <a:latin typeface="Arial"/>
              <a:ea typeface="Arial"/>
              <a:cs typeface="Arial"/>
              <a:sym typeface="Arial"/>
            </a:endParaRPr>
          </a:p>
          <a:p>
            <a:pPr indent="-351790" lvl="0" marL="363855" marR="122554" rtl="0" algn="l">
              <a:lnSpc>
                <a:spcPct val="114999"/>
              </a:lnSpc>
              <a:spcBef>
                <a:spcPts val="0"/>
              </a:spcBef>
              <a:spcAft>
                <a:spcPts val="0"/>
              </a:spcAft>
              <a:buSzPts val="1600"/>
              <a:buFont typeface="Arial"/>
              <a:buChar char="●"/>
            </a:pPr>
            <a:r>
              <a:rPr lang="en-US" sz="1600">
                <a:latin typeface="Arial"/>
                <a:ea typeface="Arial"/>
                <a:cs typeface="Arial"/>
                <a:sym typeface="Arial"/>
              </a:rPr>
              <a:t>Fiat On/Off-Ramp: Easily convert between fiat currencies (e.g., USD/EUR) and cryptocurrencies.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Leverage Products: Access margin trading, futures, and perpetual contracts.</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High-Frequency Execution: Execute trades instantly and off-chain for speed and efficiency.</a:t>
            </a:r>
            <a:endParaRPr sz="1600">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2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Strategy Selection: CEX vs DEX</a:t>
            </a:r>
            <a:endParaRPr/>
          </a:p>
        </p:txBody>
      </p:sp>
      <p:sp>
        <p:nvSpPr>
          <p:cNvPr id="948" name="Google Shape;948;p12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49" name="Google Shape;949;p12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50" name="Google Shape;950;p120"/>
          <p:cNvSpPr txBox="1"/>
          <p:nvPr/>
        </p:nvSpPr>
        <p:spPr>
          <a:xfrm>
            <a:off x="396271" y="1636147"/>
            <a:ext cx="8422640"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When to Use a DEX</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Privacy: Facilitates anonymous trading without Know Your Customer (KYC) requirements.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DeFi Strategies: Enables various decentralized finance strategies through composability.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Early Token Access: Provides access to new tokens, which often launch on DEXs first.</a:t>
            </a:r>
            <a:endParaRPr sz="1600">
              <a:latin typeface="Arial"/>
              <a:ea typeface="Arial"/>
              <a:cs typeface="Arial"/>
              <a:sym typeface="Arial"/>
            </a:endParaRPr>
          </a:p>
          <a:p>
            <a:pPr indent="-351790" lvl="0" marL="363855" marR="546735" rtl="0" algn="l">
              <a:lnSpc>
                <a:spcPct val="114999"/>
              </a:lnSpc>
              <a:spcBef>
                <a:spcPts val="0"/>
              </a:spcBef>
              <a:spcAft>
                <a:spcPts val="0"/>
              </a:spcAft>
              <a:buSzPts val="1600"/>
              <a:buFont typeface="Arial"/>
              <a:buChar char="●"/>
            </a:pPr>
            <a:r>
              <a:rPr lang="en-US" sz="1600">
                <a:latin typeface="Arial"/>
                <a:ea typeface="Arial"/>
                <a:cs typeface="Arial"/>
                <a:sym typeface="Arial"/>
              </a:rPr>
              <a:t>Self-Custody: Allows users to maintain control of their assets, bypassing centralized custodians.</a:t>
            </a:r>
            <a:endParaRPr sz="1600">
              <a:latin typeface="Arial"/>
              <a:ea typeface="Arial"/>
              <a:cs typeface="Arial"/>
              <a:sym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2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Strategy Selection: CEX vs DEX</a:t>
            </a:r>
            <a:endParaRPr/>
          </a:p>
        </p:txBody>
      </p:sp>
      <p:sp>
        <p:nvSpPr>
          <p:cNvPr id="956" name="Google Shape;956;p12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57" name="Google Shape;957;p12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58" name="Google Shape;958;p121"/>
          <p:cNvSpPr txBox="1"/>
          <p:nvPr/>
        </p:nvSpPr>
        <p:spPr>
          <a:xfrm>
            <a:off x="290375" y="1199046"/>
            <a:ext cx="8487410" cy="268986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Hybrid Approach: Optimizing Trades with CEX and DEX</a:t>
            </a:r>
            <a:endParaRPr sz="1600">
              <a:latin typeface="Arial"/>
              <a:ea typeface="Arial"/>
              <a:cs typeface="Arial"/>
              <a:sym typeface="Arial"/>
            </a:endParaRPr>
          </a:p>
          <a:p>
            <a:pPr indent="-351790" lvl="0" marL="469900" marR="5080" rtl="0" algn="l">
              <a:lnSpc>
                <a:spcPct val="114999"/>
              </a:lnSpc>
              <a:spcBef>
                <a:spcPts val="1200"/>
              </a:spcBef>
              <a:spcAft>
                <a:spcPts val="0"/>
              </a:spcAft>
              <a:buSzPts val="1600"/>
              <a:buFont typeface="Arial"/>
              <a:buChar char="●"/>
            </a:pPr>
            <a:r>
              <a:rPr lang="en-US" sz="1600">
                <a:latin typeface="Arial"/>
                <a:ea typeface="Arial"/>
                <a:cs typeface="Arial"/>
                <a:sym typeface="Arial"/>
              </a:rPr>
              <a:t>Workflow Integration: Combine Centralized Exchanges (CEX) for large trades and fiat transactions with Decentralized Exchanges (DEX) for faster execution and access to new assets.</a:t>
            </a:r>
            <a:endParaRPr sz="1600">
              <a:latin typeface="Arial"/>
              <a:ea typeface="Arial"/>
              <a:cs typeface="Arial"/>
              <a:sym typeface="Arial"/>
            </a:endParaRPr>
          </a:p>
          <a:p>
            <a:pPr indent="0" lvl="0" marL="12700" rtl="0" algn="l">
              <a:lnSpc>
                <a:spcPct val="100000"/>
              </a:lnSpc>
              <a:spcBef>
                <a:spcPts val="1485"/>
              </a:spcBef>
              <a:spcAft>
                <a:spcPts val="0"/>
              </a:spcAft>
              <a:buNone/>
            </a:pPr>
            <a:r>
              <a:rPr lang="en-US" sz="1600">
                <a:latin typeface="Arial"/>
                <a:ea typeface="Arial"/>
                <a:cs typeface="Arial"/>
                <a:sym typeface="Arial"/>
              </a:rPr>
              <a:t>Gas Cost Impact on Trading Strategy</a:t>
            </a:r>
            <a:endParaRPr sz="1600">
              <a:latin typeface="Arial"/>
              <a:ea typeface="Arial"/>
              <a:cs typeface="Arial"/>
              <a:sym typeface="Arial"/>
            </a:endParaRPr>
          </a:p>
          <a:p>
            <a:pPr indent="-351155" lvl="0" marL="469265" rtl="0" algn="l">
              <a:lnSpc>
                <a:spcPct val="100000"/>
              </a:lnSpc>
              <a:spcBef>
                <a:spcPts val="1490"/>
              </a:spcBef>
              <a:spcAft>
                <a:spcPts val="0"/>
              </a:spcAft>
              <a:buSzPts val="1600"/>
              <a:buFont typeface="Arial"/>
              <a:buChar char="●"/>
            </a:pPr>
            <a:r>
              <a:rPr lang="en-US" sz="1600">
                <a:latin typeface="Arial"/>
                <a:ea typeface="Arial"/>
                <a:cs typeface="Arial"/>
                <a:sym typeface="Arial"/>
              </a:rPr>
              <a:t>Ethereum: High gas costs ($10–$100) limit viability to large trades.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Arbitrum/Optimism: Moderate gas costs ($0.10–$1) make mid-sized trades feasible.</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Solana: Extremely low gas costs ($0.00025) enable even small trades.</a:t>
            </a:r>
            <a:endParaRPr sz="1600">
              <a:latin typeface="Arial"/>
              <a:ea typeface="Arial"/>
              <a:cs typeface="Arial"/>
              <a:sym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2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Trading Strategy Selection: CEX vs DEX</a:t>
            </a:r>
            <a:endParaRPr/>
          </a:p>
        </p:txBody>
      </p:sp>
      <p:sp>
        <p:nvSpPr>
          <p:cNvPr id="964" name="Google Shape;964;p12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65" name="Google Shape;965;p12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66" name="Google Shape;966;p122"/>
          <p:cNvSpPr txBox="1"/>
          <p:nvPr/>
        </p:nvSpPr>
        <p:spPr>
          <a:xfrm>
            <a:off x="396271" y="1211346"/>
            <a:ext cx="6871334" cy="266509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Risk Management</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Centralized Exchange (CEX) Risks: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Counterparty risk</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Freeze/shutdown risk</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Decentralized Exchange (DEX) Risks: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Smart contract bugs</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Exploits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Mitigation Strategy:</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Diversify across multiple platforms; avoid relying on a single venue.</a:t>
            </a:r>
            <a:endParaRPr sz="1600">
              <a:latin typeface="Arial"/>
              <a:ea typeface="Arial"/>
              <a:cs typeface="Arial"/>
              <a:sym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23"/>
          <p:cNvSpPr txBox="1"/>
          <p:nvPr>
            <p:ph type="title"/>
          </p:nvPr>
        </p:nvSpPr>
        <p:spPr>
          <a:xfrm>
            <a:off x="1980183" y="2266442"/>
            <a:ext cx="51790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LIVE DEMO: Notebook C</a:t>
            </a:r>
            <a:endParaRPr sz="3600"/>
          </a:p>
        </p:txBody>
      </p:sp>
      <p:sp>
        <p:nvSpPr>
          <p:cNvPr id="972" name="Google Shape;972;p12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73" name="Google Shape;973;p12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24"/>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Live Notebook Demo: CEX vs DEX Volume</a:t>
            </a:r>
            <a:endParaRPr/>
          </a:p>
        </p:txBody>
      </p:sp>
      <p:sp>
        <p:nvSpPr>
          <p:cNvPr id="979" name="Google Shape;979;p12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80" name="Google Shape;980;p12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81" name="Google Shape;981;p124"/>
          <p:cNvSpPr txBox="1"/>
          <p:nvPr/>
        </p:nvSpPr>
        <p:spPr>
          <a:xfrm>
            <a:off x="386746" y="1777747"/>
            <a:ext cx="4834890"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Notebook C: 30-Day Volume Analysis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Fetch 30-day trading volume history.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Dynamically calculate CEX vs DEX splits.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Generate over 9 visualizations (3 per blockchain).</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Identify trends and changes in market structure.</a:t>
            </a:r>
            <a:endParaRPr sz="1600">
              <a:latin typeface="Arial"/>
              <a:ea typeface="Arial"/>
              <a:cs typeface="Arial"/>
              <a:sym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125"/>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Live Notebook Demo: CEX vs DEX Volume</a:t>
            </a:r>
            <a:endParaRPr/>
          </a:p>
        </p:txBody>
      </p:sp>
      <p:sp>
        <p:nvSpPr>
          <p:cNvPr id="987" name="Google Shape;987;p12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88" name="Google Shape;988;p12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989" name="Google Shape;989;p125"/>
          <p:cNvSpPr txBox="1"/>
          <p:nvPr/>
        </p:nvSpPr>
        <p:spPr>
          <a:xfrm>
            <a:off x="280850" y="1261522"/>
            <a:ext cx="5357495" cy="3098165"/>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Key Visuals &amp; Learning Points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Charts &amp; Trends</a:t>
            </a:r>
            <a:endParaRPr sz="1600">
              <a:latin typeface="Arial"/>
              <a:ea typeface="Arial"/>
              <a:cs typeface="Arial"/>
              <a:sym typeface="Arial"/>
            </a:endParaRPr>
          </a:p>
          <a:p>
            <a:pPr indent="-351154" lvl="1" marL="926464" rtl="0" algn="l">
              <a:lnSpc>
                <a:spcPct val="100000"/>
              </a:lnSpc>
              <a:spcBef>
                <a:spcPts val="290"/>
              </a:spcBef>
              <a:spcAft>
                <a:spcPts val="0"/>
              </a:spcAft>
              <a:buSzPts val="1600"/>
              <a:buFont typeface="Arial"/>
              <a:buChar char="○"/>
            </a:pPr>
            <a:r>
              <a:rPr lang="en-US" sz="1600">
                <a:latin typeface="Arial"/>
                <a:ea typeface="Arial"/>
                <a:cs typeface="Arial"/>
                <a:sym typeface="Arial"/>
              </a:rPr>
              <a:t>Line charts: Volume trends over time</a:t>
            </a:r>
            <a:endParaRPr sz="1600">
              <a:latin typeface="Arial"/>
              <a:ea typeface="Arial"/>
              <a:cs typeface="Arial"/>
              <a:sym typeface="Arial"/>
            </a:endParaRPr>
          </a:p>
          <a:p>
            <a:pPr indent="-351154" lvl="1" marL="926464" rtl="0" algn="l">
              <a:lnSpc>
                <a:spcPct val="100000"/>
              </a:lnSpc>
              <a:spcBef>
                <a:spcPts val="285"/>
              </a:spcBef>
              <a:spcAft>
                <a:spcPts val="0"/>
              </a:spcAft>
              <a:buSzPts val="1600"/>
              <a:buFont typeface="Arial"/>
              <a:buChar char="○"/>
            </a:pPr>
            <a:r>
              <a:rPr lang="en-US" sz="1600">
                <a:latin typeface="Arial"/>
                <a:ea typeface="Arial"/>
                <a:cs typeface="Arial"/>
                <a:sym typeface="Arial"/>
              </a:rPr>
              <a:t>Stacked area charts: CEX vs. DEX market share</a:t>
            </a:r>
            <a:endParaRPr sz="1600">
              <a:latin typeface="Arial"/>
              <a:ea typeface="Arial"/>
              <a:cs typeface="Arial"/>
              <a:sym typeface="Arial"/>
            </a:endParaRPr>
          </a:p>
          <a:p>
            <a:pPr indent="-351154" lvl="1" marL="926464" rtl="0" algn="l">
              <a:lnSpc>
                <a:spcPct val="100000"/>
              </a:lnSpc>
              <a:spcBef>
                <a:spcPts val="290"/>
              </a:spcBef>
              <a:spcAft>
                <a:spcPts val="0"/>
              </a:spcAft>
              <a:buSzPts val="1600"/>
              <a:buFont typeface="Arial"/>
              <a:buChar char="○"/>
            </a:pPr>
            <a:r>
              <a:rPr lang="en-US" sz="1600">
                <a:latin typeface="Arial"/>
                <a:ea typeface="Arial"/>
                <a:cs typeface="Arial"/>
                <a:sym typeface="Arial"/>
              </a:rPr>
              <a:t>Pie + bar charts: Comparative market dominance</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Decentralized Exchange (DEX) Insights</a:t>
            </a:r>
            <a:endParaRPr sz="1600">
              <a:latin typeface="Arial"/>
              <a:ea typeface="Arial"/>
              <a:cs typeface="Arial"/>
              <a:sym typeface="Arial"/>
            </a:endParaRPr>
          </a:p>
          <a:p>
            <a:pPr indent="-351154" lvl="1" marL="926464" rtl="0" algn="l">
              <a:lnSpc>
                <a:spcPct val="100000"/>
              </a:lnSpc>
              <a:spcBef>
                <a:spcPts val="285"/>
              </a:spcBef>
              <a:spcAft>
                <a:spcPts val="0"/>
              </a:spcAft>
              <a:buSzPts val="1600"/>
              <a:buFont typeface="Arial"/>
              <a:buChar char="○"/>
            </a:pPr>
            <a:r>
              <a:rPr lang="en-US" sz="1600">
                <a:latin typeface="Arial"/>
                <a:ea typeface="Arial"/>
                <a:cs typeface="Arial"/>
                <a:sym typeface="Arial"/>
              </a:rPr>
              <a:t>Why Ethereum leads DEX adoption</a:t>
            </a:r>
            <a:endParaRPr sz="1600">
              <a:latin typeface="Arial"/>
              <a:ea typeface="Arial"/>
              <a:cs typeface="Arial"/>
              <a:sym typeface="Arial"/>
            </a:endParaRPr>
          </a:p>
          <a:p>
            <a:pPr indent="-351154" lvl="1" marL="926464" rtl="0" algn="l">
              <a:lnSpc>
                <a:spcPct val="100000"/>
              </a:lnSpc>
              <a:spcBef>
                <a:spcPts val="290"/>
              </a:spcBef>
              <a:spcAft>
                <a:spcPts val="0"/>
              </a:spcAft>
              <a:buSzPts val="1600"/>
              <a:buFont typeface="Arial"/>
              <a:buChar char="○"/>
            </a:pPr>
            <a:r>
              <a:rPr lang="en-US" sz="1600">
                <a:latin typeface="Arial"/>
                <a:ea typeface="Arial"/>
                <a:cs typeface="Arial"/>
                <a:sym typeface="Arial"/>
              </a:rPr>
              <a:t>How architecture affects DEX viability</a:t>
            </a:r>
            <a:endParaRPr sz="1600">
              <a:latin typeface="Arial"/>
              <a:ea typeface="Arial"/>
              <a:cs typeface="Arial"/>
              <a:sym typeface="Arial"/>
            </a:endParaRPr>
          </a:p>
          <a:p>
            <a:pPr indent="-351154" lvl="1" marL="926464" rtl="0" algn="l">
              <a:lnSpc>
                <a:spcPct val="100000"/>
              </a:lnSpc>
              <a:spcBef>
                <a:spcPts val="290"/>
              </a:spcBef>
              <a:spcAft>
                <a:spcPts val="0"/>
              </a:spcAft>
              <a:buSzPts val="1600"/>
              <a:buFont typeface="Arial"/>
              <a:buChar char="○"/>
            </a:pPr>
            <a:r>
              <a:rPr lang="en-US" sz="1600">
                <a:latin typeface="Arial"/>
                <a:ea typeface="Arial"/>
                <a:cs typeface="Arial"/>
                <a:sym typeface="Arial"/>
              </a:rPr>
              <a:t>Volume behavior during volatility spikes</a:t>
            </a:r>
            <a:endParaRPr sz="1600">
              <a:latin typeface="Arial"/>
              <a:ea typeface="Arial"/>
              <a:cs typeface="Arial"/>
              <a:sym typeface="Arial"/>
            </a:endParaRPr>
          </a:p>
          <a:p>
            <a:pPr indent="0" lvl="0" marL="12700" rtl="0" algn="l">
              <a:lnSpc>
                <a:spcPct val="100000"/>
              </a:lnSpc>
              <a:spcBef>
                <a:spcPts val="1485"/>
              </a:spcBef>
              <a:spcAft>
                <a:spcPts val="0"/>
              </a:spcAft>
              <a:buNone/>
            </a:pPr>
            <a:r>
              <a:rPr lang="en-US" sz="1600">
                <a:latin typeface="Arial"/>
                <a:ea typeface="Arial"/>
                <a:cs typeface="Arial"/>
                <a:sym typeface="Arial"/>
              </a:rPr>
              <a:t>Let's switch to Jupyter and run Notebook C!</a:t>
            </a:r>
            <a:endParaRPr sz="1600">
              <a:latin typeface="Arial"/>
              <a:ea typeface="Arial"/>
              <a:cs typeface="Arial"/>
              <a:sym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126"/>
          <p:cNvSpPr txBox="1"/>
          <p:nvPr>
            <p:ph type="title"/>
          </p:nvPr>
        </p:nvSpPr>
        <p:spPr>
          <a:xfrm>
            <a:off x="1128849" y="2266442"/>
            <a:ext cx="6884034"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Architecture Performance Scoring</a:t>
            </a:r>
            <a:endParaRPr sz="3600"/>
          </a:p>
        </p:txBody>
      </p:sp>
      <p:sp>
        <p:nvSpPr>
          <p:cNvPr id="995" name="Google Shape;995;p12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996" name="Google Shape;996;p12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27"/>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Multi-Dimensional Comparison</a:t>
            </a:r>
            <a:endParaRPr/>
          </a:p>
        </p:txBody>
      </p:sp>
      <p:sp>
        <p:nvSpPr>
          <p:cNvPr id="1002" name="Google Shape;1002;p12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03" name="Google Shape;1003;p12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04" name="Google Shape;1004;p127"/>
          <p:cNvSpPr txBox="1"/>
          <p:nvPr/>
        </p:nvSpPr>
        <p:spPr>
          <a:xfrm>
            <a:off x="509450" y="1261522"/>
            <a:ext cx="257937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Trading: Beyond Just Speed</a:t>
            </a:r>
            <a:endParaRPr sz="1600">
              <a:latin typeface="Arial"/>
              <a:ea typeface="Arial"/>
              <a:cs typeface="Arial"/>
              <a:sym typeface="Arial"/>
            </a:endParaRPr>
          </a:p>
        </p:txBody>
      </p:sp>
      <p:sp>
        <p:nvSpPr>
          <p:cNvPr id="1005" name="Google Shape;1005;p127"/>
          <p:cNvSpPr txBox="1"/>
          <p:nvPr/>
        </p:nvSpPr>
        <p:spPr>
          <a:xfrm>
            <a:off x="386746" y="2127154"/>
            <a:ext cx="7012305"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While speed is crucial, it's not the only factor in successful trading. Consider:</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Security: Is the finality of your trades trustworthy?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Liquidity: Can you execute large orders efficiently?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Cost: Are transaction fees eating into your profits?</a:t>
            </a:r>
            <a:endParaRPr sz="1600">
              <a:latin typeface="Arial"/>
              <a:ea typeface="Arial"/>
              <a:cs typeface="Arial"/>
              <a:sym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28"/>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Multi-Dimensional Comparison</a:t>
            </a:r>
            <a:endParaRPr/>
          </a:p>
        </p:txBody>
      </p:sp>
      <p:sp>
        <p:nvSpPr>
          <p:cNvPr id="1011" name="Google Shape;1011;p12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12" name="Google Shape;1012;p12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13" name="Google Shape;1013;p128"/>
          <p:cNvSpPr txBox="1"/>
          <p:nvPr/>
        </p:nvSpPr>
        <p:spPr>
          <a:xfrm>
            <a:off x="262421" y="1083638"/>
            <a:ext cx="8200390" cy="3335654"/>
          </a:xfrm>
          <a:prstGeom prst="rect">
            <a:avLst/>
          </a:prstGeom>
          <a:noFill/>
          <a:ln>
            <a:noFill/>
          </a:ln>
        </p:spPr>
        <p:txBody>
          <a:bodyPr anchorCtr="0" anchor="t" bIns="0" lIns="0" spcFirstLastPara="1" rIns="0" wrap="square" tIns="12700">
            <a:spAutoFit/>
          </a:bodyPr>
          <a:lstStyle/>
          <a:p>
            <a:pPr indent="0" lvl="0" marL="259715" rtl="0" algn="l">
              <a:lnSpc>
                <a:spcPct val="100000"/>
              </a:lnSpc>
              <a:spcBef>
                <a:spcPts val="0"/>
              </a:spcBef>
              <a:spcAft>
                <a:spcPts val="0"/>
              </a:spcAft>
              <a:buNone/>
            </a:pPr>
            <a:r>
              <a:rPr lang="en-US" sz="1400">
                <a:latin typeface="Arial"/>
                <a:ea typeface="Arial"/>
                <a:cs typeface="Arial"/>
                <a:sym typeface="Arial"/>
              </a:rPr>
              <a:t>10 Key Comparison Dimensions</a:t>
            </a:r>
            <a:endParaRPr sz="1400">
              <a:latin typeface="Arial"/>
              <a:ea typeface="Arial"/>
              <a:cs typeface="Arial"/>
              <a:sym typeface="Arial"/>
            </a:endParaRPr>
          </a:p>
          <a:p>
            <a:pPr indent="-376555" lvl="0" marL="487680" rtl="0" algn="l">
              <a:lnSpc>
                <a:spcPct val="100000"/>
              </a:lnSpc>
              <a:spcBef>
                <a:spcPts val="1450"/>
              </a:spcBef>
              <a:spcAft>
                <a:spcPts val="0"/>
              </a:spcAft>
              <a:buSzPts val="1400"/>
              <a:buFont typeface="Arial"/>
              <a:buAutoNum type="arabicPeriod"/>
            </a:pPr>
            <a:r>
              <a:rPr lang="en-US" sz="1400">
                <a:latin typeface="Arial"/>
                <a:ea typeface="Arial"/>
                <a:cs typeface="Arial"/>
                <a:sym typeface="Arial"/>
              </a:rPr>
              <a:t>Speed (finality): How quickly transactions are finalized.</a:t>
            </a:r>
            <a:endParaRPr sz="1400">
              <a:latin typeface="Arial"/>
              <a:ea typeface="Arial"/>
              <a:cs typeface="Arial"/>
              <a:sym typeface="Arial"/>
            </a:endParaRPr>
          </a:p>
          <a:p>
            <a:pPr indent="-376555" lvl="0" marL="487680" rtl="0" algn="l">
              <a:lnSpc>
                <a:spcPct val="100000"/>
              </a:lnSpc>
              <a:spcBef>
                <a:spcPts val="250"/>
              </a:spcBef>
              <a:spcAft>
                <a:spcPts val="0"/>
              </a:spcAft>
              <a:buSzPts val="1400"/>
              <a:buFont typeface="Arial"/>
              <a:buAutoNum type="arabicPeriod"/>
            </a:pPr>
            <a:r>
              <a:rPr lang="en-US" sz="1400">
                <a:latin typeface="Arial"/>
                <a:ea typeface="Arial"/>
                <a:cs typeface="Arial"/>
                <a:sym typeface="Arial"/>
              </a:rPr>
              <a:t>Throughput (TPS): The number of transactions processed per second.</a:t>
            </a:r>
            <a:endParaRPr sz="1400">
              <a:latin typeface="Arial"/>
              <a:ea typeface="Arial"/>
              <a:cs typeface="Arial"/>
              <a:sym typeface="Arial"/>
            </a:endParaRPr>
          </a:p>
          <a:p>
            <a:pPr indent="-376555" lvl="0" marL="487680" rtl="0" algn="l">
              <a:lnSpc>
                <a:spcPct val="100000"/>
              </a:lnSpc>
              <a:spcBef>
                <a:spcPts val="254"/>
              </a:spcBef>
              <a:spcAft>
                <a:spcPts val="0"/>
              </a:spcAft>
              <a:buSzPts val="1400"/>
              <a:buFont typeface="Arial"/>
              <a:buAutoNum type="arabicPeriod"/>
            </a:pPr>
            <a:r>
              <a:rPr lang="en-US" sz="1400">
                <a:latin typeface="Arial"/>
                <a:ea typeface="Arial"/>
                <a:cs typeface="Arial"/>
                <a:sym typeface="Arial"/>
              </a:rPr>
              <a:t>Security (track record): The historical security performance of the network.</a:t>
            </a:r>
            <a:endParaRPr sz="1400">
              <a:latin typeface="Arial"/>
              <a:ea typeface="Arial"/>
              <a:cs typeface="Arial"/>
              <a:sym typeface="Arial"/>
            </a:endParaRPr>
          </a:p>
          <a:p>
            <a:pPr indent="-376555" lvl="0" marL="487680" rtl="0" algn="l">
              <a:lnSpc>
                <a:spcPct val="100000"/>
              </a:lnSpc>
              <a:spcBef>
                <a:spcPts val="250"/>
              </a:spcBef>
              <a:spcAft>
                <a:spcPts val="0"/>
              </a:spcAft>
              <a:buSzPts val="1400"/>
              <a:buFont typeface="Arial"/>
              <a:buAutoNum type="arabicPeriod"/>
            </a:pPr>
            <a:r>
              <a:rPr lang="en-US" sz="1400">
                <a:latin typeface="Arial"/>
                <a:ea typeface="Arial"/>
                <a:cs typeface="Arial"/>
                <a:sym typeface="Arial"/>
              </a:rPr>
              <a:t>Decentralization (validators): The degree of decentralization based on the number of validators.</a:t>
            </a:r>
            <a:endParaRPr sz="1400">
              <a:latin typeface="Arial"/>
              <a:ea typeface="Arial"/>
              <a:cs typeface="Arial"/>
              <a:sym typeface="Arial"/>
            </a:endParaRPr>
          </a:p>
          <a:p>
            <a:pPr indent="-377190" lvl="0" marL="488315" marR="5080" rtl="0" algn="l">
              <a:lnSpc>
                <a:spcPct val="114999"/>
              </a:lnSpc>
              <a:spcBef>
                <a:spcPts val="0"/>
              </a:spcBef>
              <a:spcAft>
                <a:spcPts val="0"/>
              </a:spcAft>
              <a:buSzPts val="1400"/>
              <a:buFont typeface="Arial"/>
              <a:buAutoNum type="arabicPeriod"/>
            </a:pPr>
            <a:r>
              <a:rPr lang="en-US" sz="1400">
                <a:latin typeface="Arial"/>
                <a:ea typeface="Arial"/>
                <a:cs typeface="Arial"/>
                <a:sym typeface="Arial"/>
              </a:rPr>
              <a:t>DeFi Capability (smart contracts): The ability to support decentralized finance applications through smart contracts.</a:t>
            </a:r>
            <a:endParaRPr sz="1400">
              <a:latin typeface="Arial"/>
              <a:ea typeface="Arial"/>
              <a:cs typeface="Arial"/>
              <a:sym typeface="Arial"/>
            </a:endParaRPr>
          </a:p>
          <a:p>
            <a:pPr indent="-377190" lvl="0" marL="488315" marR="106679" rtl="0" algn="l">
              <a:lnSpc>
                <a:spcPct val="114999"/>
              </a:lnSpc>
              <a:spcBef>
                <a:spcPts val="0"/>
              </a:spcBef>
              <a:spcAft>
                <a:spcPts val="0"/>
              </a:spcAft>
              <a:buSzPts val="1400"/>
              <a:buFont typeface="Arial"/>
              <a:buAutoNum type="arabicPeriod"/>
            </a:pPr>
            <a:r>
              <a:rPr lang="en-US" sz="1400">
                <a:latin typeface="Arial"/>
                <a:ea typeface="Arial"/>
                <a:cs typeface="Arial"/>
                <a:sym typeface="Arial"/>
              </a:rPr>
              <a:t>Liquidity Depth (volume/TVL): The extent of liquidity, measured by trading volume and total value locked.</a:t>
            </a:r>
            <a:endParaRPr sz="1400">
              <a:latin typeface="Arial"/>
              <a:ea typeface="Arial"/>
              <a:cs typeface="Arial"/>
              <a:sym typeface="Arial"/>
            </a:endParaRPr>
          </a:p>
          <a:p>
            <a:pPr indent="-376555" lvl="0" marL="487680" rtl="0" algn="l">
              <a:lnSpc>
                <a:spcPct val="100000"/>
              </a:lnSpc>
              <a:spcBef>
                <a:spcPts val="254"/>
              </a:spcBef>
              <a:spcAft>
                <a:spcPts val="0"/>
              </a:spcAft>
              <a:buSzPts val="1400"/>
              <a:buFont typeface="Arial"/>
              <a:buAutoNum type="arabicPeriod"/>
            </a:pPr>
            <a:r>
              <a:rPr lang="en-US" sz="1400">
                <a:latin typeface="Arial"/>
                <a:ea typeface="Arial"/>
                <a:cs typeface="Arial"/>
                <a:sym typeface="Arial"/>
              </a:rPr>
              <a:t>Trading Venues Available: The number of platforms where the asset can be traded.</a:t>
            </a:r>
            <a:endParaRPr sz="1400">
              <a:latin typeface="Arial"/>
              <a:ea typeface="Arial"/>
              <a:cs typeface="Arial"/>
              <a:sym typeface="Arial"/>
            </a:endParaRPr>
          </a:p>
          <a:p>
            <a:pPr indent="-376555" lvl="0" marL="487680" rtl="0" algn="l">
              <a:lnSpc>
                <a:spcPct val="100000"/>
              </a:lnSpc>
              <a:spcBef>
                <a:spcPts val="250"/>
              </a:spcBef>
              <a:spcAft>
                <a:spcPts val="0"/>
              </a:spcAft>
              <a:buSzPts val="1400"/>
              <a:buFont typeface="Arial"/>
              <a:buAutoNum type="arabicPeriod"/>
            </a:pPr>
            <a:r>
              <a:rPr lang="en-US" sz="1400">
                <a:latin typeface="Arial"/>
                <a:ea typeface="Arial"/>
                <a:cs typeface="Arial"/>
                <a:sym typeface="Arial"/>
              </a:rPr>
              <a:t>Bridge Availability: The presence of bridges for cross-chain transfers.</a:t>
            </a:r>
            <a:endParaRPr sz="1400">
              <a:latin typeface="Arial"/>
              <a:ea typeface="Arial"/>
              <a:cs typeface="Arial"/>
              <a:sym typeface="Arial"/>
            </a:endParaRPr>
          </a:p>
          <a:p>
            <a:pPr indent="-376555" lvl="0" marL="487680" rtl="0" algn="l">
              <a:lnSpc>
                <a:spcPct val="100000"/>
              </a:lnSpc>
              <a:spcBef>
                <a:spcPts val="250"/>
              </a:spcBef>
              <a:spcAft>
                <a:spcPts val="0"/>
              </a:spcAft>
              <a:buSzPts val="1400"/>
              <a:buFont typeface="Arial"/>
              <a:buAutoNum type="arabicPeriod"/>
            </a:pPr>
            <a:r>
              <a:rPr lang="en-US" sz="1400">
                <a:latin typeface="Arial"/>
                <a:ea typeface="Arial"/>
                <a:cs typeface="Arial"/>
                <a:sym typeface="Arial"/>
              </a:rPr>
              <a:t>Network Stability (uptime): The reliability and consistent operation of the network.</a:t>
            </a:r>
            <a:endParaRPr sz="1400">
              <a:latin typeface="Arial"/>
              <a:ea typeface="Arial"/>
              <a:cs typeface="Arial"/>
              <a:sym typeface="Arial"/>
            </a:endParaRPr>
          </a:p>
          <a:p>
            <a:pPr indent="-474980" lvl="0" marL="487680" rtl="0" algn="l">
              <a:lnSpc>
                <a:spcPct val="100000"/>
              </a:lnSpc>
              <a:spcBef>
                <a:spcPts val="254"/>
              </a:spcBef>
              <a:spcAft>
                <a:spcPts val="0"/>
              </a:spcAft>
              <a:buSzPts val="1400"/>
              <a:buFont typeface="Arial"/>
              <a:buAutoNum type="arabicPeriod"/>
            </a:pPr>
            <a:r>
              <a:rPr lang="en-US" sz="1400">
                <a:latin typeface="Arial"/>
                <a:ea typeface="Arial"/>
                <a:cs typeface="Arial"/>
                <a:sym typeface="Arial"/>
              </a:rPr>
              <a:t>Transaction Cost (fees): The fees associated with each transaction.</a:t>
            </a:r>
            <a:endParaRPr sz="1400">
              <a:latin typeface="Arial"/>
              <a:ea typeface="Arial"/>
              <a:cs typeface="Arial"/>
              <a:sym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29"/>
          <p:cNvSpPr txBox="1"/>
          <p:nvPr>
            <p:ph type="title"/>
          </p:nvPr>
        </p:nvSpPr>
        <p:spPr>
          <a:xfrm>
            <a:off x="1980183" y="2266442"/>
            <a:ext cx="51790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LIVE DEMO: Notebook D</a:t>
            </a:r>
            <a:endParaRPr sz="3600"/>
          </a:p>
        </p:txBody>
      </p:sp>
      <p:sp>
        <p:nvSpPr>
          <p:cNvPr id="1019" name="Google Shape;1019;p12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20" name="Google Shape;1020;p12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30"/>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Live Notebook Demo: Architecture Scoring</a:t>
            </a:r>
            <a:endParaRPr/>
          </a:p>
        </p:txBody>
      </p:sp>
      <p:sp>
        <p:nvSpPr>
          <p:cNvPr id="1026" name="Google Shape;1026;p13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27" name="Google Shape;1027;p13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28" name="Google Shape;1028;p130"/>
          <p:cNvSpPr txBox="1"/>
          <p:nvPr/>
        </p:nvSpPr>
        <p:spPr>
          <a:xfrm>
            <a:off x="386746" y="1777747"/>
            <a:ext cx="5345430"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Notebook D: Multi-Dimensional Scoring</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Scores blockchains across 10 performance dimensions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Uses real, dynamic data (not assumptions)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Generates radar charts and comparative visuals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Computes trading suitability per strategy</a:t>
            </a:r>
            <a:endParaRPr sz="1600">
              <a:latin typeface="Arial"/>
              <a:ea typeface="Arial"/>
              <a:cs typeface="Arial"/>
              <a:sym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3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Live Notebook Demo: Architecture Scoring</a:t>
            </a:r>
            <a:endParaRPr/>
          </a:p>
        </p:txBody>
      </p:sp>
      <p:sp>
        <p:nvSpPr>
          <p:cNvPr id="1034" name="Google Shape;1034;p13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35" name="Google Shape;1035;p13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36" name="Google Shape;1036;p131"/>
          <p:cNvSpPr txBox="1"/>
          <p:nvPr/>
        </p:nvSpPr>
        <p:spPr>
          <a:xfrm>
            <a:off x="280850" y="1417597"/>
            <a:ext cx="8265795" cy="225679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Key Visuals &amp; Learning Points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Radar charts: Illustrate 10-dimensional profiles.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Bar charts: Rank dimensions individually.</a:t>
            </a:r>
            <a:endParaRPr sz="1600">
              <a:latin typeface="Arial"/>
              <a:ea typeface="Arial"/>
              <a:cs typeface="Arial"/>
              <a:sym typeface="Arial"/>
            </a:endParaRPr>
          </a:p>
          <a:p>
            <a:pPr indent="-351155" lvl="0" marL="469265" rtl="0" algn="l">
              <a:lnSpc>
                <a:spcPct val="100000"/>
              </a:lnSpc>
              <a:spcBef>
                <a:spcPts val="285"/>
              </a:spcBef>
              <a:spcAft>
                <a:spcPts val="0"/>
              </a:spcAft>
              <a:buSzPts val="1600"/>
              <a:buFont typeface="Arial"/>
              <a:buChar char="●"/>
            </a:pPr>
            <a:r>
              <a:rPr lang="en-US" sz="1600">
                <a:latin typeface="Arial"/>
                <a:ea typeface="Arial"/>
                <a:cs typeface="Arial"/>
                <a:sym typeface="Arial"/>
              </a:rPr>
              <a:t>Heatmaps: Show suitability between strategy and blockchain.</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Learn to apply weighting methods for priorities.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Understand that data-driven scoring is goal-dependent, with no single "best" approach.</a:t>
            </a:r>
            <a:endParaRPr sz="1600">
              <a:latin typeface="Arial"/>
              <a:ea typeface="Arial"/>
              <a:cs typeface="Arial"/>
              <a:sym typeface="Arial"/>
            </a:endParaRPr>
          </a:p>
          <a:p>
            <a:pPr indent="0" lvl="0" marL="12700" rtl="0" algn="l">
              <a:lnSpc>
                <a:spcPct val="100000"/>
              </a:lnSpc>
              <a:spcBef>
                <a:spcPts val="1485"/>
              </a:spcBef>
              <a:spcAft>
                <a:spcPts val="0"/>
              </a:spcAft>
              <a:buNone/>
            </a:pPr>
            <a:r>
              <a:rPr lang="en-US" sz="1600">
                <a:latin typeface="Arial"/>
                <a:ea typeface="Arial"/>
                <a:cs typeface="Arial"/>
                <a:sym typeface="Arial"/>
              </a:rPr>
              <a:t>Let's transition to Jupyter and execute Notebook D!</a:t>
            </a:r>
            <a:endParaRPr sz="1600">
              <a:latin typeface="Arial"/>
              <a:ea typeface="Arial"/>
              <a:cs typeface="Arial"/>
              <a:sym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32"/>
          <p:cNvSpPr txBox="1"/>
          <p:nvPr>
            <p:ph type="title"/>
          </p:nvPr>
        </p:nvSpPr>
        <p:spPr>
          <a:xfrm>
            <a:off x="1094692" y="2266442"/>
            <a:ext cx="694880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Architecture Evolution: The Future</a:t>
            </a:r>
            <a:endParaRPr sz="3600"/>
          </a:p>
        </p:txBody>
      </p:sp>
      <p:sp>
        <p:nvSpPr>
          <p:cNvPr id="1042" name="Google Shape;1042;p13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43" name="Google Shape;1043;p13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3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Architecture Evolution: The Future</a:t>
            </a:r>
            <a:endParaRPr/>
          </a:p>
        </p:txBody>
      </p:sp>
      <p:sp>
        <p:nvSpPr>
          <p:cNvPr id="1049" name="Google Shape;1049;p13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50" name="Google Shape;1050;p13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51" name="Google Shape;1051;p133"/>
          <p:cNvSpPr txBox="1"/>
          <p:nvPr/>
        </p:nvSpPr>
        <p:spPr>
          <a:xfrm>
            <a:off x="290375" y="1133488"/>
            <a:ext cx="6180455" cy="3347720"/>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400">
                <a:latin typeface="Arial"/>
                <a:ea typeface="Arial"/>
                <a:cs typeface="Arial"/>
                <a:sym typeface="Arial"/>
              </a:rPr>
              <a:t>Bitcoin: Layer 2 Focus</a:t>
            </a:r>
            <a:endParaRPr sz="1400">
              <a:latin typeface="Arial"/>
              <a:ea typeface="Arial"/>
              <a:cs typeface="Arial"/>
              <a:sym typeface="Arial"/>
            </a:endParaRPr>
          </a:p>
          <a:p>
            <a:pPr indent="-335915" lvl="0" marL="469265" rtl="0" algn="l">
              <a:lnSpc>
                <a:spcPct val="100000"/>
              </a:lnSpc>
              <a:spcBef>
                <a:spcPts val="1200"/>
              </a:spcBef>
              <a:spcAft>
                <a:spcPts val="0"/>
              </a:spcAft>
              <a:buSzPts val="1400"/>
              <a:buFont typeface="Arial"/>
              <a:buChar char="●"/>
            </a:pPr>
            <a:r>
              <a:rPr lang="en-US" sz="1400">
                <a:latin typeface="Arial"/>
                <a:ea typeface="Arial"/>
                <a:cs typeface="Arial"/>
                <a:sym typeface="Arial"/>
              </a:rPr>
              <a:t>Lightning Network: Enables instant and low-cost payments.</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Taproot: Lays the groundwork for enhanced privacy and smart contracts.</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Ordinals/NFTs: A controversial area of growth on the Bitcoin network.</a:t>
            </a:r>
            <a:endParaRPr sz="1400">
              <a:latin typeface="Arial"/>
              <a:ea typeface="Arial"/>
              <a:cs typeface="Arial"/>
              <a:sym typeface="Arial"/>
            </a:endParaRPr>
          </a:p>
          <a:p>
            <a:pPr indent="0" lvl="0" marL="12700" rtl="0" algn="l">
              <a:lnSpc>
                <a:spcPct val="100000"/>
              </a:lnSpc>
              <a:spcBef>
                <a:spcPts val="1200"/>
              </a:spcBef>
              <a:spcAft>
                <a:spcPts val="0"/>
              </a:spcAft>
              <a:buNone/>
            </a:pPr>
            <a:r>
              <a:rPr lang="en-US" sz="1400">
                <a:latin typeface="Arial"/>
                <a:ea typeface="Arial"/>
                <a:cs typeface="Arial"/>
                <a:sym typeface="Arial"/>
              </a:rPr>
              <a:t>Ethereum: Scaling with Layer 2s and Sharding</a:t>
            </a:r>
            <a:endParaRPr sz="1400">
              <a:latin typeface="Arial"/>
              <a:ea typeface="Arial"/>
              <a:cs typeface="Arial"/>
              <a:sym typeface="Arial"/>
            </a:endParaRPr>
          </a:p>
          <a:p>
            <a:pPr indent="-335915" lvl="0" marL="469265" rtl="0" algn="l">
              <a:lnSpc>
                <a:spcPct val="100000"/>
              </a:lnSpc>
              <a:spcBef>
                <a:spcPts val="1200"/>
              </a:spcBef>
              <a:spcAft>
                <a:spcPts val="0"/>
              </a:spcAft>
              <a:buSzPts val="1400"/>
              <a:buFont typeface="Arial"/>
              <a:buChar char="●"/>
            </a:pPr>
            <a:r>
              <a:rPr lang="en-US" sz="1400">
                <a:latin typeface="Arial"/>
                <a:ea typeface="Arial"/>
                <a:cs typeface="Arial"/>
                <a:sym typeface="Arial"/>
              </a:rPr>
              <a:t>Rollups: Key solutions include Arbitrum, Optimism, and zkSync.</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Proto-danksharding: Aims to reduce data costs for Layer 2 solutions.</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Long-term Target: Achieve over 100,000 transactions per second (TPS).</a:t>
            </a:r>
            <a:endParaRPr sz="1400">
              <a:latin typeface="Arial"/>
              <a:ea typeface="Arial"/>
              <a:cs typeface="Arial"/>
              <a:sym typeface="Arial"/>
            </a:endParaRPr>
          </a:p>
          <a:p>
            <a:pPr indent="0" lvl="0" marL="12700" rtl="0" algn="l">
              <a:lnSpc>
                <a:spcPct val="100000"/>
              </a:lnSpc>
              <a:spcBef>
                <a:spcPts val="1200"/>
              </a:spcBef>
              <a:spcAft>
                <a:spcPts val="0"/>
              </a:spcAft>
              <a:buNone/>
            </a:pPr>
            <a:r>
              <a:rPr lang="en-US" sz="1400">
                <a:latin typeface="Arial"/>
                <a:ea typeface="Arial"/>
                <a:cs typeface="Arial"/>
                <a:sym typeface="Arial"/>
              </a:rPr>
              <a:t>Solana: Stability and Performance</a:t>
            </a:r>
            <a:endParaRPr sz="1400">
              <a:latin typeface="Arial"/>
              <a:ea typeface="Arial"/>
              <a:cs typeface="Arial"/>
              <a:sym typeface="Arial"/>
            </a:endParaRPr>
          </a:p>
          <a:p>
            <a:pPr indent="-335915" lvl="0" marL="469265" rtl="0" algn="l">
              <a:lnSpc>
                <a:spcPct val="100000"/>
              </a:lnSpc>
              <a:spcBef>
                <a:spcPts val="1200"/>
              </a:spcBef>
              <a:spcAft>
                <a:spcPts val="0"/>
              </a:spcAft>
              <a:buSzPts val="1400"/>
              <a:buFont typeface="Arial"/>
              <a:buChar char="●"/>
            </a:pPr>
            <a:r>
              <a:rPr lang="en-US" sz="1400">
                <a:latin typeface="Arial"/>
                <a:ea typeface="Arial"/>
                <a:cs typeface="Arial"/>
                <a:sym typeface="Arial"/>
              </a:rPr>
              <a:t>Firedancer Validator Client: Developed by Jump Crypto.</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Target: Reach over 1 million TPS through parallel execution.</a:t>
            </a:r>
            <a:endParaRPr sz="1400">
              <a:latin typeface="Arial"/>
              <a:ea typeface="Arial"/>
              <a:cs typeface="Arial"/>
              <a:sym typeface="Arial"/>
            </a:endParaRPr>
          </a:p>
          <a:p>
            <a:pPr indent="-335915" lvl="0" marL="469265" rtl="0" algn="l">
              <a:lnSpc>
                <a:spcPct val="100000"/>
              </a:lnSpc>
              <a:spcBef>
                <a:spcPts val="0"/>
              </a:spcBef>
              <a:spcAft>
                <a:spcPts val="0"/>
              </a:spcAft>
              <a:buSzPts val="1400"/>
              <a:buFont typeface="Arial"/>
              <a:buChar char="●"/>
            </a:pPr>
            <a:r>
              <a:rPr lang="en-US" sz="1400">
                <a:latin typeface="Arial"/>
                <a:ea typeface="Arial"/>
                <a:cs typeface="Arial"/>
                <a:sym typeface="Arial"/>
              </a:rPr>
              <a:t>Goal: Enhance decentralization and resilience of the network.</a:t>
            </a:r>
            <a:endParaRPr sz="1400">
              <a:latin typeface="Arial"/>
              <a:ea typeface="Arial"/>
              <a:cs typeface="Arial"/>
              <a:sym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34"/>
          <p:cNvSpPr txBox="1"/>
          <p:nvPr>
            <p:ph type="title"/>
          </p:nvPr>
        </p:nvSpPr>
        <p:spPr>
          <a:xfrm>
            <a:off x="2251310" y="2266442"/>
            <a:ext cx="463804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Wrap-Up &amp; Next Steps</a:t>
            </a:r>
            <a:endParaRPr sz="3600"/>
          </a:p>
        </p:txBody>
      </p:sp>
      <p:sp>
        <p:nvSpPr>
          <p:cNvPr id="1057" name="Google Shape;1057;p13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58" name="Google Shape;1058;p13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35"/>
          <p:cNvSpPr txBox="1"/>
          <p:nvPr>
            <p:ph type="title"/>
          </p:nvPr>
        </p:nvSpPr>
        <p:spPr>
          <a:xfrm>
            <a:off x="384725" y="505248"/>
            <a:ext cx="224345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Key Takeaways</a:t>
            </a:r>
            <a:endParaRPr/>
          </a:p>
        </p:txBody>
      </p:sp>
      <p:sp>
        <p:nvSpPr>
          <p:cNvPr id="1064" name="Google Shape;1064;p135"/>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65" name="Google Shape;1065;p135"/>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66" name="Google Shape;1066;p135"/>
          <p:cNvSpPr txBox="1"/>
          <p:nvPr/>
        </p:nvSpPr>
        <p:spPr>
          <a:xfrm>
            <a:off x="518975" y="1199046"/>
            <a:ext cx="342392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Architecture Determines Performance</a:t>
            </a:r>
            <a:endParaRPr sz="1600">
              <a:latin typeface="Arial"/>
              <a:ea typeface="Arial"/>
              <a:cs typeface="Arial"/>
              <a:sym typeface="Arial"/>
            </a:endParaRPr>
          </a:p>
        </p:txBody>
      </p:sp>
      <p:sp>
        <p:nvSpPr>
          <p:cNvPr id="1067" name="Google Shape;1067;p135"/>
          <p:cNvSpPr txBox="1"/>
          <p:nvPr/>
        </p:nvSpPr>
        <p:spPr>
          <a:xfrm>
            <a:off x="396271" y="2064679"/>
            <a:ext cx="8243570" cy="1823720"/>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Different blockchain architectures offer varying performance characteristics:</a:t>
            </a:r>
            <a:endParaRPr sz="1600">
              <a:latin typeface="Arial"/>
              <a:ea typeface="Arial"/>
              <a:cs typeface="Arial"/>
              <a:sym typeface="Arial"/>
            </a:endParaRPr>
          </a:p>
          <a:p>
            <a:pPr indent="-351790" lvl="0" marL="363855" marR="330835" rtl="0" algn="l">
              <a:lnSpc>
                <a:spcPct val="114999"/>
              </a:lnSpc>
              <a:spcBef>
                <a:spcPts val="1200"/>
              </a:spcBef>
              <a:spcAft>
                <a:spcPts val="0"/>
              </a:spcAft>
              <a:buSzPts val="1600"/>
              <a:buFont typeface="Arial"/>
              <a:buChar char="●"/>
            </a:pPr>
            <a:r>
              <a:rPr lang="en-US" sz="1600">
                <a:latin typeface="Arial"/>
                <a:ea typeface="Arial"/>
                <a:cs typeface="Arial"/>
                <a:sym typeface="Arial"/>
              </a:rPr>
              <a:t>UTXO (Unspent Transaction Output): Known for its security and simplicity, but offers lower transaction throughput (e.g., Bitcoin).</a:t>
            </a:r>
            <a:endParaRPr sz="1600">
              <a:latin typeface="Arial"/>
              <a:ea typeface="Arial"/>
              <a:cs typeface="Arial"/>
              <a:sym typeface="Arial"/>
            </a:endParaRPr>
          </a:p>
          <a:p>
            <a:pPr indent="-351790" lvl="0" marL="363855" marR="255904" rtl="0" algn="l">
              <a:lnSpc>
                <a:spcPct val="114999"/>
              </a:lnSpc>
              <a:spcBef>
                <a:spcPts val="0"/>
              </a:spcBef>
              <a:spcAft>
                <a:spcPts val="0"/>
              </a:spcAft>
              <a:buSzPts val="1600"/>
              <a:buFont typeface="Arial"/>
              <a:buChar char="●"/>
            </a:pPr>
            <a:r>
              <a:rPr lang="en-US" sz="1600">
                <a:latin typeface="Arial"/>
                <a:ea typeface="Arial"/>
                <a:cs typeface="Arial"/>
                <a:sym typeface="Arial"/>
              </a:rPr>
              <a:t>EVM (Ethereum Virtual Machine): Provides programmability and moderate scalability (e.g., Ethereum).</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Parallel Execution: A newer technology enabling high-speed transactions (e.g., Solana).</a:t>
            </a:r>
            <a:endParaRPr sz="1600">
              <a:latin typeface="Arial"/>
              <a:ea typeface="Arial"/>
              <a:cs typeface="Arial"/>
              <a:sym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36"/>
          <p:cNvSpPr txBox="1"/>
          <p:nvPr>
            <p:ph type="title"/>
          </p:nvPr>
        </p:nvSpPr>
        <p:spPr>
          <a:xfrm>
            <a:off x="384725" y="505248"/>
            <a:ext cx="224345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Key Takeaways</a:t>
            </a:r>
            <a:endParaRPr/>
          </a:p>
        </p:txBody>
      </p:sp>
      <p:sp>
        <p:nvSpPr>
          <p:cNvPr id="1073" name="Google Shape;1073;p136"/>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74" name="Google Shape;1074;p136"/>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75" name="Google Shape;1075;p136"/>
          <p:cNvSpPr txBox="1"/>
          <p:nvPr/>
        </p:nvSpPr>
        <p:spPr>
          <a:xfrm>
            <a:off x="386746" y="1777747"/>
            <a:ext cx="8094980"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Performance Dictates Strategy</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Bitcoin: Approximately 60-minute finality, preventing fast arbitrage.</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Ethereum: Approximately 6.4-minute finality, enabling decentralized finance (DeFi).</a:t>
            </a:r>
            <a:endParaRPr sz="1600">
              <a:latin typeface="Arial"/>
              <a:ea typeface="Arial"/>
              <a:cs typeface="Arial"/>
              <a:sym typeface="Arial"/>
            </a:endParaRPr>
          </a:p>
          <a:p>
            <a:pPr indent="-351790" lvl="0" marL="363855" marR="5080" rtl="0" algn="l">
              <a:lnSpc>
                <a:spcPct val="114999"/>
              </a:lnSpc>
              <a:spcBef>
                <a:spcPts val="0"/>
              </a:spcBef>
              <a:spcAft>
                <a:spcPts val="0"/>
              </a:spcAft>
              <a:buSzPts val="1600"/>
              <a:buFont typeface="Arial"/>
              <a:buChar char="●"/>
            </a:pPr>
            <a:r>
              <a:rPr lang="en-US" sz="1600">
                <a:latin typeface="Arial"/>
                <a:ea typeface="Arial"/>
                <a:cs typeface="Arial"/>
                <a:sym typeface="Arial"/>
              </a:rPr>
              <a:t>Solana: Approximately 13-second finality, facilitating high-frequency trading (HFT) and arbitrage.</a:t>
            </a:r>
            <a:endParaRPr sz="1600">
              <a:latin typeface="Arial"/>
              <a:ea typeface="Arial"/>
              <a:cs typeface="Arial"/>
              <a:sym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37"/>
          <p:cNvSpPr txBox="1"/>
          <p:nvPr>
            <p:ph type="title"/>
          </p:nvPr>
        </p:nvSpPr>
        <p:spPr>
          <a:xfrm>
            <a:off x="384725" y="505248"/>
            <a:ext cx="224345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Key Takeaways</a:t>
            </a:r>
            <a:endParaRPr/>
          </a:p>
        </p:txBody>
      </p:sp>
      <p:sp>
        <p:nvSpPr>
          <p:cNvPr id="1081" name="Google Shape;1081;p137"/>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82" name="Google Shape;1082;p137"/>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83" name="Google Shape;1083;p137"/>
          <p:cNvSpPr txBox="1"/>
          <p:nvPr/>
        </p:nvSpPr>
        <p:spPr>
          <a:xfrm>
            <a:off x="518975" y="1482247"/>
            <a:ext cx="2550795"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No Single "Best" Blockchain</a:t>
            </a:r>
            <a:endParaRPr sz="1600">
              <a:latin typeface="Arial"/>
              <a:ea typeface="Arial"/>
              <a:cs typeface="Arial"/>
              <a:sym typeface="Arial"/>
            </a:endParaRPr>
          </a:p>
        </p:txBody>
      </p:sp>
      <p:sp>
        <p:nvSpPr>
          <p:cNvPr id="1084" name="Google Shape;1084;p137"/>
          <p:cNvSpPr txBox="1"/>
          <p:nvPr/>
        </p:nvSpPr>
        <p:spPr>
          <a:xfrm>
            <a:off x="396271" y="2347879"/>
            <a:ext cx="6502400"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The optimal blockchain choice is dictated by its intended use:</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Bitcoin: Prioritizes security and serves as a store of value.</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Ethereum: Excels in decentralized finance (DeFi) and composability.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Solana: Offers high speed and low transaction fees.</a:t>
            </a:r>
            <a:endParaRPr sz="1600">
              <a:latin typeface="Arial"/>
              <a:ea typeface="Arial"/>
              <a:cs typeface="Arial"/>
              <a:sym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38"/>
          <p:cNvSpPr txBox="1"/>
          <p:nvPr>
            <p:ph type="title"/>
          </p:nvPr>
        </p:nvSpPr>
        <p:spPr>
          <a:xfrm>
            <a:off x="384725" y="505248"/>
            <a:ext cx="224345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Key Takeaways</a:t>
            </a:r>
            <a:endParaRPr/>
          </a:p>
        </p:txBody>
      </p:sp>
      <p:sp>
        <p:nvSpPr>
          <p:cNvPr id="1090" name="Google Shape;1090;p138"/>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91" name="Google Shape;1091;p138"/>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092" name="Google Shape;1092;p138"/>
          <p:cNvSpPr txBox="1"/>
          <p:nvPr/>
        </p:nvSpPr>
        <p:spPr>
          <a:xfrm>
            <a:off x="396271" y="1817397"/>
            <a:ext cx="7155180" cy="126301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Prioritize Real Data Over Assumptions</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Disregard marketing claims (e.g., "65k TPS!").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Verify actual performance: fees, transactions per second (TPS), and finality.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Utilize explorers, RPCs, and measurement tools for verification.</a:t>
            </a:r>
            <a:endParaRPr sz="1600">
              <a:latin typeface="Arial"/>
              <a:ea typeface="Arial"/>
              <a:cs typeface="Arial"/>
              <a:sym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39"/>
          <p:cNvSpPr txBox="1"/>
          <p:nvPr>
            <p:ph type="title"/>
          </p:nvPr>
        </p:nvSpPr>
        <p:spPr>
          <a:xfrm>
            <a:off x="384725" y="505248"/>
            <a:ext cx="224345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Key Takeaways</a:t>
            </a:r>
            <a:endParaRPr/>
          </a:p>
        </p:txBody>
      </p:sp>
      <p:sp>
        <p:nvSpPr>
          <p:cNvPr id="1098" name="Google Shape;1098;p139"/>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099" name="Google Shape;1099;p139"/>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100" name="Google Shape;1100;p139"/>
          <p:cNvSpPr txBox="1"/>
          <p:nvPr/>
        </p:nvSpPr>
        <p:spPr>
          <a:xfrm>
            <a:off x="290375" y="1700796"/>
            <a:ext cx="4363720" cy="1543685"/>
          </a:xfrm>
          <a:prstGeom prst="rect">
            <a:avLst/>
          </a:prstGeom>
          <a:noFill/>
          <a:ln>
            <a:noFill/>
          </a:ln>
        </p:spPr>
        <p:txBody>
          <a:bodyPr anchorCtr="0" anchor="t" bIns="0" lIns="0" spcFirstLastPara="1" rIns="0" wrap="square" tIns="12700">
            <a:spAutoFit/>
          </a:bodyPr>
          <a:lstStyle/>
          <a:p>
            <a:pPr indent="0" lvl="0" marL="241300" rtl="0" algn="l">
              <a:lnSpc>
                <a:spcPct val="100000"/>
              </a:lnSpc>
              <a:spcBef>
                <a:spcPts val="0"/>
              </a:spcBef>
              <a:spcAft>
                <a:spcPts val="0"/>
              </a:spcAft>
              <a:buNone/>
            </a:pPr>
            <a:r>
              <a:rPr lang="en-US" sz="1600">
                <a:latin typeface="Arial"/>
                <a:ea typeface="Arial"/>
                <a:cs typeface="Arial"/>
                <a:sym typeface="Arial"/>
              </a:rPr>
              <a:t>Tools Matter</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Jupyter notebooks for live data analysis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RPC queries for real-time chain insights</a:t>
            </a:r>
            <a:endParaRPr sz="1600">
              <a:latin typeface="Arial"/>
              <a:ea typeface="Arial"/>
              <a:cs typeface="Arial"/>
              <a:sym typeface="Arial"/>
            </a:endParaRPr>
          </a:p>
          <a:p>
            <a:pPr indent="-456565" lvl="0" marL="469265" marR="5080" rtl="0" algn="l">
              <a:lnSpc>
                <a:spcPct val="114999"/>
              </a:lnSpc>
              <a:spcBef>
                <a:spcPts val="0"/>
              </a:spcBef>
              <a:spcAft>
                <a:spcPts val="0"/>
              </a:spcAft>
              <a:buSzPts val="1600"/>
              <a:buFont typeface="Arial"/>
              <a:buChar char="●"/>
            </a:pPr>
            <a:r>
              <a:rPr lang="en-US" sz="1600">
                <a:latin typeface="Arial"/>
                <a:ea typeface="Arial"/>
                <a:cs typeface="Arial"/>
                <a:sym typeface="Arial"/>
              </a:rPr>
              <a:t>Visualizations to reveal trends and patterns Architecture drives trading outcomes!</a:t>
            </a:r>
            <a:endParaRPr sz="1600">
              <a:latin typeface="Arial"/>
              <a:ea typeface="Arial"/>
              <a:cs typeface="Arial"/>
              <a:sym typeface="Aria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40"/>
          <p:cNvSpPr txBox="1"/>
          <p:nvPr>
            <p:ph type="title"/>
          </p:nvPr>
        </p:nvSpPr>
        <p:spPr>
          <a:xfrm>
            <a:off x="2069256" y="2266442"/>
            <a:ext cx="500253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Next Steps &amp; Homework</a:t>
            </a:r>
            <a:endParaRPr sz="3600"/>
          </a:p>
        </p:txBody>
      </p:sp>
      <p:sp>
        <p:nvSpPr>
          <p:cNvPr id="1106" name="Google Shape;1106;p140"/>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107" name="Google Shape;1107;p140"/>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41"/>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Next Steps &amp; Homework</a:t>
            </a:r>
            <a:endParaRPr/>
          </a:p>
        </p:txBody>
      </p:sp>
      <p:sp>
        <p:nvSpPr>
          <p:cNvPr id="1113" name="Google Shape;1113;p141"/>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114" name="Google Shape;1114;p141"/>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115" name="Google Shape;1115;p141"/>
          <p:cNvSpPr txBox="1"/>
          <p:nvPr/>
        </p:nvSpPr>
        <p:spPr>
          <a:xfrm>
            <a:off x="396271" y="1817397"/>
            <a:ext cx="5768975" cy="154368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Homework Assignment</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Run all 4 notebooks independently.</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Modify parameters to explore different blockchains.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Analyze behavior during high volatility periods.</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Determine which blockchain best suits your trading strategy.</a:t>
            </a:r>
            <a:endParaRPr sz="1600">
              <a:latin typeface="Arial"/>
              <a:ea typeface="Arial"/>
              <a:cs typeface="Arial"/>
              <a:sym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42"/>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Next Steps &amp; Homework</a:t>
            </a:r>
            <a:endParaRPr/>
          </a:p>
        </p:txBody>
      </p:sp>
      <p:sp>
        <p:nvSpPr>
          <p:cNvPr id="1121" name="Google Shape;1121;p142"/>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122" name="Google Shape;1122;p142"/>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123" name="Google Shape;1123;p142"/>
          <p:cNvSpPr txBox="1"/>
          <p:nvPr/>
        </p:nvSpPr>
        <p:spPr>
          <a:xfrm>
            <a:off x="396271" y="1069747"/>
            <a:ext cx="4966335" cy="2945765"/>
          </a:xfrm>
          <a:prstGeom prst="rect">
            <a:avLst/>
          </a:prstGeom>
          <a:noFill/>
          <a:ln>
            <a:noFill/>
          </a:ln>
        </p:spPr>
        <p:txBody>
          <a:bodyPr anchorCtr="0" anchor="t" bIns="0" lIns="0" spcFirstLastPara="1" rIns="0" wrap="square" tIns="12700">
            <a:spAutoFit/>
          </a:bodyPr>
          <a:lstStyle/>
          <a:p>
            <a:pPr indent="0" lvl="0" marL="135255" rtl="0" algn="l">
              <a:lnSpc>
                <a:spcPct val="100000"/>
              </a:lnSpc>
              <a:spcBef>
                <a:spcPts val="0"/>
              </a:spcBef>
              <a:spcAft>
                <a:spcPts val="0"/>
              </a:spcAft>
              <a:buNone/>
            </a:pPr>
            <a:r>
              <a:rPr lang="en-US" sz="1600">
                <a:latin typeface="Arial"/>
                <a:ea typeface="Arial"/>
                <a:cs typeface="Arial"/>
                <a:sym typeface="Arial"/>
              </a:rPr>
              <a:t>Stablecoins, Risk Management &amp; Trading Psychology</a:t>
            </a:r>
            <a:endParaRPr sz="1600">
              <a:latin typeface="Arial"/>
              <a:ea typeface="Arial"/>
              <a:cs typeface="Arial"/>
              <a:sym typeface="Arial"/>
            </a:endParaRPr>
          </a:p>
          <a:p>
            <a:pPr indent="-351155" lvl="0" marL="363855" rtl="0" algn="l">
              <a:lnSpc>
                <a:spcPct val="100000"/>
              </a:lnSpc>
              <a:spcBef>
                <a:spcPts val="1485"/>
              </a:spcBef>
              <a:spcAft>
                <a:spcPts val="0"/>
              </a:spcAft>
              <a:buSzPts val="1600"/>
              <a:buFont typeface="Arial"/>
              <a:buChar char="●"/>
            </a:pPr>
            <a:r>
              <a:rPr lang="en-US" sz="1600">
                <a:latin typeface="Arial"/>
                <a:ea typeface="Arial"/>
                <a:cs typeface="Arial"/>
                <a:sym typeface="Arial"/>
              </a:rPr>
              <a:t>Stablecoins: USDT, USDC, DAI mechanisms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Other on-chain tradable instruments:</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Perpetual futures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Leveraged tokens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Liquid staking tokens (stETH, mSOL)</a:t>
            </a:r>
            <a:endParaRPr sz="1600">
              <a:latin typeface="Arial"/>
              <a:ea typeface="Arial"/>
              <a:cs typeface="Arial"/>
              <a:sym typeface="Arial"/>
            </a:endParaRPr>
          </a:p>
          <a:p>
            <a:pPr indent="-351790" lvl="1" marL="821055" rtl="0" algn="l">
              <a:lnSpc>
                <a:spcPct val="100000"/>
              </a:lnSpc>
              <a:spcBef>
                <a:spcPts val="285"/>
              </a:spcBef>
              <a:spcAft>
                <a:spcPts val="0"/>
              </a:spcAft>
              <a:buSzPts val="1600"/>
              <a:buFont typeface="Arial"/>
              <a:buChar char="○"/>
            </a:pPr>
            <a:r>
              <a:rPr lang="en-US" sz="1600">
                <a:latin typeface="Arial"/>
                <a:ea typeface="Arial"/>
                <a:cs typeface="Arial"/>
                <a:sym typeface="Arial"/>
              </a:rPr>
              <a:t>RWAs (tokenized treasuries, commodities)</a:t>
            </a:r>
            <a:endParaRPr sz="1600">
              <a:latin typeface="Arial"/>
              <a:ea typeface="Arial"/>
              <a:cs typeface="Arial"/>
              <a:sym typeface="Arial"/>
            </a:endParaRPr>
          </a:p>
          <a:p>
            <a:pPr indent="-351790" lvl="1" marL="821055" rtl="0" algn="l">
              <a:lnSpc>
                <a:spcPct val="100000"/>
              </a:lnSpc>
              <a:spcBef>
                <a:spcPts val="290"/>
              </a:spcBef>
              <a:spcAft>
                <a:spcPts val="0"/>
              </a:spcAft>
              <a:buSzPts val="1600"/>
              <a:buFont typeface="Arial"/>
              <a:buChar char="○"/>
            </a:pPr>
            <a:r>
              <a:rPr lang="en-US" sz="1600">
                <a:latin typeface="Arial"/>
                <a:ea typeface="Arial"/>
                <a:cs typeface="Arial"/>
                <a:sym typeface="Arial"/>
              </a:rPr>
              <a:t>Options / structured vault products</a:t>
            </a:r>
            <a:endParaRPr sz="1600">
              <a:latin typeface="Arial"/>
              <a:ea typeface="Arial"/>
              <a:cs typeface="Arial"/>
              <a:sym typeface="Arial"/>
            </a:endParaRPr>
          </a:p>
          <a:p>
            <a:pPr indent="-351155" lvl="0" marL="363855" rtl="0" algn="l">
              <a:lnSpc>
                <a:spcPct val="100000"/>
              </a:lnSpc>
              <a:spcBef>
                <a:spcPts val="290"/>
              </a:spcBef>
              <a:spcAft>
                <a:spcPts val="0"/>
              </a:spcAft>
              <a:buSzPts val="1600"/>
              <a:buFont typeface="Arial"/>
              <a:buChar char="●"/>
            </a:pPr>
            <a:r>
              <a:rPr lang="en-US" sz="1600">
                <a:latin typeface="Arial"/>
                <a:ea typeface="Arial"/>
                <a:cs typeface="Arial"/>
                <a:sym typeface="Arial"/>
              </a:rPr>
              <a:t>Risk: position sizing, stop losses, leverage</a:t>
            </a:r>
            <a:endParaRPr sz="1600">
              <a:latin typeface="Arial"/>
              <a:ea typeface="Arial"/>
              <a:cs typeface="Arial"/>
              <a:sym typeface="Arial"/>
            </a:endParaRPr>
          </a:p>
          <a:p>
            <a:pPr indent="-351155" lvl="0" marL="363855" rtl="0" algn="l">
              <a:lnSpc>
                <a:spcPct val="100000"/>
              </a:lnSpc>
              <a:spcBef>
                <a:spcPts val="285"/>
              </a:spcBef>
              <a:spcAft>
                <a:spcPts val="0"/>
              </a:spcAft>
              <a:buSzPts val="1600"/>
              <a:buFont typeface="Arial"/>
              <a:buChar char="●"/>
            </a:pPr>
            <a:r>
              <a:rPr lang="en-US" sz="1600">
                <a:latin typeface="Arial"/>
                <a:ea typeface="Arial"/>
                <a:cs typeface="Arial"/>
                <a:sym typeface="Arial"/>
              </a:rPr>
              <a:t>Psychology: emotions, discipline, journaling</a:t>
            </a:r>
            <a:endParaRPr sz="1600">
              <a:latin typeface="Arial"/>
              <a:ea typeface="Arial"/>
              <a:cs typeface="Arial"/>
              <a:sym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43"/>
          <p:cNvSpPr txBox="1"/>
          <p:nvPr>
            <p:ph type="title"/>
          </p:nvPr>
        </p:nvSpPr>
        <p:spPr>
          <a:xfrm>
            <a:off x="384725" y="505248"/>
            <a:ext cx="63233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Next Steps &amp; Homework</a:t>
            </a:r>
            <a:endParaRPr/>
          </a:p>
        </p:txBody>
      </p:sp>
      <p:sp>
        <p:nvSpPr>
          <p:cNvPr id="1129" name="Google Shape;1129;p143"/>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130" name="Google Shape;1130;p143"/>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
        <p:nvSpPr>
          <p:cNvPr id="1131" name="Google Shape;1131;p143"/>
          <p:cNvSpPr txBox="1"/>
          <p:nvPr/>
        </p:nvSpPr>
        <p:spPr>
          <a:xfrm>
            <a:off x="280850" y="1919347"/>
            <a:ext cx="5558155" cy="12630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Resources</a:t>
            </a:r>
            <a:endParaRPr sz="1600">
              <a:latin typeface="Arial"/>
              <a:ea typeface="Arial"/>
              <a:cs typeface="Arial"/>
              <a:sym typeface="Arial"/>
            </a:endParaRPr>
          </a:p>
          <a:p>
            <a:pPr indent="-351155" lvl="0" marL="469265" rtl="0" algn="l">
              <a:lnSpc>
                <a:spcPct val="100000"/>
              </a:lnSpc>
              <a:spcBef>
                <a:spcPts val="1485"/>
              </a:spcBef>
              <a:spcAft>
                <a:spcPts val="0"/>
              </a:spcAft>
              <a:buSzPts val="1600"/>
              <a:buFont typeface="Arial"/>
              <a:buChar char="●"/>
            </a:pPr>
            <a:r>
              <a:rPr lang="en-US" sz="1600">
                <a:latin typeface="Arial"/>
                <a:ea typeface="Arial"/>
                <a:cs typeface="Arial"/>
                <a:sym typeface="Arial"/>
              </a:rPr>
              <a:t>Block explorers: blockchain.info, etherscan.io, solscan.io</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APIs: CoinGecko, Alchemy, Helius</a:t>
            </a:r>
            <a:endParaRPr sz="1600">
              <a:latin typeface="Arial"/>
              <a:ea typeface="Arial"/>
              <a:cs typeface="Arial"/>
              <a:sym typeface="Arial"/>
            </a:endParaRPr>
          </a:p>
          <a:p>
            <a:pPr indent="-351155" lvl="0" marL="469265" rtl="0" algn="l">
              <a:lnSpc>
                <a:spcPct val="100000"/>
              </a:lnSpc>
              <a:spcBef>
                <a:spcPts val="290"/>
              </a:spcBef>
              <a:spcAft>
                <a:spcPts val="0"/>
              </a:spcAft>
              <a:buSzPts val="1600"/>
              <a:buFont typeface="Arial"/>
              <a:buChar char="●"/>
            </a:pPr>
            <a:r>
              <a:rPr lang="en-US" sz="1600">
                <a:latin typeface="Arial"/>
                <a:ea typeface="Arial"/>
                <a:cs typeface="Arial"/>
                <a:sym typeface="Arial"/>
              </a:rPr>
              <a:t>Community: Discord, Twitter, GitHub</a:t>
            </a:r>
            <a:endParaRPr sz="1600">
              <a:latin typeface="Arial"/>
              <a:ea typeface="Arial"/>
              <a:cs typeface="Arial"/>
              <a:sym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pic>
        <p:nvPicPr>
          <p:cNvPr id="1136" name="Google Shape;1136;p144"/>
          <p:cNvPicPr preferRelativeResize="0"/>
          <p:nvPr/>
        </p:nvPicPr>
        <p:blipFill rotWithShape="1">
          <a:blip r:embed="rId3">
            <a:alphaModFix/>
          </a:blip>
          <a:srcRect b="0" l="0" r="0" t="0"/>
          <a:stretch/>
        </p:blipFill>
        <p:spPr>
          <a:xfrm>
            <a:off x="2338387" y="163850"/>
            <a:ext cx="4352925" cy="4352925"/>
          </a:xfrm>
          <a:prstGeom prst="rect">
            <a:avLst/>
          </a:prstGeom>
          <a:noFill/>
          <a:ln>
            <a:noFill/>
          </a:ln>
        </p:spPr>
      </p:pic>
      <p:sp>
        <p:nvSpPr>
          <p:cNvPr id="1137" name="Google Shape;1137;p144"/>
          <p:cNvSpPr txBox="1"/>
          <p:nvPr>
            <p:ph idx="12" type="sldNum"/>
          </p:nvPr>
        </p:nvSpPr>
        <p:spPr>
          <a:xfrm>
            <a:off x="8710921" y="4778067"/>
            <a:ext cx="275590" cy="167639"/>
          </a:xfrm>
          <a:prstGeom prst="rect">
            <a:avLst/>
          </a:prstGeom>
          <a:noFill/>
          <a:ln>
            <a:noFill/>
          </a:ln>
        </p:spPr>
        <p:txBody>
          <a:bodyPr anchorCtr="0" anchor="t" bIns="0" lIns="0" spcFirstLastPara="1" rIns="0" wrap="square" tIns="625">
            <a:spAutoFit/>
          </a:bodyPr>
          <a:lstStyle/>
          <a:p>
            <a:pPr indent="0" lvl="0" marL="12700" rtl="0" algn="l">
              <a:lnSpc>
                <a:spcPct val="100000"/>
              </a:lnSpc>
              <a:spcBef>
                <a:spcPts val="0"/>
              </a:spcBef>
              <a:spcAft>
                <a:spcPts val="0"/>
              </a:spcAft>
              <a:buNone/>
            </a:pPr>
            <a:fld id="{00000000-1234-1234-1234-123412341234}" type="slidenum">
              <a:rPr lang="en-US"/>
              <a:t>‹#›</a:t>
            </a:fld>
            <a:endParaRPr/>
          </a:p>
        </p:txBody>
      </p:sp>
      <p:sp>
        <p:nvSpPr>
          <p:cNvPr id="1138" name="Google Shape;1138;p144"/>
          <p:cNvSpPr txBox="1"/>
          <p:nvPr>
            <p:ph idx="11" type="ftr"/>
          </p:nvPr>
        </p:nvSpPr>
        <p:spPr>
          <a:xfrm>
            <a:off x="63500" y="4807050"/>
            <a:ext cx="871855" cy="18161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US"/>
              <a:t>Matias Selser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
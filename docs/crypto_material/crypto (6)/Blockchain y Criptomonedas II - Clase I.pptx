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475249" y="1111630"/>
            <a:ext cx="6265545" cy="2954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9143999" y="476399"/>
                </a:moveTo>
                <a:lnTo>
                  <a:pt x="0" y="476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763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0" y="0"/>
                </a:moveTo>
                <a:lnTo>
                  <a:pt x="9143999" y="0"/>
                </a:lnTo>
                <a:lnTo>
                  <a:pt x="9143999" y="476399"/>
                </a:lnTo>
                <a:lnTo>
                  <a:pt x="0" y="4763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75249" y="1111630"/>
            <a:ext cx="6265545" cy="2954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apers.ssrn.com/sol3/papers.cfm?abstract_id=3829984" TargetMode="External"/><Relationship Id="rId4" Type="http://schemas.openxmlformats.org/officeDocument/2006/relationships/hyperlink" Target="mailto:ms6517@columbia.edu" TargetMode="External"/><Relationship Id="rId5" Type="http://schemas.openxmlformats.org/officeDocument/2006/relationships/hyperlink" Target="https://www.linkedin.com/in/matias-sels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hainlist.org/?search=polygon&amp;testnets=tru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olygon.technology/blog/introducing-the-amoy-testnet-for-polygon-po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hyperlink" Target="https://mumbai.polygonscan.com/tx/0x355d4250fec95f604bb8f203b545e2b6f7231eaaae41280d49ffe11a1ea75878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mumbai.polygonscan.com/address/0x2c95d10ba4bbec79e562e8b3f48687751808c925#co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hyperlink" Target="https://solidity-by-example.org/app/erc20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mumbai.polygonscan.com/address/0x52d800ca262522580cebad275395ca6e7598c014" TargetMode="External"/><Relationship Id="rId4" Type="http://schemas.openxmlformats.org/officeDocument/2006/relationships/hyperlink" Target="https://mumbai.polygonscan.com/tx/0xaad3184f454ed290ee14591dd036095f3d35b8f8d5bed9e8e158f532af86b64a" TargetMode="External"/><Relationship Id="rId5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remix.ethereum.org/" TargetMode="External"/><Relationship Id="rId4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infura.io/" TargetMode="External"/><Relationship Id="rId4" Type="http://schemas.openxmlformats.org/officeDocument/2006/relationships/hyperlink" Target="https://www.alchemy.com/" TargetMode="External"/><Relationship Id="rId5" Type="http://schemas.openxmlformats.org/officeDocument/2006/relationships/hyperlink" Target="https://bloxroute.com/pricing/" TargetMode="External"/><Relationship Id="rId6" Type="http://schemas.openxmlformats.org/officeDocument/2006/relationships/hyperlink" Target="https://www.blocknative.com/" TargetMode="External"/><Relationship Id="rId7" Type="http://schemas.openxmlformats.org/officeDocument/2006/relationships/image" Target="../media/image2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mumbai.polygonscan.com/" TargetMode="External"/><Relationship Id="rId4" Type="http://schemas.openxmlformats.org/officeDocument/2006/relationships/hyperlink" Target="https://faucet.polygon.technology/" TargetMode="External"/><Relationship Id="rId5" Type="http://schemas.openxmlformats.org/officeDocument/2006/relationships/image" Target="../media/image2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eb3py.readthedocs.io/en/stable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app.uniswap.org/whitepaper.pdf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docs.sushi.com/docs/Developers/Deployment%20Addresses" TargetMode="External"/><Relationship Id="rId4" Type="http://schemas.openxmlformats.org/officeDocument/2006/relationships/hyperlink" Target="https://docs.sushi.com/docs/Products/Classic%20AMM/Contracts/V2Router02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045107" y="1087373"/>
            <a:ext cx="5052695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604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Blockchain y Criptomonedas II</a:t>
            </a:r>
            <a:endParaRPr sz="5200"/>
          </a:p>
        </p:txBody>
      </p:sp>
      <p:sp>
        <p:nvSpPr>
          <p:cNvPr id="47" name="Google Shape;47;p7"/>
          <p:cNvSpPr txBox="1"/>
          <p:nvPr/>
        </p:nvSpPr>
        <p:spPr>
          <a:xfrm>
            <a:off x="3030677" y="2892926"/>
            <a:ext cx="308165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87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UCEMA - QUANt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Clase I: 10/11/2024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Sobre Mi</a:t>
            </a:r>
            <a:endParaRPr sz="2500"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482674" y="1083638"/>
            <a:ext cx="904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Educación: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603943" y="1296997"/>
            <a:ext cx="559689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08/2022 - 05/2024 : Maestría en Matemática -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Columbia University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03/2020 - 05/2022 : Maestría en Finanzas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03/2013 - 07/2020 : Ingeniería Electrónica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4485721" y="1510357"/>
            <a:ext cx="31057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50" lvl="0" marL="120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Universidad Torcuato di Tella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0795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Instituto Tecnológico de Buenos Aires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482674" y="2064078"/>
            <a:ext cx="17830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Experiencia relevante: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/>
          <p:nvPr/>
        </p:nvSpPr>
        <p:spPr>
          <a:xfrm>
            <a:off x="603943" y="2277438"/>
            <a:ext cx="376047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08/2023 - Actual	: Execution Lead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08/2022 - 08/2023 : Quantitative Developer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02/2022 - 06/2022 : Quantitative Developer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08/2020 - 01/2022 : Quantitative Developer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4483820" y="2277438"/>
            <a:ext cx="195453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9854" lvl="0" marL="1225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Terrace.fi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07950" lvl="0" marL="1225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MRM Analytics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07950" lvl="0" marL="1225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Privi Protocol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07950" lvl="0" marL="1225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Alma Global Strategies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482674" y="3257877"/>
            <a:ext cx="510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Publicación: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2021: ¨</a:t>
            </a:r>
            <a:r>
              <a:rPr i="1"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Optimal Market Making by Reinforcement Learning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¨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Contacto: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ms6517@columbia.edu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LinkedIn: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https://www.linkedin.com/in/matias-selser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Metodología</a:t>
            </a:r>
            <a:endParaRPr sz="2500"/>
          </a:p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75249" y="1111630"/>
            <a:ext cx="6265545" cy="2954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Formato: dos partes de 75 minutos + break de 15 minutos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Módulos: pequeñas unidades de contenido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Actividades: después de los módulos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i="0" lang="en-US">
                <a:latin typeface="Arial"/>
                <a:ea typeface="Arial"/>
                <a:cs typeface="Arial"/>
                <a:sym typeface="Arial"/>
              </a:rPr>
              <a:t>Tareas: challenge opcional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Agenda</a:t>
            </a:r>
            <a:endParaRPr sz="2500"/>
          </a:p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7" name="Google Shape;77;p10"/>
          <p:cNvSpPr txBox="1"/>
          <p:nvPr/>
        </p:nvSpPr>
        <p:spPr>
          <a:xfrm>
            <a:off x="475249" y="1111630"/>
            <a:ext cx="5472430" cy="336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4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4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4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V: Uniswap V2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4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Conclusión y resumen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Tarea propuesta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1160251" y="2086610"/>
            <a:ext cx="6820534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 Blockchain y Ethereum</a:t>
            </a:r>
            <a:endParaRPr/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1.1 Introducción a la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blockchain</a:t>
            </a:r>
            <a:r>
              <a:rPr lang="en-US" sz="2500"/>
              <a:t>: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475249" y="1111630"/>
            <a:ext cx="6312535" cy="257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Repaso: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Blockchain: cadena de bloques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Asociados entre sí (cada bloque contiene el hash del bloque anterior)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 información sobre cambios en el estado de la naturaleza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 sent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B 1 eth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X interacted with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(contract)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/>
        </p:nvSpPr>
        <p:spPr>
          <a:xfrm>
            <a:off x="475249" y="1111630"/>
            <a:ext cx="6097905" cy="331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Descentralización: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“Ledger”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[libro mayor] descentralizado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tiene dueño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Múltiples copias distribuidas a lo largo de la red en los nodos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0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Nodos: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Mantienen una copia actualizada del libro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Públicos y privados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Read Only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R/W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Cada uno tiene su propia mempool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475249" y="1111630"/>
            <a:ext cx="6482080" cy="2198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Seguridad: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Criptografía: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Transacciones seguras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Clave pública y privada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Consenso: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PoW y PoS (entre otros) aseguran la validez de las transacciones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475249" y="1111630"/>
            <a:ext cx="6967220" cy="301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Rol de los mineros (PoW):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Resuelven algoritmos matemáticos complejos computacionalmente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Data +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random nonce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= hash del bloque tiene que empezar con n ceros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Rol de los validadores (PoS):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Stake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[apuesta] de parte del nodo para ser el creador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Mientras más apuesta, mejores chances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El nodo elegido propone el bloque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 valida, si tiene transacciones fraudulentas, pierde lo apostado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7286625" y="1076325"/>
            <a:ext cx="549275" cy="3324860"/>
          </a:xfrm>
          <a:custGeom>
            <a:rect b="b" l="l" r="r" t="t"/>
            <a:pathLst>
              <a:path extrusionOk="0" h="3324860" w="549275">
                <a:moveTo>
                  <a:pt x="0" y="0"/>
                </a:moveTo>
                <a:lnTo>
                  <a:pt x="53773" y="5320"/>
                </a:lnTo>
                <a:lnTo>
                  <a:pt x="104989" y="20883"/>
                </a:lnTo>
                <a:lnTo>
                  <a:pt x="152209" y="46094"/>
                </a:lnTo>
                <a:lnTo>
                  <a:pt x="193994" y="80355"/>
                </a:lnTo>
                <a:lnTo>
                  <a:pt x="228255" y="122140"/>
                </a:lnTo>
                <a:lnTo>
                  <a:pt x="253466" y="169360"/>
                </a:lnTo>
                <a:lnTo>
                  <a:pt x="269029" y="220577"/>
                </a:lnTo>
                <a:lnTo>
                  <a:pt x="274349" y="274349"/>
                </a:lnTo>
                <a:lnTo>
                  <a:pt x="274349" y="1387799"/>
                </a:lnTo>
                <a:lnTo>
                  <a:pt x="278770" y="1437114"/>
                </a:lnTo>
                <a:lnTo>
                  <a:pt x="291514" y="1483529"/>
                </a:lnTo>
                <a:lnTo>
                  <a:pt x="311806" y="1526269"/>
                </a:lnTo>
                <a:lnTo>
                  <a:pt x="338873" y="1564560"/>
                </a:lnTo>
                <a:lnTo>
                  <a:pt x="371939" y="1597626"/>
                </a:lnTo>
                <a:lnTo>
                  <a:pt x="410230" y="1624693"/>
                </a:lnTo>
                <a:lnTo>
                  <a:pt x="452970" y="1644985"/>
                </a:lnTo>
                <a:lnTo>
                  <a:pt x="499385" y="1657729"/>
                </a:lnTo>
                <a:lnTo>
                  <a:pt x="548699" y="1662149"/>
                </a:lnTo>
                <a:lnTo>
                  <a:pt x="499385" y="1666570"/>
                </a:lnTo>
                <a:lnTo>
                  <a:pt x="452970" y="1679314"/>
                </a:lnTo>
                <a:lnTo>
                  <a:pt x="410230" y="1699606"/>
                </a:lnTo>
                <a:lnTo>
                  <a:pt x="371939" y="1726673"/>
                </a:lnTo>
                <a:lnTo>
                  <a:pt x="338873" y="1759739"/>
                </a:lnTo>
                <a:lnTo>
                  <a:pt x="311806" y="1798030"/>
                </a:lnTo>
                <a:lnTo>
                  <a:pt x="291514" y="1840770"/>
                </a:lnTo>
                <a:lnTo>
                  <a:pt x="278770" y="1887185"/>
                </a:lnTo>
                <a:lnTo>
                  <a:pt x="274349" y="1936499"/>
                </a:lnTo>
                <a:lnTo>
                  <a:pt x="274349" y="3049949"/>
                </a:lnTo>
                <a:lnTo>
                  <a:pt x="269929" y="3099264"/>
                </a:lnTo>
                <a:lnTo>
                  <a:pt x="257185" y="3145679"/>
                </a:lnTo>
                <a:lnTo>
                  <a:pt x="236893" y="3188419"/>
                </a:lnTo>
                <a:lnTo>
                  <a:pt x="209826" y="3226710"/>
                </a:lnTo>
                <a:lnTo>
                  <a:pt x="176760" y="3259776"/>
                </a:lnTo>
                <a:lnTo>
                  <a:pt x="138469" y="3286843"/>
                </a:lnTo>
                <a:lnTo>
                  <a:pt x="95729" y="3307135"/>
                </a:lnTo>
                <a:lnTo>
                  <a:pt x="49314" y="3319879"/>
                </a:lnTo>
                <a:lnTo>
                  <a:pt x="0" y="332429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929668" y="2496588"/>
            <a:ext cx="9740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8275" lvl="0" marL="1803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¡Ambos son críticos!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1.2 Introducción a Ethereum:</a:t>
            </a:r>
            <a:endParaRPr sz="2500"/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75249" y="1111630"/>
            <a:ext cx="4902835" cy="229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diferencia a Ethereum de Bitcoin?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dApps montadas sobre los 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EVM (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Ethereum Virtual Machine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Máquina virtual que ejecuta las transacciones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“Regula” que la lógica sea válida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475249" y="1111630"/>
            <a:ext cx="7144384" cy="229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Smart Contracts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Programación orientada a eventos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Smart Contracts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se almacenan en una dirección en la blockchain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Cuando se quiere ejecutar alguna función, se interactúa con esa dirección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son procesos que quedan ejecutándose en el fondo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3" marL="17506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 tiene timers, por ejemplo!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75249" y="1111630"/>
            <a:ext cx="6011545" cy="110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Smart Contracts (continuación)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Programación orientada a eventos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Similar al funcionamiento de las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Lambda Functions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de AWS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0578" y="2257425"/>
            <a:ext cx="3227137" cy="1898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1.3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Test chains</a:t>
            </a:r>
            <a:r>
              <a:rPr lang="en-US" sz="2500"/>
              <a:t>: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75249" y="1111630"/>
            <a:ext cx="6213475" cy="3380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¿Para qué sirven?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Similaridad con el concepto de “staging” del desarrollo convencional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Validación de la lógica de los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Espacio de aprendizaje sin riesgo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Ropsten, Rinkerby, Kovan (ETH)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Optimistic Goerli (Optimism)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Amoy (Polygon)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475249" y="1111630"/>
            <a:ext cx="6993890" cy="150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Faucets [canilla]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Proveen gas o tokens de forma gratuita para desarrollo y testeo para usuarios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Ejemplo: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MATIC: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2997840" y="4807050"/>
            <a:ext cx="312991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I: Introducción a la Blockchain y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2183910" y="208661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59131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II Transacciones en Ethereum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2.1 ¿Qué es una transacción?</a:t>
            </a:r>
            <a:endParaRPr sz="2500"/>
          </a:p>
        </p:txBody>
      </p:sp>
      <p:sp>
        <p:nvSpPr>
          <p:cNvPr id="175" name="Google Shape;175;p22"/>
          <p:cNvSpPr txBox="1"/>
          <p:nvPr/>
        </p:nvSpPr>
        <p:spPr>
          <a:xfrm>
            <a:off x="475249" y="1111630"/>
            <a:ext cx="8115300" cy="190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Esencialmente, cuatro componentes básicos: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Origen: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que generó la 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Destino: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que va a recibir la transacción (puede ser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smart contract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Value: cuánto gas va a recibir el destinatario (no es lo mismo que el gas para la transacción)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Data: si es un smart contract, qué método se busca invocar y con qué parámetros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4574" y="0"/>
            <a:ext cx="3389899" cy="190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2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2.1 ¿Qué es una transacción?</a:t>
            </a:r>
            <a:endParaRPr sz="2500"/>
          </a:p>
        </p:txBody>
      </p: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75249" y="1111630"/>
            <a:ext cx="7613015" cy="260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Dependiendo la blockchain, además hay parámetros como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gasLimit: cantidad máxima de gas que puede usar la 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Importante para prevenir for loops bloqueantes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gasPrice: prima que se paga para que la transacción se incluya en el bloque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nonce: número de transacción, siempre incremental, para mantener las transacciones ordenadas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Mínimo gas para la transacción = gasPrice x gasLimit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4"/>
          <p:cNvGrpSpPr/>
          <p:nvPr/>
        </p:nvGrpSpPr>
        <p:grpSpPr>
          <a:xfrm>
            <a:off x="0" y="1472219"/>
            <a:ext cx="9103836" cy="3185505"/>
            <a:chOff x="0" y="1472219"/>
            <a:chExt cx="9103836" cy="3185505"/>
          </a:xfrm>
        </p:grpSpPr>
        <p:pic>
          <p:nvPicPr>
            <p:cNvPr id="194" name="Google Shape;19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472219"/>
              <a:ext cx="9103836" cy="656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2800" y="2085975"/>
              <a:ext cx="7158399" cy="2571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4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2.2 Tipos de transacción</a:t>
            </a:r>
            <a:endParaRPr sz="2500"/>
          </a:p>
        </p:txBody>
      </p:sp>
      <p:sp>
        <p:nvSpPr>
          <p:cNvPr id="197" name="Google Shape;197;p2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475249" y="1111630"/>
            <a:ext cx="2615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transactions: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link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475249" y="1111630"/>
            <a:ext cx="4749800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transactions (continuación):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 la transacción anterior se ve: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From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Value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Además, cuestiones asociadas al procesamiento: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Número de bloque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Hash de la 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/>
        </p:nvSpPr>
        <p:spPr>
          <a:xfrm>
            <a:off x="485677" y="1112316"/>
            <a:ext cx="8038465" cy="3423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35560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Char char="●"/>
            </a:pPr>
            <a:r>
              <a:rPr lang="en-US" sz="1650">
                <a:latin typeface="Arial"/>
                <a:ea typeface="Arial"/>
                <a:cs typeface="Arial"/>
                <a:sym typeface="Arial"/>
              </a:rPr>
              <a:t>Interacciones con un </a:t>
            </a:r>
            <a:r>
              <a:rPr i="1" lang="en-US" sz="1650">
                <a:latin typeface="Arial"/>
                <a:ea typeface="Arial"/>
                <a:cs typeface="Arial"/>
                <a:sym typeface="Arial"/>
              </a:rPr>
              <a:t>smart contract</a:t>
            </a:r>
            <a:r>
              <a:rPr lang="en-US" sz="1650">
                <a:latin typeface="Arial"/>
                <a:ea typeface="Arial"/>
                <a:cs typeface="Arial"/>
                <a:sym typeface="Arial"/>
              </a:rPr>
              <a:t>: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27660" lvl="1" marL="825500" rtl="0" algn="l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Interfaz: expone la forma de interactuar con el contrato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282700" rtl="0" algn="l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Funciona como una API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1" marL="82550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Métodos: describen la función y los parámetros que se necesitan para interactuar con el contrato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1" marL="82550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Eventos: sirven para describir qué está haciendo la lógica.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8295" lvl="2" marL="1283335" marR="5080" rtl="0" algn="l">
              <a:lnSpc>
                <a:spcPct val="1046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Por ejemplo: el contrato ERC20.sol (un token) en su lógica transfiere el balance deseado del usuario A al usuario B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8295" lvl="2" marL="1283335" marR="299720" rtl="0" algn="l">
              <a:lnSpc>
                <a:spcPct val="1046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Al hacerlo, emite un evento </a:t>
            </a: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Transfer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que contiene información asociada (origen, destino, cantidad)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8295" lvl="1" marL="826135" marR="205740" rtl="0" algn="l">
              <a:lnSpc>
                <a:spcPct val="1046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ABI: funciona como una interfaz que se expone dentro de un json. Sirve para interactuar con los contratos fuera del entorno de trabajo de </a:t>
            </a: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Solidity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 Se puede exportar de </a:t>
            </a:r>
            <a:r>
              <a:rPr lang="en-US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Etherscan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!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2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875" y="1195725"/>
            <a:ext cx="6334124" cy="34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506352" y="1105184"/>
            <a:ext cx="2064385" cy="3334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35280" lvl="0" marL="347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Código: </a:t>
            </a:r>
            <a:r>
              <a:rPr lang="en-US" sz="10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IERC20.sol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1785" lvl="1" marL="8051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○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Métodos: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totalSupply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balanceOf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transfer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allowance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approve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transferFrom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1" marL="8051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SzPts val="1050"/>
              <a:buFont typeface="Arial"/>
              <a:buChar char="○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Eventos: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Transfer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311785" lvl="2" marL="126238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SzPts val="1050"/>
              <a:buFont typeface="Arial"/>
              <a:buChar char="■"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Approval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2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/>
        </p:nvSpPr>
        <p:spPr>
          <a:xfrm>
            <a:off x="475249" y="1111630"/>
            <a:ext cx="3290570" cy="110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Contrato USDC en polygon mumbai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00380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○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825" y="1556549"/>
            <a:ext cx="8501049" cy="310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2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/>
        </p:nvSpPr>
        <p:spPr>
          <a:xfrm>
            <a:off x="475249" y="1111630"/>
            <a:ext cx="5890895" cy="1235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Abrir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Remix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 Remix es un IDE para desarrollar Solidity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un nuevo proyecto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un archivo QuantToken.sol [código en GitHub]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975893" y="2546809"/>
            <a:ext cx="1079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○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28875"/>
            <a:ext cx="9134474" cy="222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Hands on: creación de una criptomoneda!</a:t>
            </a:r>
            <a:endParaRPr sz="2500"/>
          </a:p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0"/>
          <p:cNvGrpSpPr/>
          <p:nvPr/>
        </p:nvGrpSpPr>
        <p:grpSpPr>
          <a:xfrm>
            <a:off x="3355275" y="1047748"/>
            <a:ext cx="5788713" cy="3615600"/>
            <a:chOff x="3355275" y="1047748"/>
            <a:chExt cx="5788713" cy="3615600"/>
          </a:xfrm>
        </p:grpSpPr>
        <p:pic>
          <p:nvPicPr>
            <p:cNvPr id="251" name="Google Shape;25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5275" y="1343025"/>
              <a:ext cx="2414399" cy="331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13825" y="1047748"/>
              <a:ext cx="1930163" cy="361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p30"/>
          <p:cNvSpPr txBox="1"/>
          <p:nvPr/>
        </p:nvSpPr>
        <p:spPr>
          <a:xfrm>
            <a:off x="475249" y="1111630"/>
            <a:ext cx="2284730" cy="76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Compilar el código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Deploy!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3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Hands on: creación de una criptomoneda! (continuación)</a:t>
            </a: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9575" y="1017724"/>
            <a:ext cx="2364849" cy="364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/>
        </p:nvSpPr>
        <p:spPr>
          <a:xfrm>
            <a:off x="475249" y="1111630"/>
            <a:ext cx="27533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Finalmente, interacción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3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3354787" y="4807050"/>
            <a:ext cx="24161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II: Transacciones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1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Hands on: creación de una criptomoneda! (continuación)</a:t>
            </a:r>
            <a:endParaRPr sz="2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2187444" y="2086610"/>
            <a:ext cx="476758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5347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III Infraestructura en Ethereum</a:t>
            </a:r>
            <a:endParaRPr/>
          </a:p>
        </p:txBody>
      </p:sp>
      <p:sp>
        <p:nvSpPr>
          <p:cNvPr id="273" name="Google Shape;273;p32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475249" y="1111630"/>
            <a:ext cx="8449945" cy="318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son?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RPC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significa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Remote Procedure Call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Sirven como modo de interacción entre un nodo de la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blockchain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los sistemas externos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Acceso a los datos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Los nodos permiten que aplicaciones externas accedan a la información almacenada en la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blockchain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0" marL="836294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Transmisión de las transacciones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1293495" marR="43053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Cuando los usuarios generan transacciones, los nodos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RPC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son los responsables de transmitir esa transacción a la red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82" name="Google Shape;282;p33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3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3.1 Nodos RPC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/>
        </p:nvSpPr>
        <p:spPr>
          <a:xfrm>
            <a:off x="475249" y="1111630"/>
            <a:ext cx="8063865" cy="2147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son? (continuación)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Monitoreo de eventos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Los nodos permiten que los desarrolladores se suscriban a los mencionados eventos!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Proveedores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144145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Existen diversos proveedores como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Infura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Alchemy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que ofrecen nodos RPC como servicio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70" y="3718174"/>
            <a:ext cx="2528874" cy="79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4200" y="3998764"/>
            <a:ext cx="1744399" cy="51801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3" name="Google Shape;293;p34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/>
        </p:nvSpPr>
        <p:spPr>
          <a:xfrm>
            <a:off x="475249" y="1111630"/>
            <a:ext cx="2602865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Distintos proveedores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Gratuitos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Infura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Alchemy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Pagos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BloxRoute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BlockNative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7024" y="1355474"/>
            <a:ext cx="6267451" cy="24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02" name="Google Shape;302;p35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idx="1" type="body"/>
          </p:nvPr>
        </p:nvSpPr>
        <p:spPr>
          <a:xfrm>
            <a:off x="475249" y="1111630"/>
            <a:ext cx="6265545" cy="2954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Providers</a:t>
            </a:r>
            <a:endParaRPr/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Bridge to Ethereum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”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Funcionan como conectores entre la blockchain y el exterior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Facilitan la conexión entre las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dApps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los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Signers</a:t>
            </a:r>
            <a:endParaRPr/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Permiten la creación de transacciones seguras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Vitales para asegurar la validez de las interacciones en la blockchain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3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10" name="Google Shape;310;p36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3.2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Providers and Signers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/>
        </p:nvSpPr>
        <p:spPr>
          <a:xfrm>
            <a:off x="475249" y="1111630"/>
            <a:ext cx="5107305" cy="150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Metamask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Combina el funcionamiento de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provider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signer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Permite el manejo de múltiples cuentas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Permite el manejo de múltiples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chains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600" y="2158274"/>
            <a:ext cx="4182399" cy="250507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3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20" name="Google Shape;320;p37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Hands on: set up metamask + alchemy</a:t>
            </a:r>
            <a:endParaRPr sz="2500"/>
          </a:p>
        </p:txBody>
      </p:sp>
      <p:sp>
        <p:nvSpPr>
          <p:cNvPr id="326" name="Google Shape;326;p38"/>
          <p:cNvSpPr txBox="1"/>
          <p:nvPr/>
        </p:nvSpPr>
        <p:spPr>
          <a:xfrm>
            <a:off x="475249" y="1070483"/>
            <a:ext cx="6958965" cy="223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con metamask una wallet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Agregar amoi a metamask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Mintear MATIC a la cuenta con un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faucet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Agregar el token a Metamask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una cuenta en Alchemy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un proyecto nuevo que genere un nodo RPC para mumbai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Visualizar el endpoint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62" y="1195387"/>
            <a:ext cx="2905124" cy="714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0" name="Google Shape;330;p38"/>
          <p:cNvSpPr txBox="1"/>
          <p:nvPr/>
        </p:nvSpPr>
        <p:spPr>
          <a:xfrm>
            <a:off x="3335425" y="4807050"/>
            <a:ext cx="245491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III: Infraestructura en Ethereum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9"/>
          <p:cNvSpPr txBox="1"/>
          <p:nvPr>
            <p:ph type="title"/>
          </p:nvPr>
        </p:nvSpPr>
        <p:spPr>
          <a:xfrm>
            <a:off x="3962127" y="2266442"/>
            <a:ext cx="12198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Break</a:t>
            </a:r>
            <a:endParaRPr sz="3600"/>
          </a:p>
        </p:txBody>
      </p:sp>
      <p:sp>
        <p:nvSpPr>
          <p:cNvPr id="336" name="Google Shape;336;p3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3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2702576" y="2086610"/>
            <a:ext cx="373761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99885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IV Web3.js and Web3.py</a:t>
            </a:r>
            <a:endParaRPr/>
          </a:p>
        </p:txBody>
      </p:sp>
      <p:sp>
        <p:nvSpPr>
          <p:cNvPr id="343" name="Google Shape;343;p4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4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4.1 Introducción a Web3</a:t>
            </a:r>
            <a:endParaRPr sz="2500"/>
          </a:p>
        </p:txBody>
      </p:sp>
      <p:sp>
        <p:nvSpPr>
          <p:cNvPr id="350" name="Google Shape;350;p4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4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52" name="Google Shape;352;p41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475249" y="1111630"/>
            <a:ext cx="8385809" cy="301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es Web3?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Librería de Python para interactuar con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EVM-compatible blockchains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Documentación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Simplifica la tarea de enviar transacciones, </a:t>
            </a: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interactuar con </a:t>
            </a:r>
            <a:r>
              <a:rPr i="1" lang="en-US" sz="1400" u="sng">
                <a:latin typeface="Arial"/>
                <a:ea typeface="Arial"/>
                <a:cs typeface="Arial"/>
                <a:sym typeface="Arial"/>
              </a:rPr>
              <a:t>smart contracts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y obtener data de la blockchain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Importancia de Web3 para el desarrollo de aplicaciones en blockchain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Librería más difundida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“fork” de Web3.js (muy popular en el desarrollo de web3 en javascript)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4.2 Trabajando con web3</a:t>
            </a:r>
            <a:endParaRPr sz="2500"/>
          </a:p>
        </p:txBody>
      </p:sp>
      <p:pic>
        <p:nvPicPr>
          <p:cNvPr id="359" name="Google Shape;3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25" y="1389325"/>
            <a:ext cx="8472448" cy="23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2"/>
          <p:cNvSpPr txBox="1"/>
          <p:nvPr/>
        </p:nvSpPr>
        <p:spPr>
          <a:xfrm>
            <a:off x="677899" y="1006855"/>
            <a:ext cx="1269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Métodos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4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63" name="Google Shape;363;p42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1349487"/>
            <a:ext cx="8839200" cy="244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4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13575"/>
            <a:ext cx="8839200" cy="231635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4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79" name="Google Shape;379;p44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675" y="0"/>
            <a:ext cx="5200649" cy="46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4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87" name="Google Shape;387;p45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00" y="1066800"/>
            <a:ext cx="8620200" cy="359092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6"/>
          <p:cNvSpPr txBox="1"/>
          <p:nvPr/>
        </p:nvSpPr>
        <p:spPr>
          <a:xfrm>
            <a:off x="525499" y="606805"/>
            <a:ext cx="10147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Filtros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4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96" name="Google Shape;396;p46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86849" cy="46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4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04" name="Google Shape;404;p47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37" y="1699675"/>
            <a:ext cx="7979468" cy="296354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 txBox="1"/>
          <p:nvPr/>
        </p:nvSpPr>
        <p:spPr>
          <a:xfrm>
            <a:off x="677899" y="1006855"/>
            <a:ext cx="1383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Contratos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4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13" name="Google Shape;413;p48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478" y="509225"/>
            <a:ext cx="4873050" cy="41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4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21" name="Google Shape;421;p49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303" y="519250"/>
            <a:ext cx="6445400" cy="414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5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29" name="Google Shape;429;p50"/>
          <p:cNvSpPr txBox="1"/>
          <p:nvPr/>
        </p:nvSpPr>
        <p:spPr>
          <a:xfrm>
            <a:off x="3518995" y="4807050"/>
            <a:ext cx="208724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IV: Web3.js and Web3.py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1"/>
          <p:cNvSpPr txBox="1"/>
          <p:nvPr>
            <p:ph type="title"/>
          </p:nvPr>
        </p:nvSpPr>
        <p:spPr>
          <a:xfrm>
            <a:off x="3542804" y="2086610"/>
            <a:ext cx="2058035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11454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V Uniswap V2</a:t>
            </a:r>
            <a:endParaRPr/>
          </a:p>
        </p:txBody>
      </p:sp>
      <p:sp>
        <p:nvSpPr>
          <p:cNvPr id="436" name="Google Shape;436;p51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5.1 Introducción a Uniswap v2</a:t>
            </a:r>
            <a:endParaRPr sz="2500"/>
          </a:p>
        </p:txBody>
      </p:sp>
      <p:sp>
        <p:nvSpPr>
          <p:cNvPr id="442" name="Google Shape;442;p5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5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44" name="Google Shape;444;p52"/>
          <p:cNvSpPr txBox="1"/>
          <p:nvPr/>
        </p:nvSpPr>
        <p:spPr>
          <a:xfrm>
            <a:off x="3846251" y="4807050"/>
            <a:ext cx="143256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Uniswap 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2"/>
          <p:cNvSpPr txBox="1"/>
          <p:nvPr/>
        </p:nvSpPr>
        <p:spPr>
          <a:xfrm>
            <a:off x="475249" y="1111630"/>
            <a:ext cx="7733030" cy="316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Whitepaper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Plataforma descentralizada para intercambio de tokens.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Utiliza un modelo de "Automated Market Maker" (AMM).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requiere libros de órdenes ni intermediarios.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25654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Los proveedores de liquidez (LPs) depositan pares de tokens y ganan comisiones por transacciones.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El precio se ajusta automáticamente a través de un algoritmo de oferta y demanda.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3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5.2 Modelo de Uniswap v2 y su fórmula</a:t>
            </a:r>
            <a:endParaRPr sz="2500"/>
          </a:p>
        </p:txBody>
      </p:sp>
      <p:sp>
        <p:nvSpPr>
          <p:cNvPr id="451" name="Google Shape;451;p5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5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53" name="Google Shape;453;p53"/>
          <p:cNvSpPr txBox="1"/>
          <p:nvPr/>
        </p:nvSpPr>
        <p:spPr>
          <a:xfrm>
            <a:off x="3846251" y="4807050"/>
            <a:ext cx="143256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Uniswap 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3"/>
          <p:cNvSpPr txBox="1"/>
          <p:nvPr/>
        </p:nvSpPr>
        <p:spPr>
          <a:xfrm>
            <a:off x="475249" y="1111630"/>
            <a:ext cx="8178800" cy="342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 fórmula básica de Uniswap v2 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59765" rtl="0" algn="ctr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x * y = 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x: cantidad del primer token (ej. ETH).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y: cantidad del segundo token (ej. DAI).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k: constante que se mantiene fija.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 fórmula garantiza que el producto x*y se mantenga constante después de cada transacción.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El precio del token se ajusta de acuerdo con el balance de tokens en el pool.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" y="94299"/>
            <a:ext cx="9153524" cy="505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5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5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5.3 Fórmulas clave y transacciones</a:t>
            </a:r>
            <a:endParaRPr sz="2500"/>
          </a:p>
        </p:txBody>
      </p:sp>
      <p:sp>
        <p:nvSpPr>
          <p:cNvPr id="468" name="Google Shape;468;p55"/>
          <p:cNvSpPr txBox="1"/>
          <p:nvPr/>
        </p:nvSpPr>
        <p:spPr>
          <a:xfrm>
            <a:off x="475249" y="1111630"/>
            <a:ext cx="8278495" cy="336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Precio de intercambio: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559435" rtl="0" algn="ctr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 = (x - dx) (y + dy)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556895" rtl="0" algn="ctr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dx(y, k, x, dx) = x - k / (y + dy)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8801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Slippage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Cambio en el precio debido a la relación entre el tamaño de la transacción y el tamaño del pool.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4224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Comisiones para LPs: Los proveedores de liquidez reciben generalmente un 0.30% por transacción.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Impacto de las grandes transacciones: Transacciones grandes afectan más el precio y el deslizamiento.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5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5"/>
          <p:cNvSpPr txBox="1"/>
          <p:nvPr/>
        </p:nvSpPr>
        <p:spPr>
          <a:xfrm>
            <a:off x="3846251" y="4793817"/>
            <a:ext cx="143256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V: Uniswap 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Hands on: </a:t>
            </a:r>
            <a:r>
              <a:rPr i="1" lang="en-US" sz="2500">
                <a:latin typeface="Arial"/>
                <a:ea typeface="Arial"/>
                <a:cs typeface="Arial"/>
                <a:sym typeface="Arial"/>
              </a:rPr>
              <a:t>real world application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7" name="Google Shape;477;p5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78" name="Google Shape;478;p56"/>
          <p:cNvSpPr txBox="1"/>
          <p:nvPr/>
        </p:nvSpPr>
        <p:spPr>
          <a:xfrm>
            <a:off x="475249" y="1070483"/>
            <a:ext cx="4291330" cy="318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Abrir los docs de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sushiswap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Buscar los addresses del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router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Buscar el ABI del router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el contrato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Usar el método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quote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del router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Buscar en el router un swap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Buscar el ABI del par de UNIV2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el contrato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Buscar el contrato de un ERC20 token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Crear un filtro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>
            <p:ph type="title"/>
          </p:nvPr>
        </p:nvSpPr>
        <p:spPr>
          <a:xfrm>
            <a:off x="2674578" y="2315210"/>
            <a:ext cx="37934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 y resumen</a:t>
            </a:r>
            <a:endParaRPr/>
          </a:p>
        </p:txBody>
      </p:sp>
      <p:sp>
        <p:nvSpPr>
          <p:cNvPr id="484" name="Google Shape;484;p5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5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8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 y resumen</a:t>
            </a:r>
            <a:endParaRPr/>
          </a:p>
        </p:txBody>
      </p:sp>
      <p:sp>
        <p:nvSpPr>
          <p:cNvPr id="491" name="Google Shape;491;p5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5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93" name="Google Shape;493;p58"/>
          <p:cNvSpPr txBox="1"/>
          <p:nvPr/>
        </p:nvSpPr>
        <p:spPr>
          <a:xfrm>
            <a:off x="475249" y="1100658"/>
            <a:ext cx="5981700" cy="3370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1: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Ideas generales de blockchain: descentralización, seguridad, etc.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Smart contracts!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Test chains, importantes!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2: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Transacciones en eth y ERC20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Interacciones con 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3: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RPC: providers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Signers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4: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Web3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Interacciones con la blockchain!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5: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Intro a Uni V2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9"/>
          <p:cNvSpPr txBox="1"/>
          <p:nvPr>
            <p:ph type="title"/>
          </p:nvPr>
        </p:nvSpPr>
        <p:spPr>
          <a:xfrm>
            <a:off x="3182547" y="2315210"/>
            <a:ext cx="27781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propuesta</a:t>
            </a:r>
            <a:endParaRPr/>
          </a:p>
        </p:txBody>
      </p:sp>
      <p:sp>
        <p:nvSpPr>
          <p:cNvPr id="499" name="Google Shape;499;p5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0" name="Google Shape;500;p5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0"/>
          <p:cNvSpPr txBox="1"/>
          <p:nvPr>
            <p:ph type="title"/>
          </p:nvPr>
        </p:nvSpPr>
        <p:spPr>
          <a:xfrm>
            <a:off x="384725" y="502810"/>
            <a:ext cx="8060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propuesta</a:t>
            </a:r>
            <a:endParaRPr/>
          </a:p>
        </p:txBody>
      </p:sp>
      <p:sp>
        <p:nvSpPr>
          <p:cNvPr id="506" name="Google Shape;506;p6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6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08" name="Google Shape;508;p60"/>
          <p:cNvSpPr txBox="1"/>
          <p:nvPr/>
        </p:nvSpPr>
        <p:spPr>
          <a:xfrm>
            <a:off x="475249" y="1056113"/>
            <a:ext cx="8256905" cy="2329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Diseñar una interfaz que le permita al usuario: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25400" rtl="0" algn="l">
              <a:lnSpc>
                <a:spcPct val="114999"/>
              </a:lnSpc>
              <a:spcBef>
                <a:spcPts val="9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Obtener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quote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de un trade: dado un token de entrada, una cantidad de entrada, y un token de salida, calcular la cantidad de tokens que se recibirán si se ejecuta un trade en ese pool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Obtener un precio actual: dado un token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base token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y un token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quote token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obtener el precio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Realizar un swap: dado un path (array de addresses), una cantidad de entrada y una cantidad mínima de salida, hacer un intercambio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¿Por qué es importante la cantidad mínima de salida?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¿Funciona para eth/MATIC?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¿Qué hay que hacer con los tokens antes de hacer un swap?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6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